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5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14375" y="1714500"/>
            <a:ext cx="84296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3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04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714375" y="2312984"/>
            <a:ext cx="8429625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基础：
</a:t>
            </a:r>
            <a:r>
              <a:rPr lang="en-US" sz="43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把需求说清楚</a:t>
            </a:r>
            <a:endParaRPr lang="en-US" sz="4350" dirty="0"/>
          </a:p>
        </p:txBody>
      </p:sp>
      <p:sp>
        <p:nvSpPr>
          <p:cNvPr id="7" name="Text 2"/>
          <p:cNvSpPr/>
          <p:nvPr/>
        </p:nvSpPr>
        <p:spPr>
          <a:xfrm>
            <a:off x="714375" y="3861727"/>
            <a:ext cx="8429625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认知与工具地图 · 系列课程</a:t>
            </a:r>
            <a:endParaRPr lang="en-US" sz="17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57775"/>
            <a:ext cx="9144000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本期主题：Prompt 基础训练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086639" y="1929371"/>
            <a:ext cx="1143000" cy="11430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389" y="2215121"/>
            <a:ext cx="5715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7313" y="3815879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明确知道你</a:t>
            </a: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要什么</a:t>
            </a:r>
            <a:r>
              <a:rPr lang="en-US" sz="1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、有什么</a:t>
            </a: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r>
              <a:rPr lang="en-US" sz="1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、按什么</a:t>
            </a: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r>
              <a:rPr lang="en-US" sz="1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输出。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本期目标：从模糊到清晰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987079"/>
            <a:ext cx="400050" cy="4000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0137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085395"/>
            <a:ext cx="205346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Prompt 的基本构成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71500" y="2749674"/>
            <a:ext cx="400050" cy="4000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63974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849671"/>
            <a:ext cx="3708248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掌握“角色、任务、上下文、约束、格式”五要素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71500" y="3512269"/>
            <a:ext cx="400050" cy="4000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26569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610586"/>
            <a:ext cx="274481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能把模糊需求改写成清晰 Prompt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71500" y="4205213"/>
            <a:ext cx="400050" cy="4000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69" y="4319513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4303530"/>
            <a:ext cx="2600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能通过追问和迭代提升结果质量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5422748" y="1870993"/>
            <a:ext cx="2857500" cy="28575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248" y="2442493"/>
            <a:ext cx="1714500" cy="1714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本期目录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774552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3" y="178705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1737940"/>
            <a:ext cx="1401794" cy="26967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是什么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714875" y="1774552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088" y="1787054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72125" y="1737940"/>
            <a:ext cx="1824865" cy="26967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Prompt 的五要素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71500" y="2438921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713" y="2451422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28750" y="2402309"/>
            <a:ext cx="1257300" cy="2696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模糊需求改写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714875" y="2438921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088" y="2451422"/>
            <a:ext cx="171450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72125" y="2402309"/>
            <a:ext cx="1257300" cy="2696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输出格式控制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71500" y="3103290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3" y="3115791"/>
            <a:ext cx="171450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28750" y="3066678"/>
            <a:ext cx="1071563" cy="2696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迭代式提问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714875" y="3103290"/>
            <a:ext cx="4286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3519" y="3115791"/>
            <a:ext cx="128588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72125" y="3066678"/>
            <a:ext cx="1628775" cy="26967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开发测试常用模板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是什么：任务说明书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810" y="1701329"/>
            <a:ext cx="32146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8691" y="2129954"/>
            <a:ext cx="130973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是给 AI 的
任务说明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701329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56813" y="2129954"/>
            <a:ext cx="1030319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它决定 AI 理解
任务的方向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525" y="1701329"/>
            <a:ext cx="285750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77369" y="2129954"/>
            <a:ext cx="1266062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Prompt 能减少
返工和误解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71500" y="2998589"/>
            <a:ext cx="3857625" cy="1814513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2" name="Shape 6"/>
          <p:cNvSpPr/>
          <p:nvPr/>
        </p:nvSpPr>
        <p:spPr>
          <a:xfrm>
            <a:off x="571500" y="2998589"/>
            <a:ext cx="3857625" cy="28575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250406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248620"/>
            <a:ext cx="8787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 PROMPT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785813" y="3507581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“帮我写测试用例”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714875" y="2998589"/>
            <a:ext cx="3857625" cy="1814513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7" name="Shape 10"/>
          <p:cNvSpPr/>
          <p:nvPr/>
        </p:nvSpPr>
        <p:spPr>
          <a:xfrm>
            <a:off x="4714875" y="2998589"/>
            <a:ext cx="3857625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3250406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57775" y="3248620"/>
            <a:ext cx="8787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 PROMPT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4929188" y="3507581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“根据以下登录需求，按正常、异常、边界三类生成测试用例表格，包含用例名称、操作步骤和期望结果。”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FRAMEWORK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 Prompt 的五要素：结构化表达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03930"/>
            <a:ext cx="314325" cy="3143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55" y="1889655"/>
            <a:ext cx="12501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787054"/>
            <a:ext cx="135025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(Role)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28700" y="2013868"/>
            <a:ext cx="1350252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 AI 以什么视角处理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1500" y="2396861"/>
            <a:ext cx="314325" cy="3143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482586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8700" y="2379985"/>
            <a:ext cx="11572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(Task)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28700" y="2606799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要完成什么具体动作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71500" y="2989792"/>
            <a:ext cx="314325" cy="3143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55" y="3075517"/>
            <a:ext cx="12501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8700" y="2972916"/>
            <a:ext cx="12858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(Context)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028700" y="3199730"/>
            <a:ext cx="1285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有哪些背景信息与素材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71500" y="3582724"/>
            <a:ext cx="314325" cy="3143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668449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8700" y="3565847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 (Constraint)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028700" y="3792662"/>
            <a:ext cx="14144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不能做什么、要注意什么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571500" y="4175655"/>
            <a:ext cx="314325" cy="3143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295" y="4261380"/>
            <a:ext cx="160734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28700" y="4158779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 (Format)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1028700" y="4385593"/>
            <a:ext cx="14144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结果长什么样、如何排序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286250" y="1701329"/>
            <a:ext cx="4286250" cy="339328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1701329"/>
            <a:ext cx="4286250" cy="339328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01: ROLE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要素一：角色 (Role) — 视角限定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44204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35" y="1944216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1563" y="1918553"/>
            <a:ext cx="163831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从特定角度思考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2494285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58" y="2594297"/>
            <a:ext cx="117872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1563" y="2568634"/>
            <a:ext cx="270552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例如：资深 Java 开发、测试负责人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71500" y="3144366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3244379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1563" y="3218715"/>
            <a:ext cx="25717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角色要服务于任务，不要堆砌头衔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71500" y="3794447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3894460"/>
            <a:ext cx="157163" cy="1571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1563" y="3868797"/>
            <a:ext cx="18859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角色不能替代上下文背景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86313" y="1701329"/>
            <a:ext cx="3786188" cy="275279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1"/>
          <p:cNvSpPr/>
          <p:nvPr/>
        </p:nvSpPr>
        <p:spPr>
          <a:xfrm>
            <a:off x="4786313" y="1701329"/>
            <a:ext cx="3786188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2"/>
          <p:cNvSpPr/>
          <p:nvPr/>
        </p:nvSpPr>
        <p:spPr>
          <a:xfrm>
            <a:off x="5072063" y="1987079"/>
            <a:ext cx="32146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示例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5072063" y="2322835"/>
            <a:ext cx="3214688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i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“请以</a:t>
            </a:r>
            <a:r>
              <a:rPr lang="en-US" sz="1200" b="1" i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测试人员</a:t>
            </a:r>
            <a:r>
              <a:rPr lang="en-US" sz="1200" b="1" i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视角，分析以下需求可能遗漏的边界场景。”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5143500" y="2751460"/>
            <a:ext cx="20320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100" b="1" i="1" dirty="0">
                <a:solidFill>
                  <a:srgbClr val="10B981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\"</a:t>
            </a:r>
            <a:endParaRPr lang="en-US" sz="3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02: TASK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要素二：任务 (Task) — 具体可执行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44204"/>
            <a:ext cx="342900" cy="3429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944216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7275" y="1922125"/>
            <a:ext cx="251460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任务要具体、可执行，避免模糊词汇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71500" y="2479997"/>
            <a:ext cx="342900" cy="3429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2580010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275" y="2557918"/>
            <a:ext cx="251460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明确动作：解释、生成、改写、审查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71500" y="3115791"/>
            <a:ext cx="342900" cy="3429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3215804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7275" y="3193712"/>
            <a:ext cx="252336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Prompt 尽量完成一个主要任务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403145" y="1701329"/>
            <a:ext cx="4169355" cy="275279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9"/>
          <p:cNvSpPr/>
          <p:nvPr/>
        </p:nvSpPr>
        <p:spPr>
          <a:xfrm>
            <a:off x="4403145" y="1701329"/>
            <a:ext cx="4169355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458" y="1947788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17896" y="1944216"/>
            <a:ext cx="75020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模糊描述 (BAD)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617458" y="2151385"/>
            <a:ext cx="3740730" cy="512769"/>
          </a:xfrm>
          <a:prstGeom prst="rect">
            <a:avLst/>
          </a:prstGeom>
          <a:noFill/>
          <a:ln/>
        </p:spPr>
        <p:txBody>
          <a:bodyPr wrap="square" lIns="0" tIns="127508" rIns="0" bIns="21259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“帮我看看这段代码。”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458" y="2860737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17896" y="2857165"/>
            <a:ext cx="84798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清晰描述 (GOOD)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617458" y="3064334"/>
            <a:ext cx="3740730" cy="512769"/>
          </a:xfrm>
          <a:prstGeom prst="rect">
            <a:avLst/>
          </a:prstGeom>
          <a:noFill/>
          <a:ln/>
        </p:spPr>
        <p:txBody>
          <a:bodyPr wrap="square" lIns="0" tIns="127508" rIns="0" bIns="212598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“请检查这段代码是否存在空指针、边界条件和异常处理问题。”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03: CONTEXT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要素三：上下文 (Context) — 核心背景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629891"/>
            <a:ext cx="3957638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29891"/>
            <a:ext cx="395763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754014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1550" y="1742120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2171923"/>
            <a:ext cx="85725" cy="85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675" y="2140902"/>
            <a:ext cx="163617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开发语言与版本 (如 Java 17)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2402309"/>
            <a:ext cx="85725" cy="857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8675" y="2371288"/>
            <a:ext cx="16005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使用的框架 (如 Spring Boot)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614863" y="1629891"/>
            <a:ext cx="3957638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8"/>
          <p:cNvSpPr/>
          <p:nvPr/>
        </p:nvSpPr>
        <p:spPr>
          <a:xfrm>
            <a:off x="4614863" y="1629891"/>
            <a:ext cx="395763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54014"/>
            <a:ext cx="171450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2050" y="1742120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171923"/>
            <a:ext cx="85725" cy="8572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72038" y="2140902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业务流程说明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402309"/>
            <a:ext cx="85725" cy="857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872038" y="2371288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用户角色与权限逻辑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71500" y="2801466"/>
            <a:ext cx="3957638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3"/>
          <p:cNvSpPr/>
          <p:nvPr/>
        </p:nvSpPr>
        <p:spPr>
          <a:xfrm>
            <a:off x="571500" y="2801466"/>
            <a:ext cx="395763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3" y="2925589"/>
            <a:ext cx="128588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85825" y="291369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技术规格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3343498"/>
            <a:ext cx="85725" cy="85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28675" y="3312477"/>
            <a:ext cx="1285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相关代码片段或类定义</a:t>
            </a:r>
            <a:endParaRPr lang="en-US" sz="9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3573884"/>
            <a:ext cx="85725" cy="8572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828675" y="3542863"/>
            <a:ext cx="177209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 (Swagger/Markdown)</a:t>
            </a:r>
            <a:endParaRPr lang="en-US" sz="950" dirty="0"/>
          </a:p>
        </p:txBody>
      </p:sp>
      <p:sp>
        <p:nvSpPr>
          <p:cNvPr id="29" name="Shape 17"/>
          <p:cNvSpPr/>
          <p:nvPr/>
        </p:nvSpPr>
        <p:spPr>
          <a:xfrm>
            <a:off x="4614863" y="2801466"/>
            <a:ext cx="3957638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18"/>
          <p:cNvSpPr/>
          <p:nvPr/>
        </p:nvSpPr>
        <p:spPr>
          <a:xfrm>
            <a:off x="4614863" y="2801466"/>
            <a:ext cx="395763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925589"/>
            <a:ext cx="171450" cy="17145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972050" y="291369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数据样例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343498"/>
            <a:ext cx="85725" cy="85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872038" y="3312477"/>
            <a:ext cx="1535962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输入参数示例 (JSON/XML)</a:t>
            </a:r>
            <a:endParaRPr lang="en-US" sz="9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573884"/>
            <a:ext cx="85725" cy="85725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872038" y="3542863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期望的输出结果样例</a:t>
            </a:r>
            <a:endParaRPr lang="en-US" sz="950" dirty="0"/>
          </a:p>
        </p:txBody>
      </p:sp>
      <p:sp>
        <p:nvSpPr>
          <p:cNvPr id="37" name="Shape 22"/>
          <p:cNvSpPr/>
          <p:nvPr/>
        </p:nvSpPr>
        <p:spPr>
          <a:xfrm>
            <a:off x="571500" y="4030191"/>
            <a:ext cx="8001000" cy="51435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8" name="Shape 23"/>
          <p:cNvSpPr/>
          <p:nvPr/>
        </p:nvSpPr>
        <p:spPr>
          <a:xfrm>
            <a:off x="571500" y="4030191"/>
            <a:ext cx="28575" cy="5143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24"/>
          <p:cNvSpPr/>
          <p:nvPr/>
        </p:nvSpPr>
        <p:spPr>
          <a:xfrm>
            <a:off x="571500" y="4030191"/>
            <a:ext cx="8001000" cy="514350"/>
          </a:xfrm>
          <a:prstGeom prst="rect">
            <a:avLst/>
          </a:prstGeom>
          <a:noFill/>
          <a:ln/>
        </p:spPr>
        <p:txBody>
          <a:bodyPr wrap="square" lIns="255143" tIns="102108" rIns="255143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核心原则：</a:t>
            </a:r>
            <a:r>
              <a:rPr lang="en-US" sz="105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上下文是 Prompt 的灵魂。很多时候不是 AI 能力不够，而是我们没有告诉它足够的信息。</a:t>
            </a:r>
            <a:endParaRPr lang="en-US" sz="1050" dirty="0"/>
          </a:p>
        </p:txBody>
      </p:sp>
      <p:sp>
        <p:nvSpPr>
          <p:cNvPr id="40" name="Text 25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04: CONSTRAINT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要素四：约束 (Constraint) — 边界限制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44204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944216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1563" y="1898675"/>
            <a:ext cx="24955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 AI 自作主张，减少无效输出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2494285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2594297"/>
            <a:ext cx="15716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1563" y="2548756"/>
            <a:ext cx="24003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确保结果符合项目规范与技术栈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71500" y="3144366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3244379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1563" y="3198837"/>
            <a:ext cx="24003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通过负向约束排除不需要的方案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029075" y="1701330"/>
            <a:ext cx="2185988" cy="12418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9"/>
          <p:cNvSpPr/>
          <p:nvPr/>
        </p:nvSpPr>
        <p:spPr>
          <a:xfrm>
            <a:off x="4029075" y="1701329"/>
            <a:ext cx="218598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388" y="1947788"/>
            <a:ext cx="17859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93419" y="1942145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技术约束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243388" y="2229966"/>
            <a:ext cx="1757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保持现有接口不变；不引入新依赖；使用 Java 17 语法。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386513" y="1701330"/>
            <a:ext cx="2185988" cy="12418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3"/>
          <p:cNvSpPr/>
          <p:nvPr/>
        </p:nvSpPr>
        <p:spPr>
          <a:xfrm>
            <a:off x="6386513" y="1701329"/>
            <a:ext cx="218598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1947788"/>
            <a:ext cx="142875" cy="1428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15138" y="1942145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风格约束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6600825" y="2229966"/>
            <a:ext cx="1757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Google 代码风格；注释必须使用中文。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029074" y="3212230"/>
            <a:ext cx="2185988" cy="12418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17"/>
          <p:cNvSpPr/>
          <p:nvPr/>
        </p:nvSpPr>
        <p:spPr>
          <a:xfrm>
            <a:off x="4029074" y="3212229"/>
            <a:ext cx="218598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3387" y="3458689"/>
            <a:ext cx="142875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457699" y="3453046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长度约束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243387" y="3740867"/>
            <a:ext cx="1757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输出不要超过 500 字；总结部分控制在 3 句以内。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6386512" y="3212230"/>
            <a:ext cx="2185988" cy="124189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1"/>
          <p:cNvSpPr/>
          <p:nvPr/>
        </p:nvSpPr>
        <p:spPr>
          <a:xfrm>
            <a:off x="6386512" y="3212229"/>
            <a:ext cx="2185988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0824" y="3458689"/>
            <a:ext cx="178594" cy="14287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50855" y="3453046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行为约束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6600824" y="3740867"/>
            <a:ext cx="1757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只给出修改建议，不要直接改写我的原始代码。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05: OUTPUT FORMAT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要素五：输出格式 — 结果形态决定效率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587029"/>
            <a:ext cx="3936206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87029"/>
            <a:ext cx="39362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25439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727833"/>
            <a:ext cx="93979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(Table)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14375" y="2068429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适合多维度对比、测试用例清单、Bug 列表。直观清晰，方便查阅。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36294" y="1587029"/>
            <a:ext cx="3936206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4636294" y="1587029"/>
            <a:ext cx="39362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169" y="1725439"/>
            <a:ext cx="225028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89922" y="1727833"/>
            <a:ext cx="14859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分步骤列表 (Steps)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79169" y="2068429"/>
            <a:ext cx="36504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适合操作指南、重构步骤、复现流程。逻辑严密，易于执行。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71500" y="2772891"/>
            <a:ext cx="3936206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2772891"/>
            <a:ext cx="39362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911301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0131" y="2913695"/>
            <a:ext cx="112413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/ 代码块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14375" y="3254292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适合数据交换、自动化脚本输入、代码片段。结构化强，方便程序处理。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636294" y="2772891"/>
            <a:ext cx="3936206" cy="10858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5"/>
          <p:cNvSpPr/>
          <p:nvPr/>
        </p:nvSpPr>
        <p:spPr>
          <a:xfrm>
            <a:off x="4636294" y="2772891"/>
            <a:ext cx="39362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169" y="2887191"/>
            <a:ext cx="150019" cy="2000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14913" y="2915481"/>
            <a:ext cx="84779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779169" y="3206071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适合文档撰写、Review 记录、需求拆解。格式丰富，兼容性好。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71500" y="3958754"/>
            <a:ext cx="8001000" cy="48577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" y="3958754"/>
            <a:ext cx="28575" cy="4857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0"/>
          <p:cNvSpPr/>
          <p:nvPr/>
        </p:nvSpPr>
        <p:spPr>
          <a:xfrm>
            <a:off x="787758" y="4098056"/>
            <a:ext cx="75723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“输出格式决定了结果是否‘开箱即用’。好的格式能让 AI 的输出直接转化为生产力工具。”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611539" y="4827389"/>
            <a:ext cx="1038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3F3D609-17CF-7C3B-1565-A070EFA00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95D125F-CA25-DADB-3218-BE1677119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422" y="138371"/>
            <a:ext cx="3661156" cy="422135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E78F0E-830F-6DBD-D707-6E6486A5FC67}"/>
              </a:ext>
            </a:extLst>
          </p:cNvPr>
          <p:cNvSpPr txBox="1"/>
          <p:nvPr/>
        </p:nvSpPr>
        <p:spPr>
          <a:xfrm>
            <a:off x="879739" y="4548287"/>
            <a:ext cx="738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https://neusoft.feishu.cn/share/base/form/shrcnRvxNwX9Olfp8QGtbgWSXje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441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PRACTICAL CASE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 Prompt 改写示例：实战演示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701329"/>
            <a:ext cx="3857625" cy="291705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01329"/>
            <a:ext cx="3857625" cy="28575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947788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935519"/>
            <a:ext cx="12461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Prompt (模糊)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85813" y="2279972"/>
            <a:ext cx="342900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“帮我写一下登录测试。”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85813" y="2745739"/>
            <a:ext cx="3429000" cy="7125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存在问题：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缺少角色定位、具体的任务目标、业务上下文以及期望的输出格式。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14875" y="1701329"/>
            <a:ext cx="3857625" cy="2917054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2" name="Shape 8"/>
          <p:cNvSpPr/>
          <p:nvPr/>
        </p:nvSpPr>
        <p:spPr>
          <a:xfrm>
            <a:off x="4714875" y="1701329"/>
            <a:ext cx="3857625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947788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43500" y="1935519"/>
            <a:ext cx="153186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改写后 Prompt (结构化)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929188" y="2329895"/>
            <a:ext cx="314325" cy="174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1"/>
          <p:cNvSpPr/>
          <p:nvPr/>
        </p:nvSpPr>
        <p:spPr>
          <a:xfrm>
            <a:off x="4929188" y="2329895"/>
            <a:ext cx="317010" cy="143822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5279231" y="2315691"/>
            <a:ext cx="200820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“你是一名资深测试工程师。”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29188" y="2581349"/>
            <a:ext cx="314325" cy="174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4"/>
          <p:cNvSpPr/>
          <p:nvPr/>
        </p:nvSpPr>
        <p:spPr>
          <a:xfrm>
            <a:off x="4929188" y="2581349"/>
            <a:ext cx="317010" cy="143822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5279231" y="2567146"/>
            <a:ext cx="2636853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“请针对以下登录需求生成测试用例。”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929188" y="2832804"/>
            <a:ext cx="414338" cy="174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4929188" y="2832804"/>
            <a:ext cx="406778" cy="143822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5379244" y="2818600"/>
            <a:ext cx="2885796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“需求：支持手机号+验证码登录，验证码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379244" y="3061887"/>
            <a:ext cx="759721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位数字。”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29188" y="3335713"/>
            <a:ext cx="314325" cy="174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4929188" y="3335713"/>
            <a:ext cx="317010" cy="143822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5279231" y="3321509"/>
            <a:ext cx="232252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“请覆盖正常、异常及边界场景。”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929188" y="3587167"/>
            <a:ext cx="314325" cy="174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4"/>
          <p:cNvSpPr/>
          <p:nvPr/>
        </p:nvSpPr>
        <p:spPr>
          <a:xfrm>
            <a:off x="4929188" y="3587167"/>
            <a:ext cx="317010" cy="143822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5279231" y="3572963"/>
            <a:ext cx="2951178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“以表格形式输出，包含步骤和预期结果。”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929187" y="3890160"/>
            <a:ext cx="3429000" cy="7125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改进点：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通过五要素补全，AI 能够生成可直接用于测试执行的高质量用例。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01: DEVELOPMENT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开发场景 Prompt 示例：代码解释模板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10920"/>
            <a:ext cx="128588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7244" y="1410920"/>
            <a:ext cx="11050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设定角色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07244" y="1618089"/>
            <a:ext cx="11050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 Java 开发工程师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03851"/>
            <a:ext cx="128588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244" y="2003851"/>
            <a:ext cx="9144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明确任务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07244" y="2211020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解释复杂业务逻辑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96782"/>
            <a:ext cx="128588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7244" y="2596782"/>
            <a:ext cx="104466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提供上下文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807244" y="2803951"/>
            <a:ext cx="104466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 + 业务背景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89714"/>
            <a:ext cx="144661" cy="1571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3317" y="3189714"/>
            <a:ext cx="13716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设定约束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823317" y="3396882"/>
            <a:ext cx="13716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分步骤说明，指出潜在风险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3943350" y="1303763"/>
            <a:ext cx="4629150" cy="347819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1"/>
          <p:cNvSpPr/>
          <p:nvPr/>
        </p:nvSpPr>
        <p:spPr>
          <a:xfrm>
            <a:off x="3943350" y="1303764"/>
            <a:ext cx="46291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2"/>
          <p:cNvSpPr/>
          <p:nvPr/>
        </p:nvSpPr>
        <p:spPr>
          <a:xfrm>
            <a:off x="4157663" y="1518076"/>
            <a:ext cx="4200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结构化 Prompt 示例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157663" y="1880956"/>
            <a:ext cx="4114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角色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157663" y="2086674"/>
            <a:ext cx="20059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你是一位资深 Java 开发工程师。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157663" y="2498109"/>
            <a:ext cx="4114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任务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157663" y="2703827"/>
            <a:ext cx="1928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请详细解释以下代码的处理流程。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157663" y="3115262"/>
            <a:ext cx="540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上下文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157663" y="3320980"/>
            <a:ext cx="36004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这是订单支付模块的核心逻辑，涉及库存扣减和支付状态更新。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157663" y="3526698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[代码片段...]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157663" y="3938133"/>
            <a:ext cx="4114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约束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157663" y="4143851"/>
            <a:ext cx="16459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请按步骤说明逻辑流程；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157663" y="4349568"/>
            <a:ext cx="21602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指出代码中可能存在的并发风险。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SCENARIO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测试场景 Prompt 示例：接口测试模板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375861"/>
            <a:ext cx="4629150" cy="291121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75861"/>
            <a:ext cx="28800" cy="29112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590173"/>
            <a:ext cx="420052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itchFamily="34" charset="-120"/>
              </a:rPr>
              <a:t>PROMPT 模板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5813" y="1861636"/>
            <a:ext cx="4200525" cy="1853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# 角色:</a:t>
            </a:r>
            <a:r>
              <a:rPr lang="en-US" sz="95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资深测试工程师
</a:t>
            </a:r>
            <a:r>
              <a:rPr lang="en-US" sz="900" b="1" dirty="0">
                <a:solidFill>
                  <a:srgbClr val="0596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# 任务:</a:t>
            </a:r>
            <a:r>
              <a:rPr lang="en-US" sz="95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根据以下接口文档生成测试点
</a:t>
            </a:r>
            <a:r>
              <a:rPr lang="en-US" sz="900" b="1" dirty="0">
                <a:solidFill>
                  <a:srgbClr val="0596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# 上下文:</a:t>
            </a:r>
            <a:r>
              <a:rPr lang="en-US" sz="95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[粘贴 Swagger 或 Markdown 接口定义]
</a:t>
            </a:r>
            <a:r>
              <a:rPr lang="en-US" sz="900" b="1" dirty="0">
                <a:solidFill>
                  <a:srgbClr val="0596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# 约束:</a:t>
            </a:r>
            <a:r>
              <a:rPr lang="en-US" sz="95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1. 按正常、异常、边界、权限四类进行分类
2. 每类至少提供 3 个测试点
3. 标出每个测试点的优先级 (P0-P2)
4. 给出对应的测试数据建议
</a:t>
            </a:r>
            <a:r>
              <a:rPr lang="en-US" sz="900" b="1" dirty="0">
                <a:solidFill>
                  <a:srgbClr val="0596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# 输出格式:</a:t>
            </a:r>
            <a:r>
              <a:rPr lang="en-US" sz="95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Markdown 表格
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0" y="1483017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981" y="1561598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9306" y="1522308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多维度分类覆盖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0" y="1990223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945" y="2068804"/>
            <a:ext cx="144661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79306" y="2029514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明确优先级标识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0" y="2497429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981" y="2576011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79306" y="2536720"/>
            <a:ext cx="1143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提供具体测试数据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0" y="3004636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981" y="3083217"/>
            <a:ext cx="128588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79306" y="3043926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结构化表格输出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ITERATION PROCESS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迭代式提问：迈向完美的五步法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568105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56810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0125" y="1550194"/>
            <a:ext cx="11572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给初稿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0125" y="1777008"/>
            <a:ext cx="11572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快速生成第一版结果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2161037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16103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0125" y="2143125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指出不符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0125" y="2369939"/>
            <a:ext cx="14144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明确哪些地方不符合预期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1500" y="2753968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75396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0125" y="2736056"/>
            <a:ext cx="12858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补上下文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0125" y="2962870"/>
            <a:ext cx="1285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补充缺失的背景或约束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1500" y="3346899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34689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00125" y="3328987"/>
            <a:ext cx="147884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0125" y="3555802"/>
            <a:ext cx="147884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根据新信息重新生成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1500" y="3939830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9398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00125" y="3921919"/>
            <a:ext cx="164320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沉淀模板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0125" y="4148733"/>
            <a:ext cx="1643202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将成功的 Prompt 固化为模板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86250" y="1464469"/>
            <a:ext cx="4286250" cy="3393281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64469"/>
            <a:ext cx="4286250" cy="339328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追问示例：让结果更可落地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701329"/>
            <a:ext cx="8001000" cy="771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01329"/>
            <a:ext cx="42863" cy="771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785813" y="1872779"/>
            <a:ext cx="428625" cy="4286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3" y="1987079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5888" y="1854919"/>
            <a:ext cx="44577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385888" y="2071018"/>
            <a:ext cx="44577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“这个方案在处理高并发请求时，有哪些潜在的性能风险？”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" y="2558579"/>
            <a:ext cx="8001000" cy="771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558579"/>
            <a:ext cx="42863" cy="771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785813" y="2730029"/>
            <a:ext cx="428625" cy="4286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614" y="2844329"/>
            <a:ext cx="175022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5888" y="2712169"/>
            <a:ext cx="488632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边界覆盖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385888" y="2928268"/>
            <a:ext cx="488632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“请针对输入参数为空、超长字符串等边界场景，补充测试用例。”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71500" y="3415829"/>
            <a:ext cx="8001000" cy="771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3"/>
          <p:cNvSpPr/>
          <p:nvPr/>
        </p:nvSpPr>
        <p:spPr>
          <a:xfrm>
            <a:off x="571500" y="3415829"/>
            <a:ext cx="42863" cy="771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4"/>
          <p:cNvSpPr/>
          <p:nvPr/>
        </p:nvSpPr>
        <p:spPr>
          <a:xfrm>
            <a:off x="785813" y="3587279"/>
            <a:ext cx="428625" cy="4286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611" y="3701579"/>
            <a:ext cx="225028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85888" y="3569419"/>
            <a:ext cx="445761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385888" y="3785518"/>
            <a:ext cx="445761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“请按业务影响的严重程度，对上述发现的 Bug 进行排序。”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71500" y="4273079"/>
            <a:ext cx="8001000" cy="771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18"/>
          <p:cNvSpPr/>
          <p:nvPr/>
        </p:nvSpPr>
        <p:spPr>
          <a:xfrm>
            <a:off x="571500" y="4273079"/>
            <a:ext cx="42863" cy="771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19"/>
          <p:cNvSpPr/>
          <p:nvPr/>
        </p:nvSpPr>
        <p:spPr>
          <a:xfrm>
            <a:off x="785813" y="4444529"/>
            <a:ext cx="428625" cy="428625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4558829"/>
            <a:ext cx="200025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5888" y="4426669"/>
            <a:ext cx="471487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验证步骤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385888" y="4642768"/>
            <a:ext cx="471487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“请给出验证这个修复方案的具体步骤，以及预期的日志输出。”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604117" y="1285875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ASSETS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团队可沉淀的 Prompt：知识资产化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587029"/>
            <a:ext cx="2676506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87029"/>
            <a:ext cx="26765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700436"/>
            <a:ext cx="22860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1699258"/>
            <a:ext cx="6635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分析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2925" y="1985293"/>
            <a:ext cx="2447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统一日志分析维度，快速定位根因并给出修复建议。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33719" y="1587029"/>
            <a:ext cx="2676534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3233719" y="1587029"/>
            <a:ext cx="2676534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019" y="1700436"/>
            <a:ext cx="22860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62344" y="169925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单测生成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48019" y="1985293"/>
            <a:ext cx="24479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规范单测覆盖标准，自动生成 Mock 数据与断言逻辑。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38841" y="1587029"/>
            <a:ext cx="2676506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1"/>
          <p:cNvSpPr/>
          <p:nvPr/>
        </p:nvSpPr>
        <p:spPr>
          <a:xfrm>
            <a:off x="6038841" y="1587029"/>
            <a:ext cx="2676506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2"/>
          <p:cNvSpPr/>
          <p:nvPr/>
        </p:nvSpPr>
        <p:spPr>
          <a:xfrm>
            <a:off x="6467466" y="1699258"/>
            <a:ext cx="8996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Review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53141" y="1985293"/>
            <a:ext cx="2447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沉淀团队代码规范，自动识别潜在风险与性能瓶颈。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28625" y="2801466"/>
            <a:ext cx="2676506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428625" y="2801466"/>
            <a:ext cx="26765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914873"/>
            <a:ext cx="22860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7250" y="2913695"/>
            <a:ext cx="6782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优化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2925" y="3199730"/>
            <a:ext cx="2447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针对慢查询提供索引建议，优化复杂查询的执行效率。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233719" y="2801466"/>
            <a:ext cx="2676534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19"/>
          <p:cNvSpPr/>
          <p:nvPr/>
        </p:nvSpPr>
        <p:spPr>
          <a:xfrm>
            <a:off x="3233719" y="2801466"/>
            <a:ext cx="2676534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019" y="2914873"/>
            <a:ext cx="22860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62344" y="2913695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48019" y="3199730"/>
            <a:ext cx="24479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从海量非结构化日志中提取关键指标与异常模式。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038841" y="2801466"/>
            <a:ext cx="2676506" cy="11144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038841" y="2801466"/>
            <a:ext cx="2676506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41" y="2914873"/>
            <a:ext cx="228600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67466" y="2913695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53141" y="3199730"/>
            <a:ext cx="2447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将模糊业务需求转化为可执行的技术任务与接口定义。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428625" y="4058766"/>
            <a:ext cx="8286750" cy="42862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5" name="Shape 27"/>
          <p:cNvSpPr/>
          <p:nvPr/>
        </p:nvSpPr>
        <p:spPr>
          <a:xfrm>
            <a:off x="428625" y="4058766"/>
            <a:ext cx="28575" cy="4286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28"/>
          <p:cNvSpPr/>
          <p:nvPr/>
        </p:nvSpPr>
        <p:spPr>
          <a:xfrm>
            <a:off x="571500" y="4192479"/>
            <a:ext cx="5016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“个人提效是点，团队沉淀是面。将高频 Prompt 模板化是团队 AI 化的第一步。”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604117" y="48559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PRACTICE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课堂练习：5 大场景实战改写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44204"/>
            <a:ext cx="1600200" cy="341114"/>
          </a:xfrm>
          <a:prstGeom prst="rect">
            <a:avLst/>
          </a:prstGeom>
          <a:solidFill>
            <a:srgbClr val="10B981"/>
          </a:solidFill>
          <a:ln/>
        </p:spPr>
        <p:txBody>
          <a:bodyPr anchor="ctr"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571500" y="1844204"/>
            <a:ext cx="1600200" cy="34111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练习场景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71700" y="1844204"/>
            <a:ext cx="3600450" cy="34111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2171700" y="1844204"/>
            <a:ext cx="3600450" cy="34111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Prompt / 上下文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72150" y="1844204"/>
            <a:ext cx="2800350" cy="34111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772150" y="1844204"/>
            <a:ext cx="2800350" cy="34111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改写重点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" y="2185318"/>
            <a:ext cx="1600200" cy="31075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Bug 分析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71700" y="2185318"/>
            <a:ext cx="3600450" cy="31075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“帮我看看这个报错是怎么回事” + [日志片段]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15025" y="231747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231747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29375" y="2317477"/>
            <a:ext cx="514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，要求按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3725" y="231747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200900" y="2317477"/>
            <a:ext cx="6429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排查风险点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" y="2496071"/>
            <a:ext cx="8001000" cy="3143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2496071"/>
            <a:ext cx="160020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单测生成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71700" y="2496071"/>
            <a:ext cx="360045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“给这段代码写个单元测试” + [类定义]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15025" y="2631802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72200" y="2631802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29375" y="2631802"/>
            <a:ext cx="1664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：覆盖边界、使用 Mock 框架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1500" y="2810396"/>
            <a:ext cx="160020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代码 Review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171700" y="2810396"/>
            <a:ext cx="360045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 Review 一下这段代码”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15025" y="294612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72200" y="294612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29375" y="2946127"/>
            <a:ext cx="1543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：检查性能、安全与规范性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1500" y="3124721"/>
            <a:ext cx="8001000" cy="3143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3124721"/>
            <a:ext cx="160020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SQL 优化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171700" y="3124721"/>
            <a:ext cx="360045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 SQL 太慢了，帮我优化下” + [SQL 语句]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15025" y="3260452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72200" y="3260452"/>
            <a:ext cx="385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557963" y="3260452"/>
            <a:ext cx="1671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：表结构、索引信息、数据量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71500" y="3439046"/>
            <a:ext cx="160020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需求拆解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171700" y="3439046"/>
            <a:ext cx="3600450" cy="31432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“把这个需求拆成开发任务” + [需求文档]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15025" y="3574777"/>
            <a:ext cx="2571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3574777"/>
            <a:ext cx="5143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686550" y="3574777"/>
            <a:ext cx="12718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：Markdown 任务清单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HOMEWORK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689372"/>
            <a:ext cx="85725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本期作业与打卡要求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701330"/>
            <a:ext cx="3857625" cy="25882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01329"/>
            <a:ext cx="3857625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97457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4419" y="1962023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作业任务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469282"/>
            <a:ext cx="100013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50" y="2469282"/>
            <a:ext cx="3243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选择一个真实工作场景（如 Bug 分析、单测生成等）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794199"/>
            <a:ext cx="100013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1550" y="2794199"/>
            <a:ext cx="24527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编写一个包含“五要素”的结构化 Prompt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108524"/>
            <a:ext cx="100013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1550" y="3108524"/>
            <a:ext cx="29449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 工具中运行并根据结果进行至少 2 轮迭代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422849"/>
            <a:ext cx="100013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1550" y="3422849"/>
            <a:ext cx="2397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沉淀出该场景下的可复用 Prompt 模板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4714875" y="1701330"/>
            <a:ext cx="3857625" cy="258823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8" name="Shape 10"/>
          <p:cNvSpPr/>
          <p:nvPr/>
        </p:nvSpPr>
        <p:spPr>
          <a:xfrm>
            <a:off x="4714875" y="1701329"/>
            <a:ext cx="3857625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974577"/>
            <a:ext cx="150019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86363" y="1962023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打卡内容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469282"/>
            <a:ext cx="87511" cy="1428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02423" y="2469282"/>
            <a:ext cx="857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原始需求描述</a:t>
            </a:r>
            <a:endParaRPr lang="en-US" sz="10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783607"/>
            <a:ext cx="87511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02423" y="2783607"/>
            <a:ext cx="2397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 Prompt 及其输出结果（简述）</a:t>
            </a:r>
            <a:endParaRPr lang="en-US" sz="10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3097932"/>
            <a:ext cx="87511" cy="14287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02423" y="3097932"/>
            <a:ext cx="1428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发现的问题与迭代思路</a:t>
            </a:r>
            <a:endParaRPr lang="en-US" sz="10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3412257"/>
            <a:ext cx="87511" cy="142875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02423" y="3412257"/>
            <a:ext cx="12542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 Prompt 模板</a:t>
            </a:r>
            <a:endParaRPr lang="en-US" sz="1050" dirty="0"/>
          </a:p>
        </p:txBody>
      </p:sp>
      <p:sp>
        <p:nvSpPr>
          <p:cNvPr id="29" name="Text 16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FAC811D-18E1-070F-292A-326A53A5C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E9337410-4D23-52F1-AF5A-8B9EE9612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388" y="121405"/>
            <a:ext cx="3729223" cy="43005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127D73-B1C0-6891-02FD-106E84F733B7}"/>
              </a:ext>
            </a:extLst>
          </p:cNvPr>
          <p:cNvSpPr txBox="1"/>
          <p:nvPr/>
        </p:nvSpPr>
        <p:spPr>
          <a:xfrm>
            <a:off x="816868" y="4598050"/>
            <a:ext cx="751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https://neusoft.feishu.cn/share/base/form/shrcnM3wtrEGjSLVqNr1WrnwW8e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1049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4775" y="705473"/>
            <a:ext cx="1314450" cy="1314450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31" y="1041229"/>
            <a:ext cx="642938" cy="642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28838" y="2707425"/>
            <a:ext cx="4886325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750" b="1" kern="0" spc="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保持好奇，</a:t>
            </a:r>
            <a:r>
              <a:rPr lang="en-US" sz="3750" b="1" kern="0" spc="3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持续实践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2832050" y="3852211"/>
            <a:ext cx="34798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是提效的</a:t>
            </a: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</a:t>
            </a:r>
            <a:r>
              <a:rPr lang="en-US" sz="1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，而你是那个</a:t>
            </a: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支点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521673" y="4550569"/>
            <a:ext cx="21006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MASTERY · LESSON 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919</Words>
  <Application>Microsoft Office PowerPoint</Application>
  <PresentationFormat>全屏显示(16:9)</PresentationFormat>
  <Paragraphs>280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ji.ye</cp:lastModifiedBy>
  <cp:revision>22</cp:revision>
  <dcterms:created xsi:type="dcterms:W3CDTF">2026-07-12T05:30:58Z</dcterms:created>
  <dcterms:modified xsi:type="dcterms:W3CDTF">2026-08-10T08:23:26Z</dcterms:modified>
</cp:coreProperties>
</file>