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3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79" autoAdjust="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69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97FAD-0248-4CAC-9D0B-9F0F33C0025E}" type="datetimeFigureOut">
              <a:rPr kumimoji="1" lang="ja-JP" altLang="en-US" smtClean="0"/>
              <a:t>2026/8/20</a:t>
            </a:fld>
            <a:endParaRPr kumimoji="1" lang="ja-JP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3D6AE-2CBF-41CE-83F1-2481B5157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706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3D6AE-2CBF-41CE-83F1-2481B5157894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0404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3D6AE-2CBF-41CE-83F1-2481B5157894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9077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3D6AE-2CBF-41CE-83F1-2481B5157894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8552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3D6AE-2CBF-41CE-83F1-2481B5157894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0185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F46E5">
                  <a:alpha val="85000"/>
                </a:srgbClr>
              </a:gs>
              <a:gs pos="100000">
                <a:srgbClr val="1E1B4B">
                  <a:alpha val="7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763000" y="-762000"/>
            <a:ext cx="3429000" cy="3429000"/>
          </a:xfrm>
          <a:prstGeom prst="ellipse">
            <a:avLst/>
          </a:prstGeom>
          <a:solidFill>
            <a:srgbClr val="A78BFA">
              <a:alpha val="15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285750" y="4572000"/>
            <a:ext cx="2286000" cy="2286000"/>
          </a:xfrm>
          <a:prstGeom prst="ellipse">
            <a:avLst/>
          </a:prstGeom>
          <a:solidFill>
            <a:srgbClr val="A78BFA">
              <a:alpha val="10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668000" y="5429250"/>
            <a:ext cx="1524000" cy="15240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F46E5"/>
              </a:gs>
              <a:gs pos="50000">
                <a:srgbClr val="7C3AED"/>
              </a:gs>
              <a:gs pos="100000">
                <a:srgbClr val="6D28D9"/>
              </a:gs>
            </a:gsLst>
            <a:lin ang="270000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11386" y="2213610"/>
            <a:ext cx="10169229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Lesson 5: Markdown 与 Instruction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29912" y="3074670"/>
            <a:ext cx="293217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C4B5FD"/>
                </a:solidFill>
                <a:latin typeface="Arial"/>
                <a:ea typeface="Microsoft YaHei"/>
                <a:cs typeface="Arial"/>
              </a:rPr>
              <a:t>让经验变成团队规范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143500" y="3619500"/>
            <a:ext cx="1905000" cy="28575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579696" y="3917632"/>
            <a:ext cx="303260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DDD6FE"/>
                </a:solidFill>
                <a:latin typeface="Arial"/>
                <a:ea typeface="Microsoft YaHei"/>
                <a:cs typeface="Arial"/>
              </a:rPr>
              <a:t>AI 培训系列 · 基础培训第5课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95487" y="6064365"/>
            <a:ext cx="140102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2026 · </a:t>
            </a:r>
            <a:r>
              <a:rPr lang="zh-CN" altLang="en-US" sz="1200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中心内部分享</a:t>
            </a:r>
            <a:endParaRPr lang="zh-CN" sz="1200" dirty="0">
              <a:solidFill>
                <a:srgbClr val="A78BFA"/>
              </a:solidFill>
              <a:latin typeface="Arial"/>
              <a:ea typeface="Microsoft YaHei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162081" y="64427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本期主题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11049000" cy="171450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57150" cy="17145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42594" y="145637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4F46E5"/>
                </a:solidFill>
                <a:latin typeface="Arial"/>
                <a:ea typeface="Microsoft YaHei"/>
                <a:cs typeface="Arial"/>
              </a:rPr>
              <a:t>核心主题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4118" y="1869758"/>
            <a:ext cx="697681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用 Markdown 写清楚信息，用 Instruction 固化团队对 AI 的使用要求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5642" y="2235518"/>
            <a:ext cx="621437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从工具和 Prompt 到团队沉淀 —— 把个人经验变成别人也能复用的材料和规则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3238500"/>
            <a:ext cx="34290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571500" y="3238500"/>
            <a:ext cx="34290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781050" y="3448050"/>
            <a:ext cx="342900" cy="3429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99758" y="3547110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0630" y="3533775"/>
            <a:ext cx="18986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学习工具与 Prompt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0392" y="3902392"/>
            <a:ext cx="236189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前面我们学了工具和 Prompt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0392" y="4188142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掌握了基础使用方法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381500" y="3238500"/>
            <a:ext cx="34290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381500" y="3238500"/>
            <a:ext cx="342900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4591050" y="3448050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709758" y="3547110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40630" y="35337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团队层面沉淀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60392" y="3902392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这节课关注团队层面的沉淀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60392" y="4188142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把经验变成规范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191500" y="3238500"/>
            <a:ext cx="34290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8191500" y="3238500"/>
            <a:ext cx="3429000" cy="381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8401050" y="3448050"/>
            <a:ext cx="342900" cy="3429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519758" y="3547110"/>
            <a:ext cx="1054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50630" y="35337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复用材料与规则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70392" y="3902392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把个人经验变成别人也能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70392" y="4188142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复用的材料和规则</a:t>
            </a:r>
          </a:p>
        </p:txBody>
      </p:sp>
      <p:sp>
        <p:nvSpPr>
          <p:cNvPr id="33" name="Line 33"/>
          <p:cNvSpPr/>
          <p:nvPr/>
        </p:nvSpPr>
        <p:spPr>
          <a:xfrm>
            <a:off x="4000500" y="4000500"/>
            <a:ext cx="361950" cy="1"/>
          </a:xfrm>
          <a:prstGeom prst="line">
            <a:avLst/>
          </a:prstGeom>
          <a:noFill/>
          <a:ln w="19050">
            <a:solidFill>
              <a:srgbClr val="94A3B8"/>
            </a:solidFill>
            <a:tailEnd type="triangle" w="lg" len="lg"/>
          </a:ln>
        </p:spPr>
      </p:sp>
      <p:sp>
        <p:nvSpPr>
          <p:cNvPr id="34" name="Line 34"/>
          <p:cNvSpPr/>
          <p:nvPr/>
        </p:nvSpPr>
        <p:spPr>
          <a:xfrm>
            <a:off x="7810500" y="4000500"/>
            <a:ext cx="361950" cy="1"/>
          </a:xfrm>
          <a:prstGeom prst="line">
            <a:avLst/>
          </a:prstGeom>
          <a:noFill/>
          <a:ln w="19050">
            <a:solidFill>
              <a:srgbClr val="94A3B8"/>
            </a:solidFill>
            <a:tailEnd type="triangle" w="lg" len="lg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162081" y="64427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2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本期目标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191125" cy="19050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723900" y="148590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93165" y="1625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5118" y="1612582"/>
            <a:ext cx="222463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掌握 Markdown 写法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0392" y="1997392"/>
            <a:ext cx="30152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掌握工作中最常用的 Markdown 写法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0392" y="2283142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包括标题、列表、代码块、表格等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429375" y="1333500"/>
            <a:ext cx="5191125" cy="19050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6581775" y="148590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751040" y="1625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82993" y="1612582"/>
            <a:ext cx="209910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理解 AI 上下文价值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8267" y="1997392"/>
            <a:ext cx="22832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理解 Markdown 为什么适合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08267" y="2283142"/>
            <a:ext cx="12522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作为 AI 上下文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619500"/>
            <a:ext cx="5191125" cy="19050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723900" y="377190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93165" y="3911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25118" y="3898582"/>
            <a:ext cx="185703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理解 Instruction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0392" y="4283392"/>
            <a:ext cx="296387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理解 Instruction 的作用和基本写法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0392" y="4569142"/>
            <a:ext cx="182834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知道如何约束 AI 行为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29375" y="3619500"/>
            <a:ext cx="5191125" cy="19050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6581775" y="37719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751040" y="39119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82993" y="3898582"/>
            <a:ext cx="185267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编写团队 AI 说明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08267" y="4283392"/>
            <a:ext cx="278846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能写一份简单的团队 AI 使用说明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08267" y="4569142"/>
            <a:ext cx="1831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将经验沉淀为团队规范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162081" y="64427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3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本期目录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11049000" cy="514350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1476375"/>
            <a:ext cx="1047750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857250" y="1476375"/>
            <a:ext cx="38100" cy="5715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38225" y="1609725"/>
            <a:ext cx="304800" cy="3048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44476" y="1678220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8755" y="1657350"/>
            <a:ext cx="16624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Markdown 是什么</a:t>
            </a:r>
          </a:p>
        </p:txBody>
      </p:sp>
      <p:sp>
        <p:nvSpPr>
          <p:cNvPr id="13" name="Rectangle 13"/>
          <p:cNvSpPr/>
          <p:nvPr/>
        </p:nvSpPr>
        <p:spPr>
          <a:xfrm>
            <a:off x="857250" y="2143125"/>
            <a:ext cx="1047750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857250" y="2143125"/>
            <a:ext cx="38100" cy="5715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1038225" y="2276475"/>
            <a:ext cx="304800" cy="3048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44476" y="2344970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8755" y="2324100"/>
            <a:ext cx="253688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工作中常用 Markdown 语法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57250" y="2809875"/>
            <a:ext cx="1047750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857250" y="2809875"/>
            <a:ext cx="38100" cy="5715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1038225" y="2943225"/>
            <a:ext cx="304800" cy="3048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44476" y="3011720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68755" y="2990850"/>
            <a:ext cx="27978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Markdown 在 AI 场景中的价值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57250" y="3476625"/>
            <a:ext cx="1047750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857250" y="3476625"/>
            <a:ext cx="38100" cy="571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1038225" y="3609975"/>
            <a:ext cx="304800" cy="3048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44476" y="3678470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68755" y="3657600"/>
            <a:ext cx="18115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Instruction 是什么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57250" y="4143375"/>
            <a:ext cx="1047750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857250" y="4143375"/>
            <a:ext cx="38100" cy="571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1038225" y="4276725"/>
            <a:ext cx="304800" cy="3048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144476" y="4345220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68755" y="4324350"/>
            <a:ext cx="20144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Instruction 写法示例</a:t>
            </a:r>
          </a:p>
        </p:txBody>
      </p:sp>
      <p:sp>
        <p:nvSpPr>
          <p:cNvPr id="33" name="Rectangle 33"/>
          <p:cNvSpPr/>
          <p:nvPr/>
        </p:nvSpPr>
        <p:spPr>
          <a:xfrm>
            <a:off x="857250" y="4810125"/>
            <a:ext cx="1047750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857250" y="4810125"/>
            <a:ext cx="38100" cy="5715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1038225" y="4943475"/>
            <a:ext cx="304800" cy="3048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144476" y="5011970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68755" y="4991100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团队共享与维护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57250" y="5476875"/>
            <a:ext cx="1047750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857250" y="5476875"/>
            <a:ext cx="38100" cy="5715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1038225" y="5610225"/>
            <a:ext cx="304800" cy="3048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144476" y="5678720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68755" y="5657850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课堂练习、作业与打卡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162081" y="64427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4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314065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Markdown 是什么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28750"/>
            <a:ext cx="1714500" cy="17145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762000" y="1428750"/>
            <a:ext cx="1714500" cy="1714500"/>
          </a:xfrm>
          <a:prstGeom prst="roundRect">
            <a:avLst>
              <a:gd name="adj" fmla="val 8889"/>
            </a:avLst>
          </a:prstGeom>
          <a:solidFill>
            <a:srgbClr val="4F46E5">
              <a:alpha val="10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2857500" y="1333500"/>
            <a:ext cx="8763000" cy="9525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2857500" y="133350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134868" y="1517332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轻量级文本标记格式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36392" y="1873568"/>
            <a:ext cx="45571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用普通文本表达标题、列表、表格、代码块等结构化内容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2667000"/>
            <a:ext cx="5191125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762000" y="2857500"/>
            <a:ext cx="381000" cy="381000"/>
          </a:xfrm>
          <a:prstGeom prst="ellipse">
            <a:avLst/>
          </a:prstGeom>
          <a:solidFill>
            <a:srgbClr val="4F46E5">
              <a:alpha val="1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95664" y="295941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4F46E5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8255" y="29622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简单易学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0773" y="3291364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语法直观，几分钟即可上手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0773" y="3529489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无需复杂工具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429375" y="2667000"/>
            <a:ext cx="5191125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6619875" y="2857500"/>
            <a:ext cx="381000" cy="381000"/>
          </a:xfrm>
          <a:prstGeom prst="ellipse">
            <a:avLst/>
          </a:prstGeom>
          <a:solidFill>
            <a:srgbClr val="7C3AED">
              <a:alpha val="1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676301" y="2959418"/>
            <a:ext cx="26814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7C3AED"/>
                </a:solidFill>
                <a:latin typeface="Arial"/>
                <a:ea typeface="Arial"/>
                <a:cs typeface="Arial"/>
              </a:rPr>
              <a:t>[ ]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36130" y="29622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适用广泛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08648" y="3291364"/>
            <a:ext cx="183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适合写文档、Prompt、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08648" y="3529489"/>
            <a:ext cx="138607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会议纪要、说明书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191000"/>
            <a:ext cx="5191125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6" name="Ellipse 26"/>
          <p:cNvSpPr/>
          <p:nvPr/>
        </p:nvSpPr>
        <p:spPr>
          <a:xfrm>
            <a:off x="762000" y="4381500"/>
            <a:ext cx="381000" cy="381000"/>
          </a:xfrm>
          <a:prstGeom prst="ellipse">
            <a:avLst/>
          </a:prstGeom>
          <a:solidFill>
            <a:srgbClr val="A78BFA">
              <a:alpha val="1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95709" y="4483418"/>
            <a:ext cx="3135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A78BFA"/>
                </a:solidFill>
                <a:latin typeface="Arial"/>
                <a:ea typeface="Arial"/>
                <a:cs typeface="Arial"/>
              </a:rPr>
              <a:t>&lt;/&gt;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78255" y="44862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可读性强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0773" y="4815364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纯文本格式，版本控制友好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0773" y="5053489"/>
            <a:ext cx="121443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可复制、可搜索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29375" y="4191000"/>
            <a:ext cx="5191125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2" name="Ellipse 32"/>
          <p:cNvSpPr/>
          <p:nvPr/>
        </p:nvSpPr>
        <p:spPr>
          <a:xfrm>
            <a:off x="6619875" y="4381500"/>
            <a:ext cx="381000" cy="381000"/>
          </a:xfrm>
          <a:prstGeom prst="ellipse">
            <a:avLst/>
          </a:prstGeom>
          <a:solidFill>
            <a:srgbClr val="10B981">
              <a:alpha val="10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721907" y="4483418"/>
            <a:ext cx="1769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10B981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36130" y="4486275"/>
            <a:ext cx="7209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AI 友好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08648" y="4815364"/>
            <a:ext cx="190812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很容易被 AI 读取和理解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08648" y="5053489"/>
            <a:ext cx="176287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是 Prompt 的最佳载体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5715000"/>
            <a:ext cx="11049000" cy="476250"/>
          </a:xfrm>
          <a:prstGeom prst="roundRect">
            <a:avLst>
              <a:gd name="adj" fmla="val 20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432785" y="5874068"/>
            <a:ext cx="33264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4F46E5"/>
                </a:solidFill>
                <a:latin typeface="Arial"/>
                <a:ea typeface="Microsoft YaHei"/>
                <a:cs typeface="Arial"/>
              </a:rPr>
              <a:t>Markdown 的价值是简单、清楚、可复制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162081" y="64427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5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231731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常用语法概览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5191125" cy="2381250"/>
          </a:xfrm>
          <a:prstGeom prst="roundRect">
            <a:avLst>
              <a:gd name="adj" fmla="val 56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5191125" cy="476250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562100"/>
            <a:ext cx="5191125" cy="1524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197550" y="1364932"/>
            <a:ext cx="153173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标题 Headings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0392" y="1854518"/>
            <a:ext cx="8951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F46E5"/>
                </a:solidFill>
                <a:latin typeface="Consolas"/>
                <a:ea typeface="Microsoft YaHei"/>
                <a:cs typeface="Consolas"/>
              </a:rPr>
              <a:t># 一级标题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0392" y="2140268"/>
            <a:ext cx="99509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## 二级标题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0392" y="2426018"/>
            <a:ext cx="109505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78BFA"/>
                </a:solidFill>
                <a:latin typeface="Consolas"/>
                <a:ea typeface="Microsoft YaHei"/>
                <a:cs typeface="Consolas"/>
              </a:rPr>
              <a:t>### 三级标题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28232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用于组织结构，层级不要太深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一个标题下只讲一类内容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429375" y="1238250"/>
            <a:ext cx="5191125" cy="2381250"/>
          </a:xfrm>
          <a:prstGeom prst="roundRect">
            <a:avLst>
              <a:gd name="adj" fmla="val 56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429375" y="1238250"/>
            <a:ext cx="5191125" cy="476250"/>
          </a:xfrm>
          <a:prstGeom prst="roundRect">
            <a:avLst>
              <a:gd name="adj" fmla="val 28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429375" y="1562100"/>
            <a:ext cx="5191125" cy="15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445706" y="1364932"/>
            <a:ext cx="114893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列表 Lists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08267" y="1854518"/>
            <a:ext cx="8951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- 正常场景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08267" y="2140268"/>
            <a:ext cx="8951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- 异常场景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08267" y="2426018"/>
            <a:ext cx="8951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C3AED"/>
                </a:solidFill>
                <a:latin typeface="Consolas"/>
                <a:ea typeface="Microsoft YaHei"/>
                <a:cs typeface="Consolas"/>
              </a:rPr>
              <a:t>- 边界场景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09029" y="2823210"/>
            <a:ext cx="17326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无序列表(-)适合列要点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09029" y="3108960"/>
            <a:ext cx="18214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有序列表(1.)适合写步骤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3905250"/>
            <a:ext cx="5191125" cy="2381250"/>
          </a:xfrm>
          <a:prstGeom prst="roundRect">
            <a:avLst>
              <a:gd name="adj" fmla="val 56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71500" y="3905250"/>
            <a:ext cx="5191125" cy="476250"/>
          </a:xfrm>
          <a:prstGeom prst="roundRect">
            <a:avLst>
              <a:gd name="adj" fmla="val 28000"/>
            </a:avLst>
          </a:prstGeom>
          <a:solidFill>
            <a:srgbClr val="A78BFA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4229100"/>
            <a:ext cx="5191125" cy="152400"/>
          </a:xfrm>
          <a:prstGeom prst="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2503462" y="4031932"/>
            <a:ext cx="131767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代码块 Code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1154" y="4537710"/>
            <a:ext cx="593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```java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1154" y="4785360"/>
            <a:ext cx="21989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public void submitOrder() {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1154" y="5033010"/>
            <a:ext cx="50490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// ...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1154" y="5280660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51154" y="5528310"/>
            <a:ext cx="2787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A78BFA"/>
                </a:solidFill>
                <a:latin typeface="Consolas"/>
                <a:ea typeface="Consolas"/>
                <a:cs typeface="Consolas"/>
              </a:rPr>
              <a:t>```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1154" y="5871210"/>
            <a:ext cx="32296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可标注语言，适合代码、SQL、日志、配置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429375" y="3905250"/>
            <a:ext cx="5191125" cy="2381250"/>
          </a:xfrm>
          <a:prstGeom prst="roundRect">
            <a:avLst>
              <a:gd name="adj" fmla="val 56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6429375" y="3905250"/>
            <a:ext cx="5191125" cy="476250"/>
          </a:xfrm>
          <a:prstGeom prst="roundRect">
            <a:avLst>
              <a:gd name="adj" fmla="val 28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429375" y="4229100"/>
            <a:ext cx="5191125" cy="1524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382019" y="4031932"/>
            <a:ext cx="127631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表格 Tables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09410" y="4545806"/>
            <a:ext cx="16773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| 场景 | 输入 | 期望结果 |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09410" y="4793456"/>
            <a:ext cx="12154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| --- | --- | --- |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709410" y="5041106"/>
            <a:ext cx="25860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E293B"/>
                </a:solidFill>
                <a:latin typeface="Consolas"/>
                <a:ea typeface="Microsoft YaHei"/>
                <a:cs typeface="Consolas"/>
              </a:rPr>
              <a:t>| 正常登录 | 正确账号密码 | 登录成功 |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09029" y="5394960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适合测试用例、对比方案、风险清单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709029" y="5680710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内容太长时维护不方便，适度使用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162081" y="64427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6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528657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Markdown 在 AI 场景中的价值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33500"/>
            <a:ext cx="3810000" cy="28575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571500" y="1333500"/>
            <a:ext cx="3810000" cy="2857500"/>
          </a:xfrm>
          <a:prstGeom prst="roundRect">
            <a:avLst>
              <a:gd name="adj" fmla="val 4667"/>
            </a:avLst>
          </a:prstGeom>
          <a:solidFill>
            <a:srgbClr val="A78BFA">
              <a:alpha val="15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762500" y="1333500"/>
            <a:ext cx="6858000" cy="2857500"/>
          </a:xfrm>
          <a:prstGeom prst="roundRect">
            <a:avLst>
              <a:gd name="adj" fmla="val 4667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048250" y="1524000"/>
            <a:ext cx="6286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5124450" y="1600200"/>
            <a:ext cx="228600" cy="2286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470017" y="162591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让上下文更清晰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048250" y="2000250"/>
            <a:ext cx="6286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5124450" y="2076450"/>
            <a:ext cx="228600" cy="228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470017" y="2102168"/>
            <a:ext cx="186657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让 Prompt 更容易复用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048250" y="2476500"/>
            <a:ext cx="6286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5124450" y="2552700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470017" y="257841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让输出更容易转文档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048250" y="2952750"/>
            <a:ext cx="6286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5124450" y="302895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470017" y="305466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让团队知识库更统一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048250" y="3429000"/>
            <a:ext cx="6286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5124450" y="3505200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470017" y="3530918"/>
            <a:ext cx="24044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让 AI 更容易区分章节和重点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476750"/>
            <a:ext cx="11049000" cy="17145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71500" y="4476750"/>
            <a:ext cx="57150" cy="17145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4118" y="46796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4F46E5"/>
                </a:solidFill>
                <a:latin typeface="Arial"/>
                <a:ea typeface="Microsoft YaHei"/>
                <a:cs typeface="Arial"/>
              </a:rPr>
              <a:t>案例场景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5642" y="5045392"/>
            <a:ext cx="47841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把 Bug 信息按结构化格式写成 Markdown，再交给 AI 分析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6023" y="5386864"/>
            <a:ext cx="33771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格式：现象 → 步骤 → 日志 → 代码 → 期望输出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6023" y="5720239"/>
            <a:ext cx="628503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Markdown 不是单纯写文档，它能直接提升 AI 使用质量。结构清楚，AI 就少猜。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5B9A8FD-853E-FDC0-8483-C6FB08133C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02F925D-1756-5AF1-9AD5-118754A0EB51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347684-A2ED-DD49-E4E5-B9D8620A7373}"/>
              </a:ext>
            </a:extLst>
          </p:cNvPr>
          <p:cNvSpPr txBox="1"/>
          <p:nvPr/>
        </p:nvSpPr>
        <p:spPr>
          <a:xfrm>
            <a:off x="674557" y="1109272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基本语法</a:t>
            </a:r>
            <a:r>
              <a:rPr kumimoji="1" lang="en-US" altLang="zh-CN" dirty="0"/>
              <a:t>, </a:t>
            </a:r>
            <a:r>
              <a:rPr kumimoji="1" lang="zh-CN" altLang="en-US" dirty="0"/>
              <a:t>扩展语法</a:t>
            </a:r>
            <a:r>
              <a:rPr kumimoji="1" lang="en-US" altLang="zh-CN" dirty="0"/>
              <a:t>, </a:t>
            </a:r>
            <a:r>
              <a:rPr kumimoji="1" lang="zh-CN" altLang="en-US" dirty="0"/>
              <a:t>工具</a:t>
            </a:r>
            <a:r>
              <a:rPr kumimoji="1" lang="en-US" altLang="zh-CN" dirty="0"/>
              <a:t>, </a:t>
            </a:r>
            <a:r>
              <a:rPr kumimoji="1" lang="zh-CN" altLang="en-US" dirty="0"/>
              <a:t>在线编辑器</a:t>
            </a:r>
            <a:r>
              <a:rPr kumimoji="1" lang="en-US" altLang="zh-CN" dirty="0"/>
              <a:t>:  </a:t>
            </a:r>
            <a:endParaRPr kumimoji="1" lang="ja-JP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B3E99D6-F2A0-EFAD-34DF-DE738918B919}"/>
              </a:ext>
            </a:extLst>
          </p:cNvPr>
          <p:cNvSpPr txBox="1"/>
          <p:nvPr/>
        </p:nvSpPr>
        <p:spPr>
          <a:xfrm>
            <a:off x="1642496" y="1649137"/>
            <a:ext cx="6032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https://markdown.com.cn/basic-syntax/</a:t>
            </a:r>
          </a:p>
        </p:txBody>
      </p:sp>
    </p:spTree>
    <p:extLst>
      <p:ext uri="{BB962C8B-B14F-4D97-AF65-F5344CB8AC3E}">
        <p14:creationId xmlns:p14="http://schemas.microsoft.com/office/powerpoint/2010/main" val="2865331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C8EF967-8ED0-BC2C-1A26-3571E62500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6EFB0D3-187E-A430-59C0-28A2AA840640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1AD3A44-ACBF-DE20-2962-ACDACABF9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179" y="87168"/>
            <a:ext cx="5071641" cy="584562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499CCCE-0079-0157-16FF-4032D5DACEAC}"/>
              </a:ext>
            </a:extLst>
          </p:cNvPr>
          <p:cNvSpPr txBox="1"/>
          <p:nvPr/>
        </p:nvSpPr>
        <p:spPr>
          <a:xfrm>
            <a:off x="1252878" y="6164564"/>
            <a:ext cx="9686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https://neusoft.feishu.cn/share/base/form/shrcn7YF6RsbqS5JRF658wD3rhh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39892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162081" y="64427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7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291067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AI 输入模板示例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7239000" cy="5143500"/>
          </a:xfrm>
          <a:prstGeom prst="roundRect">
            <a:avLst>
              <a:gd name="adj" fmla="val 2593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7239000" cy="381000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466850"/>
            <a:ext cx="7239000" cy="1524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211834" y="1323975"/>
            <a:ext cx="195833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Markdown 模板结构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57250" y="1809750"/>
            <a:ext cx="6667500" cy="674676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40130" y="1914525"/>
            <a:ext cx="7361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F46E5"/>
                </a:solidFill>
                <a:latin typeface="Arial"/>
                <a:ea typeface="Microsoft YaHei"/>
                <a:cs typeface="Arial"/>
              </a:rPr>
              <a:t>## 背景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1273" y="2167414"/>
            <a:ext cx="15577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这里描述业务背景。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57250" y="2571749"/>
            <a:ext cx="6667500" cy="67467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40130" y="2683324"/>
            <a:ext cx="7361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## 问题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1273" y="2963921"/>
            <a:ext cx="15577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这里描述当前问题。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57250" y="3405663"/>
            <a:ext cx="6667500" cy="1329921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40130" y="3510439"/>
            <a:ext cx="11601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## 已知信息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1273" y="3820478"/>
            <a:ext cx="67377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- 日志：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1273" y="4087178"/>
            <a:ext cx="67377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- 代码：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1273" y="4353878"/>
            <a:ext cx="67377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- 配置：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57250" y="4907490"/>
            <a:ext cx="6667500" cy="132992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40130" y="5012266"/>
            <a:ext cx="11601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## 希望输出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1273" y="5322305"/>
            <a:ext cx="84541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- 可能原因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1273" y="5589005"/>
            <a:ext cx="84541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- 排查步骤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1273" y="5855705"/>
            <a:ext cx="84541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- 修改建议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514350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373618" y="14887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适用场景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382000" y="1905000"/>
            <a:ext cx="2952750" cy="4762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8524875" y="2047875"/>
            <a:ext cx="190500" cy="1905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804148" y="2053114"/>
            <a:ext cx="7037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Bug 分析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382000" y="2524125"/>
            <a:ext cx="2952750" cy="4762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8524875" y="2667000"/>
            <a:ext cx="190500" cy="1905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804148" y="2672239"/>
            <a:ext cx="69951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需求分析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382000" y="3143250"/>
            <a:ext cx="2952750" cy="4762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8524875" y="3286125"/>
            <a:ext cx="190500" cy="1905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804148" y="3291364"/>
            <a:ext cx="69951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方案讨论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382000" y="3762375"/>
            <a:ext cx="2952750" cy="4762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8524875" y="3905250"/>
            <a:ext cx="190500" cy="1905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804148" y="3910489"/>
            <a:ext cx="97454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代码 Review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382000" y="4381500"/>
            <a:ext cx="2952750" cy="4762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8524875" y="4524375"/>
            <a:ext cx="190500" cy="1905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804148" y="4529614"/>
            <a:ext cx="69951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日志排查</a:t>
            </a:r>
          </a:p>
        </p:txBody>
      </p:sp>
      <p:sp>
        <p:nvSpPr>
          <p:cNvPr id="44" name="Line 44"/>
          <p:cNvSpPr/>
          <p:nvPr/>
        </p:nvSpPr>
        <p:spPr>
          <a:xfrm>
            <a:off x="8382000" y="5143500"/>
            <a:ext cx="2952750" cy="9525"/>
          </a:xfrm>
          <a:custGeom>
            <a:avLst/>
            <a:gdLst/>
            <a:ahLst/>
            <a:cxnLst/>
            <a:rect l="l" t="t" r="r" b="b"/>
            <a:pathLst>
              <a:path w="2952750" h="9525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8375523" y="5339239"/>
            <a:ext cx="15577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大家可以根据自己的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75523" y="5577364"/>
            <a:ext cx="138607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工作场景改造模板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162081" y="64427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8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342239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Instruction 是什么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5191125" cy="3011614"/>
          </a:xfrm>
          <a:prstGeom prst="roundRect">
            <a:avLst>
              <a:gd name="adj" fmla="val 4667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5191125" cy="476250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562100"/>
            <a:ext cx="5191125" cy="152400"/>
          </a:xfrm>
          <a:prstGeom prst="rect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503377" y="1364932"/>
            <a:ext cx="13178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Instruction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57250" y="1905000"/>
            <a:ext cx="4619625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88517" y="2045018"/>
            <a:ext cx="24044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给 AI 的长期或固定行为要求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857250" y="2476500"/>
            <a:ext cx="4619625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88517" y="2616518"/>
            <a:ext cx="29215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约束回答风格、输出格式、工作流程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57250" y="3048000"/>
            <a:ext cx="4619625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88517" y="3188018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可以沉淀团队规范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57250" y="3619500"/>
            <a:ext cx="4619625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88517" y="3759518"/>
            <a:ext cx="20500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和单次 Prompt 配合使用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429375" y="1238250"/>
            <a:ext cx="5191125" cy="3011614"/>
          </a:xfrm>
          <a:prstGeom prst="roundRect">
            <a:avLst>
              <a:gd name="adj" fmla="val 4667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429375" y="1238250"/>
            <a:ext cx="5191125" cy="476250"/>
          </a:xfrm>
          <a:prstGeom prst="roundRect">
            <a:avLst>
              <a:gd name="adj" fmla="val 28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429375" y="1562100"/>
            <a:ext cx="5191125" cy="15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599792" y="1364932"/>
            <a:ext cx="84076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715125" y="1905000"/>
            <a:ext cx="4619625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946392" y="204501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这一次要做什么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715125" y="2476500"/>
            <a:ext cx="4619625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946392" y="261651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单次任务的具体指令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715125" y="3048000"/>
            <a:ext cx="4619625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946392" y="31880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灵活、可变化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715125" y="3619500"/>
            <a:ext cx="4619625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946392" y="3759518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每次需要重新说明</a:t>
            </a:r>
          </a:p>
        </p:txBody>
      </p:sp>
      <p:sp>
        <p:nvSpPr>
          <p:cNvPr id="31" name="Ellipse 31"/>
          <p:cNvSpPr/>
          <p:nvPr/>
        </p:nvSpPr>
        <p:spPr>
          <a:xfrm>
            <a:off x="5810250" y="2381250"/>
            <a:ext cx="571500" cy="571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991332" y="2575560"/>
            <a:ext cx="2093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4F46E5"/>
                </a:solidFill>
                <a:latin typeface="Arial"/>
                <a:ea typeface="Arial"/>
                <a:cs typeface="Arial"/>
              </a:rPr>
              <a:t>VS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4381500"/>
            <a:ext cx="11049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4381500"/>
            <a:ext cx="57150" cy="19050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44118" y="45843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4F46E5"/>
                </a:solidFill>
                <a:latin typeface="Arial"/>
                <a:ea typeface="Microsoft YaHei"/>
                <a:cs typeface="Arial"/>
              </a:rPr>
              <a:t>案例场景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5642" y="4950142"/>
            <a:ext cx="659045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团队规定：代码 Review 时必须优先检查正确性、边界条件、异常处理和测试覆盖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6023" y="5291614"/>
            <a:ext cx="37308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输出按严重程度排序 —— 这就是一个 Instruction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46023" y="5672614"/>
            <a:ext cx="25875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两者配合，才能减少每次重复说明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162081" y="6442710"/>
            <a:ext cx="4645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9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418961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Instruction 可以写什么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2381250" cy="13335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238125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81050" y="1495425"/>
            <a:ext cx="342900" cy="342900"/>
          </a:xfrm>
          <a:prstGeom prst="ellipse">
            <a:avLst/>
          </a:prstGeom>
          <a:solidFill>
            <a:srgbClr val="4F46E5">
              <a:alpha val="15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95709" y="1578292"/>
            <a:ext cx="3135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4F46E5"/>
                </a:solidFill>
                <a:latin typeface="Arial"/>
                <a:ea typeface="Arial"/>
                <a:cs typeface="Arial"/>
              </a:rPr>
              <a:t>&lt;/&gt;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2987" y="1733359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项目语言和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33811" y="1971485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技术栈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238500" y="1238250"/>
            <a:ext cx="2381250" cy="13335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3238500" y="1238250"/>
            <a:ext cx="238125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448050" y="1495425"/>
            <a:ext cx="342900" cy="342900"/>
          </a:xfrm>
          <a:prstGeom prst="ellipse">
            <a:avLst/>
          </a:prstGeom>
          <a:solidFill>
            <a:srgbClr val="7C3AED">
              <a:alpha val="15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559835" y="1578292"/>
            <a:ext cx="1193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7C3AED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69446" y="1770125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命名规范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905500" y="1238250"/>
            <a:ext cx="2381250" cy="13335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905500" y="1238250"/>
            <a:ext cx="2381250" cy="381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6115050" y="1495425"/>
            <a:ext cx="342900" cy="342900"/>
          </a:xfrm>
          <a:prstGeom prst="ellipse">
            <a:avLst/>
          </a:prstGeom>
          <a:solidFill>
            <a:srgbClr val="A78BFA">
              <a:alpha val="15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226835" y="1578292"/>
            <a:ext cx="1193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A78BFA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79285" y="1770153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测试框架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572500" y="1238250"/>
            <a:ext cx="3048000" cy="13335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8572500" y="1238250"/>
            <a:ext cx="3048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8782050" y="1495425"/>
            <a:ext cx="342900" cy="342900"/>
          </a:xfrm>
          <a:prstGeom prst="ellipse">
            <a:avLst/>
          </a:prstGeom>
          <a:solidFill>
            <a:srgbClr val="10B981">
              <a:alpha val="15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893835" y="1578292"/>
            <a:ext cx="1193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10B98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07994" y="18028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代码风格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2857500"/>
            <a:ext cx="3524250" cy="13335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571500" y="2857500"/>
            <a:ext cx="352425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781050" y="3114675"/>
            <a:ext cx="342900" cy="342900"/>
          </a:xfrm>
          <a:prstGeom prst="ellipse">
            <a:avLst/>
          </a:prstGeom>
          <a:solidFill>
            <a:srgbClr val="F59E0B">
              <a:alpha val="15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92835" y="3197542"/>
            <a:ext cx="1193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F59E0B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02714" y="3435240"/>
            <a:ext cx="12754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Review 关注点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381500" y="2857500"/>
            <a:ext cx="3524250" cy="13335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4381500" y="2857500"/>
            <a:ext cx="3524250" cy="381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4591050" y="3114675"/>
            <a:ext cx="342900" cy="342900"/>
          </a:xfrm>
          <a:prstGeom prst="ellipse">
            <a:avLst/>
          </a:prstGeom>
          <a:solidFill>
            <a:srgbClr val="EC4899">
              <a:alpha val="15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702835" y="3197542"/>
            <a:ext cx="1193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C4899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647505" y="3429000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文档输出格式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191500" y="2857500"/>
            <a:ext cx="3429000" cy="13335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8191500" y="2857500"/>
            <a:ext cx="3429000" cy="381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8401050" y="3114675"/>
            <a:ext cx="342900" cy="342900"/>
          </a:xfrm>
          <a:prstGeom prst="ellipse">
            <a:avLst/>
          </a:prstGeom>
          <a:solidFill>
            <a:srgbClr val="6366F1">
              <a:alpha val="15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512835" y="3197542"/>
            <a:ext cx="1193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6366F1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430627" y="3442196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团队常用术语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4572000"/>
            <a:ext cx="11049000" cy="762000"/>
          </a:xfrm>
          <a:prstGeom prst="roundRect">
            <a:avLst>
              <a:gd name="adj" fmla="val 175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825659" y="4743450"/>
            <a:ext cx="25406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4F46E5"/>
                </a:solidFill>
                <a:latin typeface="Arial"/>
                <a:ea typeface="Microsoft YaHei"/>
                <a:cs typeface="Arial"/>
              </a:rPr>
              <a:t>Instruction 不是越长越好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272218" y="5045392"/>
            <a:ext cx="564756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应该写稳定、长期有效、团队共识明确的内容，不要把临时需求写进去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0732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49568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示例：代码解释 Instruction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33500"/>
            <a:ext cx="3810000" cy="28575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571500" y="1333500"/>
            <a:ext cx="3810000" cy="2857500"/>
          </a:xfrm>
          <a:prstGeom prst="roundRect">
            <a:avLst>
              <a:gd name="adj" fmla="val 4667"/>
            </a:avLst>
          </a:prstGeom>
          <a:solidFill>
            <a:srgbClr val="8B5CF6">
              <a:alpha val="15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762500" y="1333500"/>
            <a:ext cx="6858000" cy="2857500"/>
          </a:xfrm>
          <a:prstGeom prst="roundRect">
            <a:avLst>
              <a:gd name="adj" fmla="val 4667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048250" y="1504950"/>
            <a:ext cx="6286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048250" y="150495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5191125" y="1581150"/>
            <a:ext cx="190500" cy="1905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249543" y="1615914"/>
            <a:ext cx="7366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70398" y="1595914"/>
            <a:ext cx="121443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一句话总结功能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048250" y="1905000"/>
            <a:ext cx="6286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048250" y="19050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5191125" y="1981200"/>
            <a:ext cx="190500" cy="1905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249543" y="2015964"/>
            <a:ext cx="7366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70398" y="1995964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输入参数说明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048250" y="2305050"/>
            <a:ext cx="6286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5048250" y="230505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5191125" y="2381250"/>
            <a:ext cx="190500" cy="1905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249543" y="2416014"/>
            <a:ext cx="7366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70398" y="2396014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核心处理流程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048250" y="2705100"/>
            <a:ext cx="6286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048250" y="27051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5191125" y="2781300"/>
            <a:ext cx="190500" cy="1905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249543" y="2816064"/>
            <a:ext cx="7366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70398" y="2796064"/>
            <a:ext cx="8711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返回值说明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048250" y="3105150"/>
            <a:ext cx="6286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5048250" y="310515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5191125" y="3181350"/>
            <a:ext cx="190500" cy="1905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249543" y="3216114"/>
            <a:ext cx="7366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470398" y="3196114"/>
            <a:ext cx="15577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可能异常和边界条件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048250" y="3505200"/>
            <a:ext cx="6286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5048250" y="350520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5191125" y="3581400"/>
            <a:ext cx="190500" cy="1905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249543" y="3616164"/>
            <a:ext cx="7366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470398" y="3596164"/>
            <a:ext cx="15577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需要人工确认的问题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4476750"/>
            <a:ext cx="11049000" cy="8763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571500" y="4476750"/>
            <a:ext cx="57150" cy="8763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45642" y="4712018"/>
            <a:ext cx="51559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这个 Instruction 可以让团队成员每次得到相同结构的解释结果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46023" y="5005864"/>
            <a:ext cx="19010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尤其适合新人阅读旧代码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5429249"/>
            <a:ext cx="11049000" cy="1020699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51535" y="5593556"/>
            <a:ext cx="1048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78BFA"/>
                </a:solidFill>
                <a:latin typeface="Consolas"/>
                <a:ea typeface="Microsoft YaHei"/>
                <a:cs typeface="Consolas"/>
              </a:rPr>
              <a:t># 代码解释规则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51535" y="5831681"/>
            <a:ext cx="26087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当解释代码时，请按以上 6 步结构输出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51535" y="6069806"/>
            <a:ext cx="35887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# 适用于：新人阅读旧代码、代码 Review、技术分享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0732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49568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示例：测试用例 Instruction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3118" y="120300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按场景分类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571625"/>
            <a:ext cx="2095500" cy="9525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571625"/>
            <a:ext cx="20955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800100" y="1800225"/>
            <a:ext cx="304800" cy="3048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06351" y="1877956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1392" y="18545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正常场景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3899" y="2145106"/>
            <a:ext cx="6172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功能验证</a:t>
            </a:r>
          </a:p>
        </p:txBody>
      </p:sp>
      <p:sp>
        <p:nvSpPr>
          <p:cNvPr id="14" name="Rectangle 14"/>
          <p:cNvSpPr/>
          <p:nvPr/>
        </p:nvSpPr>
        <p:spPr>
          <a:xfrm>
            <a:off x="2857500" y="1571625"/>
            <a:ext cx="2095500" cy="9525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2857500" y="1571625"/>
            <a:ext cx="2095500" cy="381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3086100" y="1800225"/>
            <a:ext cx="304800" cy="3048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192351" y="1877956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✗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17392" y="18545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异常场景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79899" y="2145106"/>
            <a:ext cx="6172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错误处理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143500" y="1571625"/>
            <a:ext cx="2095500" cy="9525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5143500" y="1571625"/>
            <a:ext cx="20955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5372100" y="1800225"/>
            <a:ext cx="304800" cy="3048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478351" y="1877956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±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03392" y="18545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边界场景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90175" y="2145106"/>
            <a:ext cx="7686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极限值测试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429500" y="1571625"/>
            <a:ext cx="2095500" cy="9525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429500" y="1571625"/>
            <a:ext cx="2095500" cy="381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7658100" y="1800225"/>
            <a:ext cx="304800" cy="3048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764351" y="1877956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🔒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089392" y="18545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权限场景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51899" y="2145106"/>
            <a:ext cx="6172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安全验证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715500" y="1571625"/>
            <a:ext cx="1905000" cy="9525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9715500" y="1571625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9944100" y="1800225"/>
            <a:ext cx="304800" cy="3048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050351" y="1877956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↻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375392" y="18545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回归场景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513623" y="2145106"/>
            <a:ext cx="4657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兼容性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63118" y="28222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每条用例包含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3190875"/>
            <a:ext cx="11049000" cy="5715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571500" y="3190875"/>
            <a:ext cx="110490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857250" y="3333750"/>
            <a:ext cx="1809750" cy="30480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416787" y="34137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用例名称</a:t>
            </a:r>
          </a:p>
        </p:txBody>
      </p:sp>
      <p:sp>
        <p:nvSpPr>
          <p:cNvPr id="43" name="Rectangle 43"/>
          <p:cNvSpPr/>
          <p:nvPr/>
        </p:nvSpPr>
        <p:spPr>
          <a:xfrm>
            <a:off x="2857500" y="3333750"/>
            <a:ext cx="1809750" cy="30480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417037" y="34137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前置条件</a:t>
            </a:r>
          </a:p>
        </p:txBody>
      </p:sp>
      <p:sp>
        <p:nvSpPr>
          <p:cNvPr id="45" name="Rectangle 45"/>
          <p:cNvSpPr/>
          <p:nvPr/>
        </p:nvSpPr>
        <p:spPr>
          <a:xfrm>
            <a:off x="4857750" y="3333750"/>
            <a:ext cx="1809750" cy="304800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417287" y="34137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测试步骤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858000" y="3333750"/>
            <a:ext cx="1809750" cy="30480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417537" y="34137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期望结果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858250" y="3333750"/>
            <a:ext cx="1809750" cy="3048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502597" y="34137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优先级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880" y="3981450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示例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333875"/>
            <a:ext cx="11049000" cy="3810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1438370" y="4460081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登录成功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359110" y="4460081"/>
            <a:ext cx="8065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已注册账号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279850" y="4460081"/>
            <a:ext cx="9655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输入账号密码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439120" y="4460081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跳转首页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664998" y="4460081"/>
            <a:ext cx="1962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71500" y="4714875"/>
            <a:ext cx="110490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1453515" y="4841081"/>
            <a:ext cx="6172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密码错误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378041" y="4841081"/>
            <a:ext cx="7686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已注册账号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302567" y="4841081"/>
            <a:ext cx="9201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输入错误密码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302817" y="4841081"/>
            <a:ext cx="9201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提示密码错误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669399" y="4841081"/>
            <a:ext cx="1874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64" name="Rectangle 64"/>
          <p:cNvSpPr/>
          <p:nvPr/>
        </p:nvSpPr>
        <p:spPr>
          <a:xfrm>
            <a:off x="571500" y="5095875"/>
            <a:ext cx="1104900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1529239" y="5222081"/>
            <a:ext cx="4657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空密码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378041" y="5222081"/>
            <a:ext cx="7686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已注册账号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302567" y="5222081"/>
            <a:ext cx="9201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密码为空提交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454265" y="5222081"/>
            <a:ext cx="6172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提示必填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669399" y="5222081"/>
            <a:ext cx="1874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70" name="Rectangle 70"/>
          <p:cNvSpPr/>
          <p:nvPr/>
        </p:nvSpPr>
        <p:spPr>
          <a:xfrm>
            <a:off x="571500" y="5715000"/>
            <a:ext cx="11049000" cy="476250"/>
          </a:xfrm>
          <a:prstGeom prst="roundRect">
            <a:avLst>
              <a:gd name="adj" fmla="val 20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3181350" y="5874068"/>
            <a:ext cx="58293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4F46E5"/>
                </a:solidFill>
                <a:latin typeface="Arial"/>
                <a:ea typeface="Microsoft YaHei"/>
                <a:cs typeface="Arial"/>
              </a:rPr>
              <a:t>适合测试团队，也适合开发自测。把团队对测试用例格式的要求固定下来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0732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231731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团队共享方式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33500"/>
            <a:ext cx="3810000" cy="28575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571500" y="1333500"/>
            <a:ext cx="3810000" cy="2857500"/>
          </a:xfrm>
          <a:prstGeom prst="roundRect">
            <a:avLst>
              <a:gd name="adj" fmla="val 4667"/>
            </a:avLst>
          </a:prstGeom>
          <a:solidFill>
            <a:srgbClr val="7C3AED">
              <a:alpha val="15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762500" y="1333500"/>
            <a:ext cx="6858000" cy="2857500"/>
          </a:xfrm>
          <a:prstGeom prst="roundRect">
            <a:avLst>
              <a:gd name="adj" fmla="val 4667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048250" y="1504950"/>
            <a:ext cx="62865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5153025" y="1581150"/>
            <a:ext cx="266700" cy="2667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246628" y="1645918"/>
            <a:ext cx="794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65648" y="1634014"/>
            <a:ext cx="328720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建立统一目录存放 Prompt 和 Instruction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048250" y="2019300"/>
            <a:ext cx="62865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5153025" y="2095500"/>
            <a:ext cx="266700" cy="2667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246628" y="2160268"/>
            <a:ext cx="794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65648" y="2148364"/>
            <a:ext cx="36584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按场景分类：Bug、Review、测试、SQL、文档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048250" y="2533650"/>
            <a:ext cx="62865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5153025" y="2609850"/>
            <a:ext cx="266700" cy="2667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246628" y="2674618"/>
            <a:ext cx="794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65648" y="2662714"/>
            <a:ext cx="22442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每个模板标注适用场景和示例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048250" y="3048000"/>
            <a:ext cx="62865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5153025" y="3124200"/>
            <a:ext cx="266700" cy="2667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246628" y="3188968"/>
            <a:ext cx="794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65648" y="3177064"/>
            <a:ext cx="19010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定期清理无效或过时内容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048250" y="3562350"/>
            <a:ext cx="62865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5153025" y="3638550"/>
            <a:ext cx="266700" cy="2667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246628" y="3703318"/>
            <a:ext cx="794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565648" y="3691414"/>
            <a:ext cx="22442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优秀作业可以沉淀为团队模板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476750"/>
            <a:ext cx="11049000" cy="952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571500" y="44767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44880" y="469582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F46E5"/>
                </a:solidFill>
                <a:latin typeface="Arial"/>
                <a:ea typeface="Microsoft YaHei"/>
                <a:cs typeface="Arial"/>
              </a:rPr>
              <a:t>共享的核心原则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5642" y="5045392"/>
            <a:ext cx="528408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不是把所有东西堆在一起，而是要让别人找得到、看得懂、用得上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5619750"/>
            <a:ext cx="11049000" cy="5715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4707446" y="5710137"/>
            <a:ext cx="27592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后续每周分享可以把优秀案例放进来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64165" y="5919687"/>
            <a:ext cx="344576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每个模板都要有场景、有示例、有负责人维护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0732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155402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常见问题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38250"/>
            <a:ext cx="5191125" cy="952500"/>
          </a:xfrm>
          <a:prstGeom prst="roundRect">
            <a:avLst>
              <a:gd name="adj" fmla="val 14000"/>
            </a:avLst>
          </a:prstGeom>
          <a:solidFill>
            <a:srgbClr val="FEF2F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81050" y="1447800"/>
            <a:ext cx="342900" cy="3429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20961" y="1521460"/>
            <a:ext cx="630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8255" y="14382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写得太长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62353" y="1776672"/>
            <a:ext cx="19010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内容冗长，没人愿意维护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429375" y="1238250"/>
            <a:ext cx="5191125" cy="952500"/>
          </a:xfrm>
          <a:prstGeom prst="roundRect">
            <a:avLst>
              <a:gd name="adj" fmla="val 14000"/>
            </a:avLst>
          </a:prstGeom>
          <a:solidFill>
            <a:srgbClr val="FFFBEB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6429375" y="1238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6638925" y="1447800"/>
            <a:ext cx="342900" cy="3429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778836" y="1521460"/>
            <a:ext cx="630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36130" y="14382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写得太泛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20228" y="1776672"/>
            <a:ext cx="15577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过于笼统，无法执行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2476500"/>
            <a:ext cx="5191125" cy="952500"/>
          </a:xfrm>
          <a:prstGeom prst="roundRect">
            <a:avLst>
              <a:gd name="adj" fmla="val 14000"/>
            </a:avLst>
          </a:prstGeom>
          <a:solidFill>
            <a:srgbClr val="F0FDF4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247650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781050" y="2686050"/>
            <a:ext cx="342900" cy="342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20961" y="2759710"/>
            <a:ext cx="630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8255" y="26765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没有示例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62353" y="3014922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缺少使用示例，别人不会用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29375" y="2476500"/>
            <a:ext cx="5191125" cy="952500"/>
          </a:xfrm>
          <a:prstGeom prst="roundRect">
            <a:avLst>
              <a:gd name="adj" fmla="val 14000"/>
            </a:avLst>
          </a:prstGeom>
          <a:solidFill>
            <a:srgbClr val="F5F3FF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429375" y="247650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638925" y="2686050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78836" y="2759710"/>
            <a:ext cx="630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36130" y="26765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没有版本更新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20228" y="3014922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内容逐渐失效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3714750"/>
            <a:ext cx="11049000" cy="952500"/>
          </a:xfrm>
          <a:prstGeom prst="roundRect">
            <a:avLst>
              <a:gd name="adj" fmla="val 14000"/>
            </a:avLst>
          </a:prstGeom>
          <a:solidFill>
            <a:srgbClr val="FFF7ED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571500" y="37147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781050" y="3924300"/>
            <a:ext cx="342900" cy="3429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20961" y="3997960"/>
            <a:ext cx="630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78255" y="3914775"/>
            <a:ext cx="27715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只沉淀结果，不沉淀使用场景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78255" y="4253193"/>
            <a:ext cx="25875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别人不知道什么时候该用这个模板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4953000"/>
            <a:ext cx="11049000" cy="1238250"/>
          </a:xfrm>
          <a:prstGeom prst="roundRect">
            <a:avLst>
              <a:gd name="adj" fmla="val 1076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676582" y="5155882"/>
            <a:ext cx="283883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团队资产最怕"建了没人用"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271772" y="5521642"/>
            <a:ext cx="36484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每个模板都要有场景、有示例、有负责人维护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907852" y="580739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定期回顾更新，保持内容有效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073232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784" y="470535"/>
            <a:ext cx="269896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课堂练习与作业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38250"/>
            <a:ext cx="1714500" cy="1714500"/>
          </a:xfrm>
          <a:prstGeom prst="rect">
            <a:avLst/>
          </a:prstGeom>
        </p:spPr>
      </p:pic>
      <p:sp>
        <p:nvSpPr>
          <p:cNvPr id="8" name="Rectangle 8"/>
          <p:cNvSpPr/>
          <p:nvPr/>
        </p:nvSpPr>
        <p:spPr>
          <a:xfrm>
            <a:off x="571500" y="1238250"/>
            <a:ext cx="1714500" cy="1714500"/>
          </a:xfrm>
          <a:prstGeom prst="roundRect">
            <a:avLst>
              <a:gd name="adj" fmla="val 7778"/>
            </a:avLst>
          </a:prstGeom>
          <a:solidFill>
            <a:srgbClr val="A78BFA">
              <a:alpha val="15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2667000" y="1238250"/>
            <a:ext cx="2762250" cy="762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2667000" y="123825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898267" y="1425892"/>
            <a:ext cx="186074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练习1：Bug 分析模板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99410" y="1716881"/>
            <a:ext cx="21468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编写包含背景/输入/输出的模板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0" y="1238250"/>
            <a:ext cx="2762250" cy="762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5715000" y="123825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946267" y="1425892"/>
            <a:ext cx="183608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练习2：代码解释模板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47410" y="1716881"/>
            <a:ext cx="18288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适合新人读代码的解释模板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763000" y="1238250"/>
            <a:ext cx="2857500" cy="762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8763000" y="123825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994267" y="1425892"/>
            <a:ext cx="183608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练习3：测试用例模板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95410" y="1716881"/>
            <a:ext cx="16773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按场景分类的测试点模板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667000" y="2190750"/>
            <a:ext cx="2762250" cy="762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2667000" y="219075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898267" y="2378392"/>
            <a:ext cx="183608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练习4：日志分析模板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899410" y="2669381"/>
            <a:ext cx="18288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区分直接原因和根因的模板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0" y="2190750"/>
            <a:ext cx="2762250" cy="762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715000" y="219075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946267" y="2378392"/>
            <a:ext cx="22096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练习5：代码 Review 模板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947410" y="2669381"/>
            <a:ext cx="18288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按严重程度排序的审查模板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763000" y="2190750"/>
            <a:ext cx="2857500" cy="762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8763000" y="219075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994267" y="2378392"/>
            <a:ext cx="220030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练习6：Instruction 编写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995410" y="2669381"/>
            <a:ext cx="20036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编写长期有效的 AI 行为规则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3333750"/>
            <a:ext cx="11049000" cy="1524000"/>
          </a:xfrm>
          <a:prstGeom prst="roundRect">
            <a:avLst>
              <a:gd name="adj" fmla="val 875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571500" y="3333750"/>
            <a:ext cx="57150" cy="15240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43356" y="347281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F46E5"/>
                </a:solidFill>
                <a:latin typeface="Arial"/>
                <a:ea typeface="Microsoft YaHei"/>
                <a:cs typeface="Arial"/>
              </a:rPr>
              <a:t>本期作业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5642" y="3854767"/>
            <a:ext cx="459715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写一份可复用的 Markdown Prompt 模板或 Instruction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5642" y="4140517"/>
            <a:ext cx="36484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用真实任务验证一次，根据使用结果修改模板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46023" y="4481989"/>
            <a:ext cx="680991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打卡内容：模板适用场景 → 模板正文 → 实际使用结果 → 修改前后差异 → 是否建议团队共享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5143500"/>
            <a:ext cx="11049000" cy="10858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561658" y="5331142"/>
            <a:ext cx="506868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练习 1~5 重点练 Markdown 模板，练习 6 重点练 Instruction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824137" y="5616892"/>
            <a:ext cx="25437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建议先做模板再做 Instruction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227224" y="5863114"/>
            <a:ext cx="373755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一个模板如果能让别人少摸索 10 分钟，就有价值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B0D6295-0442-49CE-B795-6B4B74C58E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891769-E9B4-FF7C-F625-8F497D17EDF0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F46E5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7A38A50-BC94-A357-4ED1-A1EDA5835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127" y="186800"/>
            <a:ext cx="4967746" cy="573252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07599AE-A1C4-D40B-9891-40B089350026}"/>
              </a:ext>
            </a:extLst>
          </p:cNvPr>
          <p:cNvSpPr txBox="1"/>
          <p:nvPr/>
        </p:nvSpPr>
        <p:spPr>
          <a:xfrm>
            <a:off x="1272916" y="6157831"/>
            <a:ext cx="9646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https://neusoft.feishu.cn/share/base/form/shrcnTlQoigC0JMNNTDtLz47nLP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90246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F46E5"/>
              </a:gs>
              <a:gs pos="50000">
                <a:srgbClr val="7C3AED"/>
              </a:gs>
              <a:gs pos="100000">
                <a:srgbClr val="6D28D9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476250" y="-476250"/>
            <a:ext cx="3810000" cy="3810000"/>
          </a:xfrm>
          <a:prstGeom prst="ellipse">
            <a:avLst/>
          </a:prstGeom>
          <a:solidFill>
            <a:srgbClr val="A78BFA">
              <a:alpha val="1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953500" y="4191000"/>
            <a:ext cx="3048000" cy="3048000"/>
          </a:xfrm>
          <a:prstGeom prst="ellipse">
            <a:avLst/>
          </a:prstGeom>
          <a:solidFill>
            <a:srgbClr val="C4B5FD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238500" y="571500"/>
            <a:ext cx="5715000" cy="5715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4B5F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313655" y="2084070"/>
            <a:ext cx="1564691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</a:t>
            </a:r>
          </a:p>
        </p:txBody>
      </p:sp>
      <p:sp>
        <p:nvSpPr>
          <p:cNvPr id="8" name="Rectangle 8"/>
          <p:cNvSpPr/>
          <p:nvPr/>
        </p:nvSpPr>
        <p:spPr>
          <a:xfrm>
            <a:off x="5143500" y="2952750"/>
            <a:ext cx="1905000" cy="28575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813173" y="3202305"/>
            <a:ext cx="256565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C4B5FD"/>
                </a:solidFill>
                <a:latin typeface="Arial"/>
                <a:ea typeface="Microsoft YaHei"/>
                <a:cs typeface="Arial"/>
              </a:rPr>
              <a:t>让经验变成团队规范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238500" y="3905250"/>
            <a:ext cx="5715000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798054" y="4105275"/>
            <a:ext cx="45958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DDD6FE"/>
                </a:solidFill>
                <a:latin typeface="Arial"/>
                <a:ea typeface="Microsoft YaHei"/>
                <a:cs typeface="Arial"/>
              </a:rPr>
              <a:t>用 Markdown 沉淀知识，用 Instruction 固化规范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93234" y="6061710"/>
            <a:ext cx="22055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AI 培训系列 · 基础培训第5课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1381</Words>
  <Application>Microsoft Office PowerPoint</Application>
  <PresentationFormat>宽屏</PresentationFormat>
  <Paragraphs>302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游ゴシック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ji.ye</cp:lastModifiedBy>
  <cp:revision>17</cp:revision>
  <dcterms:created xsi:type="dcterms:W3CDTF">2026-07-12T07:31:16Z</dcterms:created>
  <dcterms:modified xsi:type="dcterms:W3CDTF">2026-08-20T07:00:20Z</dcterms:modified>
  <cp:category/>
  <cp:contentStatus/>
  <dc:language/>
</cp:coreProperties>
</file>