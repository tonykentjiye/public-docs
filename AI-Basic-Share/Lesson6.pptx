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9488">
                  <a:alpha val="85000"/>
                </a:srgbClr>
              </a:gs>
              <a:gs pos="100000">
                <a:srgbClr val="164E63">
                  <a:alpha val="7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2700000">
            <a:off x="952500" y="762000"/>
            <a:ext cx="571500" cy="571500"/>
          </a:xfrm>
          <a:prstGeom prst="roundRect">
            <a:avLst>
              <a:gd name="adj" fmla="val 6667"/>
            </a:avLst>
          </a:prstGeom>
          <a:solidFill>
            <a:srgbClr val="67E8F9">
              <a:alpha val="1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1800000">
            <a:off x="10477500" y="1428750"/>
            <a:ext cx="762000" cy="762000"/>
          </a:xfrm>
          <a:prstGeom prst="roundRect">
            <a:avLst>
              <a:gd name="adj" fmla="val 5000"/>
            </a:avLst>
          </a:prstGeom>
          <a:solidFill>
            <a:srgbClr val="67E8F9">
              <a:alpha val="1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76250" y="4762500"/>
            <a:ext cx="1905000" cy="1905000"/>
          </a:xfrm>
          <a:prstGeom prst="ellipse">
            <a:avLst/>
          </a:prstGeom>
          <a:solidFill>
            <a:srgbClr val="67E8F9">
              <a:alpha val="8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287000" y="5238750"/>
            <a:ext cx="1333500" cy="1333500"/>
          </a:xfrm>
          <a:prstGeom prst="ellipse">
            <a:avLst/>
          </a:prstGeom>
          <a:solidFill>
            <a:srgbClr val="67E8F9">
              <a:alpha val="10000"/>
            </a:srgbClr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1905000" y="952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0" y="95250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rgbClr val="67E8F9">
                <a:alpha val="12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9525000" y="38100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0" y="95250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rgbClr val="67E8F9">
                <a:alpha val="12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02883" y="2118360"/>
            <a:ext cx="758623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Lesson 6: 用 AI 制作小工具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06824" y="2979420"/>
            <a:ext cx="35783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67E8F9"/>
                </a:solidFill>
                <a:latin typeface="Arial"/>
                <a:ea typeface="Microsoft YaHei"/>
                <a:cs typeface="Arial"/>
              </a:rPr>
              <a:t>从需求到工具的完整实践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143500" y="35242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79696" y="3822382"/>
            <a:ext cx="30326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AI 培训系列 · 基础培训第6课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96230" y="606171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2026 · 内部培训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本期主题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152400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1524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2594" y="1456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核心主题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118" y="1869758"/>
            <a:ext cx="73540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用 AI 辅助制作小工具：脚本、Excel 处理、日志分析工具和简单内部工具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642" y="2283142"/>
            <a:ext cx="61776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从"让 AI 帮我们完成单个任务"到"用 AI 辅助做一个能反复使用的小工具"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3048000"/>
            <a:ext cx="34290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30480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781050" y="3257550"/>
            <a:ext cx="342900" cy="342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99758" y="33566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0630" y="3343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前几节课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0392" y="3711892"/>
            <a:ext cx="14442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让 AI 帮我们完成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392" y="39976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单个任务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81500" y="3048000"/>
            <a:ext cx="34290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81500" y="30480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591050" y="3257550"/>
            <a:ext cx="342900" cy="3429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09758" y="33566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40630" y="33432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这节课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60392" y="3711892"/>
            <a:ext cx="12522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用 AI 辅助制作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60392" y="39976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可复用的小工具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191500" y="3048000"/>
            <a:ext cx="342900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191500" y="30480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401050" y="3257550"/>
            <a:ext cx="342900" cy="3429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519758" y="33566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50630" y="33432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0392" y="37118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脚本、日志分析、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0392" y="3997642"/>
            <a:ext cx="18149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Excel 处理、内部工具</a:t>
            </a:r>
          </a:p>
        </p:txBody>
      </p:sp>
      <p:sp>
        <p:nvSpPr>
          <p:cNvPr id="33" name="Line 33"/>
          <p:cNvSpPr/>
          <p:nvPr/>
        </p:nvSpPr>
        <p:spPr>
          <a:xfrm>
            <a:off x="4000500" y="3857625"/>
            <a:ext cx="361950" cy="1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34" name="Line 34"/>
          <p:cNvSpPr/>
          <p:nvPr/>
        </p:nvSpPr>
        <p:spPr>
          <a:xfrm>
            <a:off x="7810500" y="3857625"/>
            <a:ext cx="361950" cy="1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本期目标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23900" y="14859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3165" y="1625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118" y="1612582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理解工具化条件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0392" y="19973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理解什么工作适合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392" y="2283142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做成小工具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333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581775" y="14859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751040" y="1625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82993" y="16125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掌握制作手顺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8267" y="1997392"/>
            <a:ext cx="14442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掌握 AI 辅助制作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8267" y="228314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小工具的基本手顺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619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23900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3165" y="3911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5118" y="38985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生成工具雏形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392" y="4283392"/>
            <a:ext cx="14702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能用 Copilot 生成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0392" y="45691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脚本或内部工具雏形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3619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81775" y="377190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51040" y="3911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82993" y="3898582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迭代让工具可用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08267" y="42833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能通过测试样例和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08267" y="45691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迭代让工具可用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本期目录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514350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142875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" y="142875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24000"/>
            <a:ext cx="304800" cy="304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44476" y="16049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755" y="15716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什么任务适合做小工具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57250" y="201930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57250" y="20193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38225" y="2114550"/>
            <a:ext cx="304800" cy="304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44476" y="21955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8755" y="21621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小工具制作手顺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" y="260985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57250" y="260985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038225" y="2705100"/>
            <a:ext cx="304800" cy="30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4476" y="27860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8755" y="27527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场景一：日志分析脚本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57250" y="320040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57250" y="32004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1038225" y="3295650"/>
            <a:ext cx="304800" cy="304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44476" y="33766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8755" y="3343275"/>
            <a:ext cx="22993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场景二：Excel/CSV 处理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57250" y="379095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57250" y="379095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1038225" y="3886200"/>
            <a:ext cx="304800" cy="304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44476" y="39671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8755" y="39338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场景三：测试数据生成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57250" y="438150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57250" y="43815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038225" y="4476750"/>
            <a:ext cx="304800" cy="304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44476" y="45577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8755" y="45243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场景四：内部工具雏形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57250" y="4972050"/>
            <a:ext cx="104775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57250" y="497205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038225" y="5067300"/>
            <a:ext cx="304800" cy="30480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4476" y="51482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8755" y="511492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课堂练习、作业与打卡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什么任务适合做小工具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3500"/>
            <a:ext cx="1905000" cy="1905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333500"/>
            <a:ext cx="1905000" cy="1905000"/>
          </a:xfrm>
          <a:prstGeom prst="roundRect">
            <a:avLst>
              <a:gd name="adj" fmla="val 7000"/>
            </a:avLst>
          </a:prstGeom>
          <a:solidFill>
            <a:srgbClr val="0891B2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2857500" y="1333500"/>
            <a:ext cx="8763000" cy="2272982"/>
          </a:xfrm>
          <a:prstGeom prst="roundRect">
            <a:avLst>
              <a:gd name="adj" fmla="val 7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143250" y="1504950"/>
            <a:ext cx="8191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3267075" y="15621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347459" y="1627187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2642" y="158781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每周或每天重复做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143250" y="1905000"/>
            <a:ext cx="8191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267075" y="1962150"/>
            <a:ext cx="228600" cy="228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347459" y="2027237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12642" y="19878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操作步骤固定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143250" y="2305050"/>
            <a:ext cx="8191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3267075" y="236220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347459" y="2427287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2642" y="238791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输入输出格式相对稳定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143250" y="2705100"/>
            <a:ext cx="8191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267075" y="2762250"/>
            <a:ext cx="2286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347459" y="2827337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12642" y="27879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人工处理容易出错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3105150"/>
            <a:ext cx="8191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3267075" y="316230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347459" y="3227387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12642" y="318801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自动化后能明显节省时间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740150"/>
            <a:ext cx="11049000" cy="123825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37401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4118" y="39430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案例场景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5642" y="4308792"/>
            <a:ext cx="45571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每天从日志中筛选某类错误，再统计出现次数和影响接口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6023" y="4602639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这个任务非常适合做成脚本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51689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453508" y="5234146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判断标准：重复、规则明确、人工容易烦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01477" y="5451792"/>
            <a:ext cx="37890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这样的任务不一定需要大系统，用小脚本就能解决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6072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不适合一开始做工具的任务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85725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00100" y="1419225"/>
            <a:ext cx="304800" cy="304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4903" y="1515428"/>
            <a:ext cx="55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1011" y="1398746"/>
            <a:ext cx="14244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规则还没想清楚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9703" y="1719644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需求不明确，工具无法设计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238250"/>
            <a:ext cx="5191125" cy="85725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429375" y="1238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657975" y="1419225"/>
            <a:ext cx="304800" cy="304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82778" y="1515428"/>
            <a:ext cx="55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8886" y="1398746"/>
            <a:ext cx="16258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输入格式经常变化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7578" y="1719644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维护成本高，不如手动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381250"/>
            <a:ext cx="5191125" cy="85725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381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800100" y="2562225"/>
            <a:ext cx="304800" cy="304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24903" y="2658428"/>
            <a:ext cx="55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1011" y="2541746"/>
            <a:ext cx="16258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依赖大量人工经验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9703" y="2862644"/>
            <a:ext cx="15739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AI 难以替代主观判断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2381250"/>
            <a:ext cx="5191125" cy="85725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29375" y="2381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57975" y="2562225"/>
            <a:ext cx="304800" cy="304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82778" y="2658428"/>
            <a:ext cx="55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88886" y="2541746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一次性任务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87578" y="2862644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投入产出比不划算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800100" y="3705225"/>
            <a:ext cx="304800" cy="304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24903" y="3801428"/>
            <a:ext cx="55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1011" y="3684746"/>
            <a:ext cx="20287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失败成本很高且难验证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9703" y="4005644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结果是否正确难以判断时，不要急于工具化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667250"/>
            <a:ext cx="11049000" cy="1524000"/>
          </a:xfrm>
          <a:prstGeom prst="roundRect">
            <a:avLst>
              <a:gd name="adj" fmla="val 8750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804858" y="4870132"/>
            <a:ext cx="25822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工具化之前先问三个问题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5286375"/>
            <a:ext cx="3048000" cy="66675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659022" y="5434489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下个月还会不会做？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05762" y="5696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重复性是第一前提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572000" y="5286375"/>
            <a:ext cx="3048000" cy="66675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278522" y="5434489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规则能不能写清楚？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25262" y="5696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可描述才能可编程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191500" y="5286375"/>
            <a:ext cx="3048000" cy="66675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988133" y="5434489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结果能不能检查？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4762" y="5696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可验证才能可信赖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1204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AI 辅助制作小工具手顺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514350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1428750"/>
            <a:ext cx="1524000" cy="66675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73912" y="1584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描述问题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7415" y="1847374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和目标</a:t>
            </a:r>
          </a:p>
        </p:txBody>
      </p:sp>
      <p:sp>
        <p:nvSpPr>
          <p:cNvPr id="11" name="Line 11"/>
          <p:cNvSpPr/>
          <p:nvPr/>
        </p:nvSpPr>
        <p:spPr>
          <a:xfrm>
            <a:off x="2381250" y="1762125"/>
            <a:ext cx="285750" cy="1"/>
          </a:xfrm>
          <a:prstGeom prst="line">
            <a:avLst/>
          </a:prstGeom>
          <a:noFill/>
          <a:ln w="19050">
            <a:solidFill>
              <a:srgbClr val="0D9488"/>
            </a:solidFill>
            <a:tailEnd type="triangle" w="lg" len="lg"/>
          </a:ln>
        </p:spPr>
      </p:sp>
      <p:sp>
        <p:nvSpPr>
          <p:cNvPr id="12" name="Rectangle 12"/>
          <p:cNvSpPr/>
          <p:nvPr/>
        </p:nvSpPr>
        <p:spPr>
          <a:xfrm>
            <a:off x="2762250" y="1428750"/>
            <a:ext cx="1524000" cy="66675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178912" y="1584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明确输入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22415" y="1847374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和输出</a:t>
            </a:r>
          </a:p>
        </p:txBody>
      </p:sp>
      <p:sp>
        <p:nvSpPr>
          <p:cNvPr id="15" name="Line 15"/>
          <p:cNvSpPr/>
          <p:nvPr/>
        </p:nvSpPr>
        <p:spPr>
          <a:xfrm>
            <a:off x="4286250" y="1762125"/>
            <a:ext cx="285750" cy="1"/>
          </a:xfrm>
          <a:prstGeom prst="line">
            <a:avLst/>
          </a:prstGeom>
          <a:noFill/>
          <a:ln w="19050">
            <a:solidFill>
              <a:srgbClr val="0891B2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4667250" y="1428750"/>
            <a:ext cx="1524000" cy="66675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83912" y="1584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给出样例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93042" y="1847374"/>
            <a:ext cx="272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9" name="Line 19"/>
          <p:cNvSpPr/>
          <p:nvPr/>
        </p:nvSpPr>
        <p:spPr>
          <a:xfrm>
            <a:off x="6191250" y="1762125"/>
            <a:ext cx="285750" cy="1"/>
          </a:xfrm>
          <a:prstGeom prst="line">
            <a:avLst/>
          </a:prstGeom>
          <a:noFill/>
          <a:ln w="19050">
            <a:solidFill>
              <a:srgbClr val="14B8A6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6572250" y="1428750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61906" y="1584960"/>
            <a:ext cx="935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生成最小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62038" y="18473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可用版本</a:t>
            </a:r>
          </a:p>
        </p:txBody>
      </p:sp>
      <p:sp>
        <p:nvSpPr>
          <p:cNvPr id="23" name="Line 23"/>
          <p:cNvSpPr/>
          <p:nvPr/>
        </p:nvSpPr>
        <p:spPr>
          <a:xfrm>
            <a:off x="8286750" y="1762125"/>
            <a:ext cx="285750" cy="1"/>
          </a:xfrm>
          <a:prstGeom prst="line">
            <a:avLst/>
          </a:prstGeom>
          <a:noFill/>
          <a:ln w="19050">
            <a:solidFill>
              <a:srgbClr val="0F766E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8667750" y="1428750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79662" y="1584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本地运行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91911" y="18473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并记录错误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0" y="2095500"/>
            <a:ext cx="1" cy="381000"/>
          </a:xfrm>
          <a:prstGeom prst="line">
            <a:avLst/>
          </a:prstGeom>
          <a:noFill/>
          <a:ln w="19050">
            <a:solidFill>
              <a:srgbClr val="10B981"/>
            </a:solidFill>
            <a:tailEnd type="triangle" w="lg" len="lg"/>
          </a:ln>
        </p:spPr>
      </p:sp>
      <p:sp>
        <p:nvSpPr>
          <p:cNvPr id="28" name="Rectangle 28"/>
          <p:cNvSpPr/>
          <p:nvPr/>
        </p:nvSpPr>
        <p:spPr>
          <a:xfrm>
            <a:off x="8667750" y="2571750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79662" y="2727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错误反馈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11475" y="2990374"/>
            <a:ext cx="627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给 AI 迭代</a:t>
            </a:r>
          </a:p>
        </p:txBody>
      </p:sp>
      <p:sp>
        <p:nvSpPr>
          <p:cNvPr id="31" name="Line 31"/>
          <p:cNvSpPr/>
          <p:nvPr/>
        </p:nvSpPr>
        <p:spPr>
          <a:xfrm flipH="1">
            <a:off x="7429500" y="2905125"/>
            <a:ext cx="1238250" cy="1"/>
          </a:xfrm>
          <a:prstGeom prst="line">
            <a:avLst/>
          </a:prstGeom>
          <a:noFill/>
          <a:ln w="19050">
            <a:solidFill>
              <a:srgbClr val="2DD4BF"/>
            </a:solidFill>
            <a:tailEnd type="triangle" w="lg" len="lg"/>
          </a:ln>
        </p:spPr>
      </p:sp>
      <p:sp>
        <p:nvSpPr>
          <p:cNvPr id="32" name="Rectangle 32"/>
          <p:cNvSpPr/>
          <p:nvPr/>
        </p:nvSpPr>
        <p:spPr>
          <a:xfrm>
            <a:off x="7429500" y="2619375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751997" y="27917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迭代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79830" y="2998470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循环</a:t>
            </a:r>
          </a:p>
        </p:txBody>
      </p:sp>
      <p:sp>
        <p:nvSpPr>
          <p:cNvPr id="35" name="Line 35"/>
          <p:cNvSpPr/>
          <p:nvPr/>
        </p:nvSpPr>
        <p:spPr>
          <a:xfrm>
            <a:off x="9525000" y="3238500"/>
            <a:ext cx="1" cy="381000"/>
          </a:xfrm>
          <a:prstGeom prst="line">
            <a:avLst/>
          </a:prstGeom>
          <a:noFill/>
          <a:ln w="19050">
            <a:solidFill>
              <a:srgbClr val="2DD4BF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8667750" y="3714750"/>
            <a:ext cx="1714500" cy="666750"/>
          </a:xfrm>
          <a:prstGeom prst="roundRect">
            <a:avLst>
              <a:gd name="adj" fmla="val 14286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010040" y="38709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增加异常处理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1911" y="41333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和使用说明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57250" y="2857499"/>
            <a:ext cx="4762500" cy="1612899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857250" y="2857499"/>
            <a:ext cx="57150" cy="161289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30630" y="3076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核心原则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1392" y="3426142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不要一开始要求功能完整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31392" y="371189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先做最小可用版本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1773" y="4005739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再根据运行结果逐步补充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3E0A2F-BBF1-F35F-A27B-FA5731F632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9A3E21-4E5A-1032-501A-6BDA1E674CC7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41BB24-35FF-1502-51FD-70930665A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43" y="198308"/>
            <a:ext cx="5007513" cy="57706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96D6D1-ABA7-E2F7-BBFB-CCBA3FAC1E08}"/>
              </a:ext>
            </a:extLst>
          </p:cNvPr>
          <p:cNvSpPr txBox="1"/>
          <p:nvPr/>
        </p:nvSpPr>
        <p:spPr>
          <a:xfrm>
            <a:off x="1297313" y="6110157"/>
            <a:ext cx="9597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https://neusoft.feishu.cn/share/base/form/shrcntalUqHbSyktGdL2hS0AB6g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97793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6989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小工具需求模板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7239000" cy="5143500"/>
          </a:xfrm>
          <a:prstGeom prst="roundRect">
            <a:avLst>
              <a:gd name="adj" fmla="val 2593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7239000" cy="38100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466850"/>
            <a:ext cx="7239000" cy="152400"/>
          </a:xfrm>
          <a:prstGeom prst="rect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547300" y="13239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需求模板结构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1809750"/>
            <a:ext cx="6667500" cy="62611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40130" y="1914525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## 目标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1654" y="21564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我要做一个工具，用来……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517774"/>
            <a:ext cx="6667500" cy="87122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0130" y="2622550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## 输入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654" y="29121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文件格式：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1654" y="3102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字段说明：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" y="3463925"/>
            <a:ext cx="6667500" cy="599694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40130" y="3568700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4B8A6"/>
                </a:solidFill>
                <a:latin typeface="Arial"/>
                <a:ea typeface="Microsoft YaHei"/>
                <a:cs typeface="Arial"/>
              </a:rPr>
              <a:t>## 输出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1654" y="3810635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输出格式：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57250" y="4121149"/>
            <a:ext cx="6667500" cy="8388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40130" y="4225925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## 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1654" y="4515485"/>
            <a:ext cx="771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规则 1：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1654" y="4705985"/>
            <a:ext cx="771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规则 2：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57250" y="5041899"/>
            <a:ext cx="6667500" cy="9112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40130" y="5146675"/>
            <a:ext cx="11601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## 技术要求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1654" y="5436235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使用语言：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1654" y="5626735"/>
            <a:ext cx="20880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- 运行方式：不需要图形界面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238250"/>
            <a:ext cx="3524250" cy="51435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73618" y="1488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使用说明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1905000"/>
            <a:ext cx="2952750" cy="5715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524875" y="2047875"/>
            <a:ext cx="190500" cy="1905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804148" y="1976914"/>
            <a:ext cx="16389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直接给 Copilot 使用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5291" y="2248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或公司内网模型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2667000"/>
            <a:ext cx="2952750" cy="5715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8524875" y="2809875"/>
            <a:ext cx="190500" cy="1905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04148" y="2738914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输入、输出和规则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05291" y="3010852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越清楚，生成的工具越接近可运行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3429000"/>
            <a:ext cx="2952750" cy="5715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8524875" y="3571875"/>
            <a:ext cx="190500" cy="1905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804148" y="350091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包含样例数据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05291" y="377285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方便验证生成结果</a:t>
            </a:r>
          </a:p>
        </p:txBody>
      </p:sp>
      <p:sp>
        <p:nvSpPr>
          <p:cNvPr id="43" name="Line 43"/>
          <p:cNvSpPr/>
          <p:nvPr/>
        </p:nvSpPr>
        <p:spPr>
          <a:xfrm>
            <a:off x="838200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CCFBF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375523" y="4577239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这个模板可以直接给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75523" y="4815364"/>
            <a:ext cx="15096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Copilot 或公司内网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75523" y="5053489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模型使用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场景一：日志分析脚本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t="3333" b="3333"/>
          <a:stretch>
            <a:fillRect/>
          </a:stretch>
        </p:blipFill>
        <p:spPr>
          <a:xfrm>
            <a:off x="571500" y="1238250"/>
            <a:ext cx="3810000" cy="2667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238250"/>
            <a:ext cx="3810000" cy="2667000"/>
          </a:xfrm>
          <a:prstGeom prst="roundRect">
            <a:avLst>
              <a:gd name="adj" fmla="val 5000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238250"/>
            <a:ext cx="6858000" cy="1341596"/>
          </a:xfrm>
          <a:prstGeom prst="roundRect">
            <a:avLst>
              <a:gd name="adj" fmla="val 10769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762500" y="1238250"/>
            <a:ext cx="57150" cy="13415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35118" y="1441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6642" y="1806892"/>
            <a:ext cx="56880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读取日志文件，统计 ERROR 类型、出现次数、最早时间和最晚时间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37023" y="2148364"/>
            <a:ext cx="27018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输出：Markdown 表格或 CSV 文件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62500" y="2714625"/>
            <a:ext cx="6858000" cy="1341596"/>
          </a:xfrm>
          <a:prstGeom prst="roundRect">
            <a:avLst>
              <a:gd name="adj" fmla="val 11200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36642" y="2902268"/>
            <a:ext cx="11309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Prompt 示例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37785" y="3212306"/>
            <a:ext cx="2595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请用 Python 生成一个日志分析脚本。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37785" y="3450431"/>
            <a:ext cx="361988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输入参数是日志文件路径，只统计包含 ERROR 的行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7785" y="3688556"/>
            <a:ext cx="32753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按异常类型分组统计次数，输出 Markdown 表格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3118" y="4108132"/>
            <a:ext cx="13822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Prompt 要点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476750"/>
            <a:ext cx="2571750" cy="676656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742950" y="4648200"/>
            <a:ext cx="228600" cy="228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3334" y="4713922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9279" y="46043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明确语言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0041" y="4820602"/>
            <a:ext cx="8097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指定 Python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429000" y="4476750"/>
            <a:ext cx="2571750" cy="676656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4648200"/>
            <a:ext cx="228600" cy="228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80834" y="4713922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46779" y="46043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筛选规则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47541" y="4820602"/>
            <a:ext cx="9441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只统计 ERROR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4476750"/>
            <a:ext cx="2571750" cy="676656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457950" y="4648200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38334" y="4713922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04279" y="46043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输出格式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05041" y="4820602"/>
            <a:ext cx="10213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Markdown 表格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0" y="4476750"/>
            <a:ext cx="2476500" cy="676656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9315450" y="4648200"/>
            <a:ext cx="2286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95834" y="4713922"/>
            <a:ext cx="678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61779" y="46043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异常处理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62541" y="48206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文件不存在提示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53340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817876" y="5493068"/>
            <a:ext cx="65562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日志分析是开发和测试都常见的场景，规则清楚，非常适合作为第一个小工具练习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日志工具迭代方向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3118" y="1250632"/>
            <a:ext cx="32819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从最小可用版本开始，逐步增强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66875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66875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57250" y="180975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69656" y="188690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v1.0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2892" y="1854518"/>
            <a:ext cx="4852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基础功能：读取日志 → 统计 ERROR → 输出 Markdown 表格</a:t>
            </a:r>
          </a:p>
        </p:txBody>
      </p:sp>
      <p:sp>
        <p:nvSpPr>
          <p:cNvPr id="13" name="Line 13"/>
          <p:cNvSpPr/>
          <p:nvPr/>
        </p:nvSpPr>
        <p:spPr>
          <a:xfrm>
            <a:off x="6096000" y="2238375"/>
            <a:ext cx="1" cy="190500"/>
          </a:xfrm>
          <a:prstGeom prst="line">
            <a:avLst/>
          </a:prstGeom>
          <a:noFill/>
          <a:ln w="19050">
            <a:solidFill>
              <a:srgbClr val="0D948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71500" y="247650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247650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57250" y="261937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69656" y="2696528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v1.1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2892" y="2664142"/>
            <a:ext cx="29487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增加时间范围筛选 + 按出现次数排序</a:t>
            </a:r>
          </a:p>
        </p:txBody>
      </p:sp>
      <p:sp>
        <p:nvSpPr>
          <p:cNvPr id="19" name="Line 19"/>
          <p:cNvSpPr/>
          <p:nvPr/>
        </p:nvSpPr>
        <p:spPr>
          <a:xfrm>
            <a:off x="6096000" y="3048000"/>
            <a:ext cx="1" cy="190500"/>
          </a:xfrm>
          <a:prstGeom prst="line">
            <a:avLst/>
          </a:prstGeom>
          <a:noFill/>
          <a:ln w="19050">
            <a:solidFill>
              <a:srgbClr val="0891B2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571500" y="3286125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3286125"/>
            <a:ext cx="57150" cy="5715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57250" y="3429000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69656" y="350615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v1.2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02892" y="3473768"/>
            <a:ext cx="31305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增加接口路径统计 + 支持多个日志文件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0" y="3857625"/>
            <a:ext cx="1" cy="190500"/>
          </a:xfrm>
          <a:prstGeom prst="line">
            <a:avLst/>
          </a:prstGeom>
          <a:noFill/>
          <a:ln w="19050">
            <a:solidFill>
              <a:srgbClr val="14B8A6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571500" y="409575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09575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57250" y="4238625"/>
            <a:ext cx="762000" cy="2857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69656" y="4315778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v2.0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02892" y="4283392"/>
            <a:ext cx="293248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输出 CSV + 增加 README 使用说明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49530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21160" y="5155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迭代原则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71772" y="5521642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工具不要一次做全。先能跑，再逐步加功能。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30579" y="5815489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每加一个功能，都要准备一个样例验证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3443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场景二：Excel/CSV 处理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t="3333" b="3333"/>
          <a:stretch>
            <a:fillRect/>
          </a:stretch>
        </p:blipFill>
        <p:spPr>
          <a:xfrm>
            <a:off x="571500" y="1238250"/>
            <a:ext cx="3810000" cy="2667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238250"/>
            <a:ext cx="3810000" cy="2667000"/>
          </a:xfrm>
          <a:prstGeom prst="roundRect">
            <a:avLst>
              <a:gd name="adj" fmla="val 5000"/>
            </a:avLst>
          </a:prstGeom>
          <a:solidFill>
            <a:srgbClr val="0D9488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238250"/>
            <a:ext cx="6858000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762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35118" y="14220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6642" y="1759268"/>
            <a:ext cx="40942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读取 CSV 文件，按规则清洗数据并生成统计结果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0" y="2428875"/>
            <a:ext cx="6858000" cy="1813876"/>
          </a:xfrm>
          <a:prstGeom prst="roundRect">
            <a:avLst>
              <a:gd name="adj" fmla="val 9032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35880" y="2581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常见任务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2905125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5286375" y="2981325"/>
            <a:ext cx="190500" cy="1905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66029" y="29946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去重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477250" y="2905125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620125" y="2981325"/>
            <a:ext cx="190500" cy="1905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99779" y="29946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字段格式转换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43500" y="333375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286375" y="3409950"/>
            <a:ext cx="190500" cy="1905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566029" y="342328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按状态分组统计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333750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620125" y="3409950"/>
            <a:ext cx="190500" cy="1905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99779" y="34232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找出缺失值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143500" y="3762375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5286375" y="3838575"/>
            <a:ext cx="190500" cy="190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66029" y="3851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合并多个文件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414042"/>
            <a:ext cx="11049000" cy="1347316"/>
          </a:xfrm>
          <a:prstGeom prst="roundRect">
            <a:avLst>
              <a:gd name="adj" fmla="val 11667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5642" y="4601685"/>
            <a:ext cx="11309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Prompt 示例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6785" y="4911724"/>
            <a:ext cx="59853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请生成一个 Python 脚本处理 CSV 文件。输入包含 user_id、status、created_at 三列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6785" y="5149849"/>
            <a:ext cx="49864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统计每种 status 的数量，检查 user_id 为空的行数，输出 summary.csv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6785" y="5387974"/>
            <a:ext cx="35174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代码中加入必要注释，给出 5 行样例输入和期望输出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57784" y="5898834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748248" y="6065998"/>
            <a:ext cx="66680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很多 Excel 人工处理工作规则很固定，可以先导出成 CSV，再让 AI 辅助生成处理脚本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场景三：测试数据生成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t="3333" b="3333"/>
          <a:stretch>
            <a:fillRect/>
          </a:stretch>
        </p:blipFill>
        <p:spPr>
          <a:xfrm>
            <a:off x="571500" y="1238250"/>
            <a:ext cx="3810000" cy="2667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238250"/>
            <a:ext cx="3810000" cy="2667000"/>
          </a:xfrm>
          <a:prstGeom prst="roundRect">
            <a:avLst>
              <a:gd name="adj" fmla="val 5000"/>
            </a:avLst>
          </a:prstGeom>
          <a:solidFill>
            <a:srgbClr val="0891B2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238250"/>
            <a:ext cx="6858000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762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35118" y="14220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6642" y="175926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根据接口字段和业务规则生成测试数据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0" y="2428875"/>
            <a:ext cx="6858000" cy="1831181"/>
          </a:xfrm>
          <a:prstGeom prst="roundRect">
            <a:avLst>
              <a:gd name="adj" fmla="val 9032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35880" y="2581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数据分类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2905125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5286375" y="2981325"/>
            <a:ext cx="190500" cy="190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66029" y="2994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正常数据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477250" y="2905125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620125" y="2981325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99779" y="2994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边界数据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43500" y="333375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286375" y="3409950"/>
            <a:ext cx="190500" cy="1905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566029" y="34232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异常数据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333750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620125" y="3409950"/>
            <a:ext cx="190500" cy="1905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99779" y="34232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批量数据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143500" y="3762375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5286375" y="3838575"/>
            <a:ext cx="190500" cy="1905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66029" y="38519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随机但可复现的数据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381499"/>
            <a:ext cx="11049000" cy="1321403"/>
          </a:xfrm>
          <a:prstGeom prst="roundRect">
            <a:avLst>
              <a:gd name="adj" fmla="val 11667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5642" y="4569142"/>
            <a:ext cx="11309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Prompt 示例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6785" y="4879181"/>
            <a:ext cx="49031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请根据以下规则生成测试数据脚本：字段 user_id、age、email、status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6785" y="5117306"/>
            <a:ext cx="39490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age 范围 0~120，status 只能是 active/inactive/locked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6785" y="5355431"/>
            <a:ext cx="42759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生成正常、边界、非法三类数据，输出 CSV，每类至少 10 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5762625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196895" y="5929789"/>
            <a:ext cx="57982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测试数据生成非常适合 AI 辅助。把规则说清楚，让 AI 生成脚本或数据表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场景四：内部工具雏形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t="3333" b="3333"/>
          <a:stretch>
            <a:fillRect/>
          </a:stretch>
        </p:blipFill>
        <p:spPr>
          <a:xfrm>
            <a:off x="571500" y="1238250"/>
            <a:ext cx="3810000" cy="26670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238250"/>
            <a:ext cx="3810000" cy="2667000"/>
          </a:xfrm>
          <a:prstGeom prst="roundRect">
            <a:avLst>
              <a:gd name="adj" fmla="val 5000"/>
            </a:avLst>
          </a:prstGeom>
          <a:solidFill>
            <a:srgbClr val="14B8A6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238250"/>
            <a:ext cx="6858000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4762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135118" y="14220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6642" y="1759268"/>
            <a:ext cx="4218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用 Copilot 辅助开发一个简单内部页面或命令行工具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0" y="2428875"/>
            <a:ext cx="6858000" cy="1476375"/>
          </a:xfrm>
          <a:prstGeom prst="roundRect">
            <a:avLst>
              <a:gd name="adj" fmla="val 9032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35880" y="25812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适合的例子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2905125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5286375" y="2981325"/>
            <a:ext cx="190500" cy="1905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66029" y="2994660"/>
            <a:ext cx="18385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JSON 格式化和字段提取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477250" y="2905125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620125" y="2981325"/>
            <a:ext cx="190500" cy="1905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99779" y="2994660"/>
            <a:ext cx="12326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SQL 模板生成器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43500" y="333375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286375" y="3409950"/>
            <a:ext cx="190500" cy="1905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566029" y="34232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日志关键字查询页面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333750"/>
            <a:ext cx="2857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620125" y="3409950"/>
            <a:ext cx="190500" cy="1905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99779" y="3423285"/>
            <a:ext cx="2048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测试用例 Markdown 转 CSV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4190999"/>
            <a:ext cx="11049000" cy="1321403"/>
          </a:xfrm>
          <a:prstGeom prst="roundRect">
            <a:avLst>
              <a:gd name="adj" fmla="val 11667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5642" y="4378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开发方法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6785" y="4688681"/>
            <a:ext cx="4800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请帮我设计一个命令行工具。功能：输入一个 Markdown 测试用例文件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6785" y="4926806"/>
            <a:ext cx="34118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解析用例名称、步骤、期望结果，输出 CSV 文件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785" y="5164931"/>
            <a:ext cx="44034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CCFBF1"/>
                </a:solidFill>
                <a:latin typeface="Arial"/>
                <a:ea typeface="Microsoft YaHei"/>
                <a:cs typeface="Arial"/>
              </a:rPr>
              <a:t>请先给出实现思路、文件结构和关键函数，不要直接生成完整代码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572125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509734" y="5739289"/>
            <a:ext cx="51725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做稍微复杂一点的工具时，先让 AI 设计结构，再逐步生成和验证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24026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使用 Copilot 的迭代方式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514350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147637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" y="147637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581150"/>
            <a:ext cx="304800" cy="304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44476" y="16621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9136" y="1560671"/>
            <a:ext cx="237685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先写 README 或需求说明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0660" y="1812131"/>
            <a:ext cx="33167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把工具要做什么写清楚，Copilot 就有稳定上下文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14312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57250" y="214312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38225" y="2247900"/>
            <a:ext cx="304800" cy="304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44476" y="23288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9136" y="2227421"/>
            <a:ext cx="223791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让 Copilot 生成文件结构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0660" y="2478881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先确定整体架构，再填充细节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57250" y="280987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57250" y="280987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1038225" y="2914650"/>
            <a:ext cx="304800" cy="30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44476" y="29956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9136" y="2894171"/>
            <a:ext cx="20287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一个函数一个函数生成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0660" y="3145631"/>
            <a:ext cx="27374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分步生成，避免一次性代码过多难以调试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57250" y="347662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57250" y="347662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038225" y="3581400"/>
            <a:ext cx="304800" cy="304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44476" y="36623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136" y="3560921"/>
            <a:ext cx="223015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每个函数配一个样例测试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0660" y="381238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边写边验证，及时发现问题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57250" y="414337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857250" y="414337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1038225" y="4248150"/>
            <a:ext cx="304800" cy="304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4476" y="432911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9136" y="4227671"/>
            <a:ext cx="298921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运行失败后把报错反馈给 Copilot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70660" y="44791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错误信息是最有效的调试上下文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57250" y="4810125"/>
            <a:ext cx="10477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57250" y="4810125"/>
            <a:ext cx="57150" cy="523875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038225" y="4914900"/>
            <a:ext cx="304800" cy="304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4476" y="499586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9136" y="4894421"/>
            <a:ext cx="142445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最后补使用说明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70660" y="5145881"/>
            <a:ext cx="13744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让其他人也能用起来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6989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小工具验收清单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447800"/>
            <a:ext cx="342900" cy="342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563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8255" y="143827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能在本地按说明运行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7754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确保工具在标准环境下可执行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429375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638925" y="1447800"/>
            <a:ext cx="342900" cy="3429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64226" y="1563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6130" y="1438275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有样例输入和样例输出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9029" y="1775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方便验证工具是否正确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781050" y="2686050"/>
            <a:ext cx="342900" cy="3429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06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8255" y="26765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常见错误有提示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154" y="301371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文件不存在、格式错误等有友好提示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29375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38925" y="2686050"/>
            <a:ext cx="342900" cy="3429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64226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6130" y="267652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输出结果能人工检查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09029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结果可读、可验证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7147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3714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81050" y="39243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6351" y="40395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8255" y="39147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有最小使用说明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154" y="42519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至少包含运行方式和参数说明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29375" y="37147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429375" y="3714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638925" y="3924300"/>
            <a:ext cx="342900" cy="3429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764226" y="40395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36130" y="3914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没有过度设计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09029" y="42519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刚好解决问题，不追求完美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9530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804858" y="5155882"/>
            <a:ext cx="25822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工具不是生成出来就完成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44378" y="552164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能运行、能验证、别人能用，才算完成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59680" y="5815489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尤其是使用说明，不要省略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课堂练习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447800"/>
            <a:ext cx="342900" cy="342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563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8255" y="1438275"/>
            <a:ext cx="21547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日志 ERROR 统计工具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255" y="177546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 → 生成 → 验证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429375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638925" y="1447800"/>
            <a:ext cx="342900" cy="3429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64226" y="15630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6130" y="1438275"/>
            <a:ext cx="17962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CSV 数据清洗工具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6130" y="177546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 → 生成 → 验证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781050" y="2686050"/>
            <a:ext cx="342900" cy="3429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06351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8255" y="26765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测试数据生成工具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8255" y="301371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 → 生成 → 验证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29375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38925" y="2686050"/>
            <a:ext cx="342900" cy="3429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64226" y="28013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6130" y="2676525"/>
            <a:ext cx="18410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SQL 模板生成工具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36130" y="301371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 → 生成 → 验证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714750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3714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81050" y="39243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6351" y="40395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8255" y="3914775"/>
            <a:ext cx="21718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Markdown 转表格工具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8255" y="4251960"/>
            <a:ext cx="16760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 → 生成 → 验证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9530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CCFBF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908298" y="5140642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课堂不一定要完整写完工具，但必须把需求说明写清楚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53039" y="5434489"/>
            <a:ext cx="348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需求说明清楚后，AI 才能稳定生成可用代码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58196" y="5720239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每个练习都提供了样例数据，生成脚本后可以直接运行验证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6989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本期作业与打卡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1581150"/>
          </a:xfrm>
          <a:prstGeom prst="roundRect">
            <a:avLst>
              <a:gd name="adj" fmla="val 9333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15811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3356" y="1424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本期作业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642" y="1806892"/>
            <a:ext cx="36686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用 Copilot 辅助制作一个可运行的小工具雏形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023" y="2100739"/>
            <a:ext cx="52632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可以是脚本、CSV 处理、日志分析、测试数据生成或简单内部工具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023" y="2386489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C7C7A"/>
                </a:solidFill>
                <a:latin typeface="Arial"/>
                <a:ea typeface="Microsoft YaHei"/>
                <a:cs typeface="Arial"/>
              </a:rPr>
              <a:t>提交需求说明、核心代码、运行方式、样例输入输出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3118" y="29175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打卡内容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3286125"/>
            <a:ext cx="3429000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328612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723900" y="3486150"/>
            <a:ext cx="266700" cy="2667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17503" y="356997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8898" y="34628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工具解决什么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8898" y="3719989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重复问题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3286125"/>
            <a:ext cx="3429000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81500" y="328612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4533900" y="3486150"/>
            <a:ext cx="266700" cy="2667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27503" y="356997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98898" y="346281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使用了哪些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8898" y="3719989"/>
            <a:ext cx="9469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AI 辅助步骤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191500" y="3286125"/>
            <a:ext cx="3429000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191500" y="3286125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343900" y="3486150"/>
            <a:ext cx="266700" cy="2667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37503" y="3569970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08898" y="34628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第一次生成结果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08898" y="3719989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有什么问题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286250"/>
            <a:ext cx="5191125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2862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723900" y="4486275"/>
            <a:ext cx="266700" cy="2667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17503" y="4570095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8898" y="4462939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如何迭代修正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29375" y="4286250"/>
            <a:ext cx="5191125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429375" y="42862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581775" y="4486275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75378" y="4570095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6773" y="4462939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后续是否可以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46773" y="472011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34E4A"/>
                </a:solidFill>
                <a:latin typeface="Arial"/>
                <a:ea typeface="Microsoft YaHei"/>
                <a:cs typeface="Arial"/>
              </a:rPr>
              <a:t>给团队复用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334000"/>
            <a:ext cx="11049000" cy="857250"/>
          </a:xfrm>
          <a:prstGeom prst="roundRect">
            <a:avLst>
              <a:gd name="adj" fmla="val 15556"/>
            </a:avLst>
          </a:prstGeom>
          <a:solidFill>
            <a:srgbClr val="134E4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816983" y="5521642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这次作业是基础培训的综合练习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00736" y="5815489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只要工具能解决一个真实小问题，就达到了目的，不需要做得很大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AC53544-0C22-B7B2-C5E7-A417961166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819BBD-7385-8300-24BE-BCD69570B1D9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A3F5F2-991F-DFD7-4971-789CEE9E6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106" y="149724"/>
            <a:ext cx="5039788" cy="58192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D421B33-CAB5-1A50-D29E-DCC9AEAA3A2F}"/>
              </a:ext>
            </a:extLst>
          </p:cNvPr>
          <p:cNvSpPr txBox="1"/>
          <p:nvPr/>
        </p:nvSpPr>
        <p:spPr>
          <a:xfrm>
            <a:off x="1207899" y="6182667"/>
            <a:ext cx="9776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https://neusoft.feishu.cn/share/base/form/shrcn81t3jnkBWSG9iKwIpQomEd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55038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9488"/>
              </a:gs>
              <a:gs pos="50000">
                <a:srgbClr val="0891B2"/>
              </a:gs>
              <a:gs pos="100000">
                <a:srgbClr val="0E749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 rot="2700000">
            <a:off x="952500" y="7620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67E8F9">
              <a:alpha val="12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 rot="1800000">
            <a:off x="10477500" y="5524500"/>
            <a:ext cx="571500" cy="571500"/>
          </a:xfrm>
          <a:prstGeom prst="roundRect">
            <a:avLst>
              <a:gd name="adj" fmla="val 6667"/>
            </a:avLst>
          </a:prstGeom>
          <a:solidFill>
            <a:srgbClr val="67E8F9">
              <a:alpha val="1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85750" y="4572000"/>
            <a:ext cx="2286000" cy="2286000"/>
          </a:xfrm>
          <a:prstGeom prst="ellipse">
            <a:avLst/>
          </a:prstGeom>
          <a:solidFill>
            <a:srgbClr val="67E8F9">
              <a:alpha val="6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096500" y="571500"/>
            <a:ext cx="1714500" cy="1714500"/>
          </a:xfrm>
          <a:prstGeom prst="ellipse">
            <a:avLst/>
          </a:prstGeom>
          <a:solidFill>
            <a:srgbClr val="67E8F9">
              <a:alpha val="8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3429000" y="762000"/>
            <a:ext cx="5334000" cy="5334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5EEAD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13655" y="2084070"/>
            <a:ext cx="1564691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28492" y="3202305"/>
            <a:ext cx="49350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用 AI 制作小工具，解决身边重复问题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238500" y="3905250"/>
            <a:ext cx="5715000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53534" y="4105275"/>
            <a:ext cx="28849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9F6E4"/>
                </a:solidFill>
                <a:latin typeface="Arial"/>
                <a:ea typeface="Microsoft YaHei"/>
                <a:cs typeface="Arial"/>
              </a:rPr>
              <a:t>从需求到工具，让 AI 帮你提效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93234" y="6061710"/>
            <a:ext cx="22055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EEAD4"/>
                </a:solidFill>
                <a:latin typeface="Arial"/>
                <a:ea typeface="Microsoft YaHei"/>
                <a:cs typeface="Arial"/>
              </a:rPr>
              <a:t>AI 培训系列 · 基础培训第6课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1608</Words>
  <Application>Microsoft Office PowerPoint</Application>
  <PresentationFormat>宽屏</PresentationFormat>
  <Paragraphs>317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ji.ye</cp:lastModifiedBy>
  <cp:revision>15</cp:revision>
  <dcterms:created xsi:type="dcterms:W3CDTF">2026-07-12T07:46:40Z</dcterms:created>
  <dcterms:modified xsi:type="dcterms:W3CDTF">2026-08-25T03:55:04Z</dcterms:modified>
  <cp:category/>
  <cp:contentStatus/>
  <dc:language/>
</cp:coreProperties>
</file>