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6256000" cy="9144000"/>
  <p:notesSz cx="9144000" cy="16256000"/>
  <p:embeddedFontLst>
    <p:embeddedFont>
      <p:font typeface="Microsoft YaHei" panose="020B0503020204020204" pitchFamily="34" charset="-122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76" autoAdjust="0"/>
  </p:normalViewPr>
  <p:slideViewPr>
    <p:cSldViewPr snapToGrid="0" snapToObjects="1">
      <p:cViewPr varScale="1">
        <p:scale>
          <a:sx n="88" d="100"/>
          <a:sy n="88" d="100"/>
        </p:scale>
        <p:origin x="3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0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image" descr="preencoded.png"/>
          <p:cNvPicPr>
            <a:picLocks noChangeAspect="1"/>
          </p:cNvPicPr>
          <p:nvPr/>
        </p:nvPicPr>
        <p:blipFill>
          <a:blip r:embed="rId3"/>
          <a:srcRect t="28" b="2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background-mask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25000"/>
                </a:srgbClr>
              </a:gs>
              <a:gs pos="100000">
                <a:srgbClr val="0F172A">
                  <a:alpha val="95000"/>
                </a:srgbClr>
              </a:gs>
            </a:gsLst>
            <a:lin ang="69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ver-text-1"/>
          <p:cNvSpPr/>
          <p:nvPr/>
        </p:nvSpPr>
        <p:spPr>
          <a:xfrm>
            <a:off x="1016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开发中心 AI 普及培训系列 · LESSON 01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cover-shape-2"/>
          <p:cNvSpPr/>
          <p:nvPr/>
        </p:nvSpPr>
        <p:spPr>
          <a:xfrm>
            <a:off x="1016000" y="1651000"/>
            <a:ext cx="1016000" cy="9144"/>
          </a:xfrm>
          <a:prstGeom prst="line">
            <a:avLst/>
          </a:prstGeom>
          <a:ln w="50800">
            <a:solidFill>
              <a:srgbClr val="7C3AED"/>
            </a:solidFill>
            <a:prstDash val="solid"/>
          </a:ln>
        </p:spPr>
      </p:sp>
      <p:sp>
        <p:nvSpPr>
          <p:cNvPr id="6" name="cover-text-3"/>
          <p:cNvSpPr/>
          <p:nvPr/>
        </p:nvSpPr>
        <p:spPr>
          <a:xfrm>
            <a:off x="990600" y="3429000"/>
            <a:ext cx="1143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4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认知与工具地图</a:t>
            </a:r>
            <a:endParaRPr lang="en-US" sz="5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cover-text-4"/>
          <p:cNvSpPr/>
          <p:nvPr/>
        </p:nvSpPr>
        <p:spPr>
          <a:xfrm>
            <a:off x="1016000" y="5080000"/>
            <a:ext cx="1041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先建立统一认知，再谈高效使用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cover-text-5"/>
          <p:cNvSpPr/>
          <p:nvPr/>
        </p:nvSpPr>
        <p:spPr>
          <a:xfrm>
            <a:off x="1016000" y="8001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第一课 · AI、LLM、Copilot、Agent 基础与工具选择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opic-text-2"/>
          <p:cNvSpPr/>
          <p:nvPr/>
        </p:nvSpPr>
        <p:spPr>
          <a:xfrm>
            <a:off x="1016000" y="698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本期主题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opic-text-3"/>
          <p:cNvSpPr/>
          <p:nvPr/>
        </p:nvSpPr>
        <p:spPr>
          <a:xfrm>
            <a:off x="1016000" y="1079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先建立认知，再动手使用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opic-shape-4"/>
          <p:cNvSpPr/>
          <p:nvPr/>
        </p:nvSpPr>
        <p:spPr>
          <a:xfrm>
            <a:off x="1016000" y="2159000"/>
            <a:ext cx="14224000" cy="11430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6" name="topic-shape-5"/>
          <p:cNvSpPr/>
          <p:nvPr/>
        </p:nvSpPr>
        <p:spPr>
          <a:xfrm>
            <a:off x="1016000" y="2159000"/>
            <a:ext cx="7620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opic-text-6"/>
          <p:cNvSpPr/>
          <p:nvPr/>
        </p:nvSpPr>
        <p:spPr>
          <a:xfrm>
            <a:off x="1397000" y="2159000"/>
            <a:ext cx="1346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基础认知：先知道它能做什么、不能做什么、适合放在哪些工作场景里。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opic-shape-7"/>
          <p:cNvSpPr/>
          <p:nvPr/>
        </p:nvSpPr>
        <p:spPr>
          <a:xfrm>
            <a:off x="1016000" y="3810000"/>
            <a:ext cx="44704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topic-icon-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4216400"/>
            <a:ext cx="508000" cy="508000"/>
          </a:xfrm>
          <a:prstGeom prst="rect">
            <a:avLst/>
          </a:prstGeom>
        </p:spPr>
      </p:pic>
      <p:sp>
        <p:nvSpPr>
          <p:cNvPr id="10" name="topic-text-9"/>
          <p:cNvSpPr/>
          <p:nvPr/>
        </p:nvSpPr>
        <p:spPr>
          <a:xfrm>
            <a:off x="1016000" y="4953000"/>
            <a:ext cx="44704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能做什么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opic-shape-10"/>
          <p:cNvSpPr/>
          <p:nvPr/>
        </p:nvSpPr>
        <p:spPr>
          <a:xfrm>
            <a:off x="5892800" y="3810000"/>
            <a:ext cx="44704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topic-icon-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4216400"/>
            <a:ext cx="508000" cy="508000"/>
          </a:xfrm>
          <a:prstGeom prst="rect">
            <a:avLst/>
          </a:prstGeom>
        </p:spPr>
      </p:pic>
      <p:sp>
        <p:nvSpPr>
          <p:cNvPr id="13" name="topic-text-12"/>
          <p:cNvSpPr/>
          <p:nvPr/>
        </p:nvSpPr>
        <p:spPr>
          <a:xfrm>
            <a:off x="5892800" y="4953000"/>
            <a:ext cx="44704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不能做什么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opic-shape-13"/>
          <p:cNvSpPr/>
          <p:nvPr/>
        </p:nvSpPr>
        <p:spPr>
          <a:xfrm>
            <a:off x="10769600" y="3810000"/>
            <a:ext cx="44704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topic-icon-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0" y="4216400"/>
            <a:ext cx="508000" cy="508000"/>
          </a:xfrm>
          <a:prstGeom prst="rect">
            <a:avLst/>
          </a:prstGeom>
        </p:spPr>
      </p:pic>
      <p:sp>
        <p:nvSpPr>
          <p:cNvPr id="16" name="topic-text-15"/>
          <p:cNvSpPr/>
          <p:nvPr/>
        </p:nvSpPr>
        <p:spPr>
          <a:xfrm>
            <a:off x="10769600" y="4953000"/>
            <a:ext cx="44704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放在哪里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opic-text-16"/>
          <p:cNvSpPr/>
          <p:nvPr/>
        </p:nvSpPr>
        <p:spPr>
          <a:xfrm>
            <a:off x="1016000" y="6604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本节课不追求大家掌握复杂概念，目标是建立统一认知。后续我们会进入 Copilot、Prompt、Instruction 和工具制作，这节课先把基础词汇和使用边界讲清楚。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opic-text-17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02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als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goals-text-2"/>
          <p:cNvSpPr/>
          <p:nvPr/>
        </p:nvSpPr>
        <p:spPr>
          <a:xfrm>
            <a:off x="1016000" y="698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本期目标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goals-text-3"/>
          <p:cNvSpPr/>
          <p:nvPr/>
        </p:nvSpPr>
        <p:spPr>
          <a:xfrm>
            <a:off x="1016000" y="1079500"/>
            <a:ext cx="137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 err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今天结束后</a:t>
            </a: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，</a:t>
            </a:r>
            <a:r>
              <a:rPr lang="zh-CN" alt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期待</a:t>
            </a:r>
            <a:r>
              <a:rPr lang="en-US" sz="3200" dirty="0" err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你能回答这三个问题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goals-shape-4"/>
          <p:cNvSpPr/>
          <p:nvPr/>
        </p:nvSpPr>
        <p:spPr>
          <a:xfrm>
            <a:off x="1016000" y="2222500"/>
            <a:ext cx="44704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6" name="goals-text-5"/>
          <p:cNvSpPr/>
          <p:nvPr/>
        </p:nvSpPr>
        <p:spPr>
          <a:xfrm>
            <a:off x="13208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01</a:t>
            </a:r>
            <a:endParaRPr 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goals-text-6"/>
          <p:cNvSpPr/>
          <p:nvPr/>
        </p:nvSpPr>
        <p:spPr>
          <a:xfrm>
            <a:off x="1320800" y="3048000"/>
            <a:ext cx="3860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我手上的工作哪里可以用 AI？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goals-shape-7"/>
          <p:cNvSpPr/>
          <p:nvPr/>
        </p:nvSpPr>
        <p:spPr>
          <a:xfrm>
            <a:off x="5892800" y="2222500"/>
            <a:ext cx="44704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9" name="goals-text-8"/>
          <p:cNvSpPr/>
          <p:nvPr/>
        </p:nvSpPr>
        <p:spPr>
          <a:xfrm>
            <a:off x="61976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02</a:t>
            </a:r>
            <a:endParaRPr 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goals-text-9"/>
          <p:cNvSpPr/>
          <p:nvPr/>
        </p:nvSpPr>
        <p:spPr>
          <a:xfrm>
            <a:off x="6197600" y="3048000"/>
            <a:ext cx="3860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应该用 Copilot 还是公司内网模型？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goals-shape-10"/>
          <p:cNvSpPr/>
          <p:nvPr/>
        </p:nvSpPr>
        <p:spPr>
          <a:xfrm>
            <a:off x="10769600" y="2222500"/>
            <a:ext cx="4470400" cy="190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2" name="goals-text-11"/>
          <p:cNvSpPr/>
          <p:nvPr/>
        </p:nvSpPr>
        <p:spPr>
          <a:xfrm>
            <a:off x="110744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03</a:t>
            </a:r>
            <a:endParaRPr 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goals-text-12"/>
          <p:cNvSpPr/>
          <p:nvPr/>
        </p:nvSpPr>
        <p:spPr>
          <a:xfrm>
            <a:off x="11074400" y="3048000"/>
            <a:ext cx="3860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给出的结果，我怎么判断能不能用？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goals-text-13"/>
          <p:cNvSpPr/>
          <p:nvPr/>
        </p:nvSpPr>
        <p:spPr>
          <a:xfrm>
            <a:off x="1016000" y="463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具体学习目标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goals-shape-14"/>
          <p:cNvSpPr/>
          <p:nvPr/>
        </p:nvSpPr>
        <p:spPr>
          <a:xfrm>
            <a:off x="1016000" y="5143500"/>
            <a:ext cx="14224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6" name="goals-icon-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461000"/>
            <a:ext cx="355600" cy="355600"/>
          </a:xfrm>
          <a:prstGeom prst="rect">
            <a:avLst/>
          </a:prstGeom>
        </p:spPr>
      </p:pic>
      <p:sp>
        <p:nvSpPr>
          <p:cNvPr id="17" name="goals-text-16"/>
          <p:cNvSpPr/>
          <p:nvPr/>
        </p:nvSpPr>
        <p:spPr>
          <a:xfrm>
            <a:off x="1549400" y="5489712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理解 AI、LLM、Copilot、Chat 类工具、Agent 的基本区别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goals-icon-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0" y="5461000"/>
            <a:ext cx="355600" cy="355600"/>
          </a:xfrm>
          <a:prstGeom prst="rect">
            <a:avLst/>
          </a:prstGeom>
        </p:spPr>
      </p:pic>
      <p:sp>
        <p:nvSpPr>
          <p:cNvPr id="19" name="goals-text-18"/>
          <p:cNvSpPr/>
          <p:nvPr/>
        </p:nvSpPr>
        <p:spPr>
          <a:xfrm>
            <a:off x="9169400" y="547646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知道 AI 在开发和测试中的常见使用场景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" name="goals-icon-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6223000"/>
            <a:ext cx="355600" cy="355600"/>
          </a:xfrm>
          <a:prstGeom prst="rect">
            <a:avLst/>
          </a:prstGeom>
        </p:spPr>
      </p:pic>
      <p:sp>
        <p:nvSpPr>
          <p:cNvPr id="21" name="goals-text-20"/>
          <p:cNvSpPr/>
          <p:nvPr/>
        </p:nvSpPr>
        <p:spPr>
          <a:xfrm>
            <a:off x="1549400" y="6264964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建立判断：什么任务适合交给 AI，什么不适合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2" name="goals-icon-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6223000"/>
            <a:ext cx="355600" cy="355600"/>
          </a:xfrm>
          <a:prstGeom prst="rect">
            <a:avLst/>
          </a:prstGeom>
        </p:spPr>
      </p:pic>
      <p:sp>
        <p:nvSpPr>
          <p:cNvPr id="23" name="goals-text-22"/>
          <p:cNvSpPr/>
          <p:nvPr/>
        </p:nvSpPr>
        <p:spPr>
          <a:xfrm>
            <a:off x="9169400" y="623846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完成一次自己的 AI 使用尝试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goals-text-23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03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agenda-text-2"/>
          <p:cNvSpPr/>
          <p:nvPr/>
        </p:nvSpPr>
        <p:spPr>
          <a:xfrm>
            <a:off x="1016000" y="698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本期目录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genda-text-3"/>
          <p:cNvSpPr/>
          <p:nvPr/>
        </p:nvSpPr>
        <p:spPr>
          <a:xfrm>
            <a:off x="1016000" y="10795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课程结构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agenda-text-4"/>
          <p:cNvSpPr/>
          <p:nvPr/>
        </p:nvSpPr>
        <p:spPr>
          <a:xfrm>
            <a:off x="1016000" y="2476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01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genda-text-5"/>
          <p:cNvSpPr/>
          <p:nvPr/>
        </p:nvSpPr>
        <p:spPr>
          <a:xfrm>
            <a:off x="1905000" y="2433984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为什么开发中心要做 AI 普及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agenda-shape-6"/>
          <p:cNvSpPr/>
          <p:nvPr/>
        </p:nvSpPr>
        <p:spPr>
          <a:xfrm>
            <a:off x="1016000" y="3302000"/>
            <a:ext cx="698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8" name="agenda-text-7"/>
          <p:cNvSpPr/>
          <p:nvPr/>
        </p:nvSpPr>
        <p:spPr>
          <a:xfrm>
            <a:off x="1016000" y="3619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02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genda-text-8"/>
          <p:cNvSpPr/>
          <p:nvPr/>
        </p:nvSpPr>
        <p:spPr>
          <a:xfrm>
            <a:off x="1905000" y="3576984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AI、LLM、Copilot、Agent 是什么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agenda-shape-9"/>
          <p:cNvSpPr/>
          <p:nvPr/>
        </p:nvSpPr>
        <p:spPr>
          <a:xfrm>
            <a:off x="1016000" y="4445000"/>
            <a:ext cx="698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1" name="agenda-text-10"/>
          <p:cNvSpPr/>
          <p:nvPr/>
        </p:nvSpPr>
        <p:spPr>
          <a:xfrm>
            <a:off x="1016000" y="4762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03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agenda-text-11"/>
          <p:cNvSpPr/>
          <p:nvPr/>
        </p:nvSpPr>
        <p:spPr>
          <a:xfrm>
            <a:off x="1905000" y="4719984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开发和测试人员的 AI 使用场景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genda-shape-12"/>
          <p:cNvSpPr/>
          <p:nvPr/>
        </p:nvSpPr>
        <p:spPr>
          <a:xfrm>
            <a:off x="1016000" y="5588000"/>
            <a:ext cx="698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4" name="agenda-text-13"/>
          <p:cNvSpPr/>
          <p:nvPr/>
        </p:nvSpPr>
        <p:spPr>
          <a:xfrm>
            <a:off x="1016000" y="5905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04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agenda-text-14"/>
          <p:cNvSpPr/>
          <p:nvPr/>
        </p:nvSpPr>
        <p:spPr>
          <a:xfrm>
            <a:off x="1905000" y="5862984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的能力边界和幻觉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agenda-text-15"/>
          <p:cNvSpPr/>
          <p:nvPr/>
        </p:nvSpPr>
        <p:spPr>
          <a:xfrm>
            <a:off x="8636000" y="2476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05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genda-text-16"/>
          <p:cNvSpPr/>
          <p:nvPr/>
        </p:nvSpPr>
        <p:spPr>
          <a:xfrm>
            <a:off x="9525000" y="2433984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工具选择：GitHub Copilot 与内网模型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agenda-shape-17"/>
          <p:cNvSpPr/>
          <p:nvPr/>
        </p:nvSpPr>
        <p:spPr>
          <a:xfrm>
            <a:off x="8636000" y="3302000"/>
            <a:ext cx="698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9" name="agenda-text-18"/>
          <p:cNvSpPr/>
          <p:nvPr/>
        </p:nvSpPr>
        <p:spPr>
          <a:xfrm>
            <a:off x="8636000" y="3619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06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agenda-text-19"/>
          <p:cNvSpPr/>
          <p:nvPr/>
        </p:nvSpPr>
        <p:spPr>
          <a:xfrm>
            <a:off x="9525000" y="3576984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环境准备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genda-shape-20"/>
          <p:cNvSpPr/>
          <p:nvPr/>
        </p:nvSpPr>
        <p:spPr>
          <a:xfrm>
            <a:off x="8636000" y="4445000"/>
            <a:ext cx="698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22" name="agenda-text-21"/>
          <p:cNvSpPr/>
          <p:nvPr/>
        </p:nvSpPr>
        <p:spPr>
          <a:xfrm>
            <a:off x="8636000" y="47625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07</a:t>
            </a:r>
            <a:endParaRPr lang="en-US" sz="3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agenda-text-22"/>
          <p:cNvSpPr/>
          <p:nvPr/>
        </p:nvSpPr>
        <p:spPr>
          <a:xfrm>
            <a:off x="9525000" y="4719984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课堂练习、作业与打卡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agenda-text-23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04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_ai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why_ai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为什么要全员使用 AI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why_ai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已经是工程效率的新基础设施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why_ai-shape-4"/>
          <p:cNvSpPr/>
          <p:nvPr/>
        </p:nvSpPr>
        <p:spPr>
          <a:xfrm>
            <a:off x="1016000" y="2286000"/>
            <a:ext cx="6705600" cy="215900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pic>
        <p:nvPicPr>
          <p:cNvPr id="6" name="why_ai-icon-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616200"/>
            <a:ext cx="457200" cy="457200"/>
          </a:xfrm>
          <a:prstGeom prst="rect">
            <a:avLst/>
          </a:prstGeom>
        </p:spPr>
      </p:pic>
      <p:sp>
        <p:nvSpPr>
          <p:cNvPr id="7" name="why_ai-text-6"/>
          <p:cNvSpPr/>
          <p:nvPr/>
        </p:nvSpPr>
        <p:spPr>
          <a:xfrm>
            <a:off x="1981200" y="2685772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参与日常工程活动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why_ai-text-7"/>
          <p:cNvSpPr/>
          <p:nvPr/>
        </p:nvSpPr>
        <p:spPr>
          <a:xfrm>
            <a:off x="1346200" y="326666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已能融入代码、测试、文档等工作流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why_ai-shape-8"/>
          <p:cNvSpPr/>
          <p:nvPr/>
        </p:nvSpPr>
        <p:spPr>
          <a:xfrm>
            <a:off x="8026400" y="2286000"/>
            <a:ext cx="6705600" cy="215900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pic>
        <p:nvPicPr>
          <p:cNvPr id="10" name="why_ai-icon-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00" y="2616200"/>
            <a:ext cx="457200" cy="457200"/>
          </a:xfrm>
          <a:prstGeom prst="rect">
            <a:avLst/>
          </a:prstGeom>
        </p:spPr>
      </p:pic>
      <p:sp>
        <p:nvSpPr>
          <p:cNvPr id="11" name="why_ai-text-10"/>
          <p:cNvSpPr/>
          <p:nvPr/>
        </p:nvSpPr>
        <p:spPr>
          <a:xfrm>
            <a:off x="8991600" y="2685772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降低重复劳动成本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why_ai-text-11"/>
          <p:cNvSpPr/>
          <p:nvPr/>
        </p:nvSpPr>
        <p:spPr>
          <a:xfrm>
            <a:off x="8356600" y="326666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不是替代人，而是减少低价值重复操作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why_ai-shape-12"/>
          <p:cNvSpPr/>
          <p:nvPr/>
        </p:nvSpPr>
        <p:spPr>
          <a:xfrm>
            <a:off x="1016000" y="4699000"/>
            <a:ext cx="6705600" cy="215900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pic>
        <p:nvPicPr>
          <p:cNvPr id="14" name="why_ai-icon-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5029200"/>
            <a:ext cx="457200" cy="457200"/>
          </a:xfrm>
          <a:prstGeom prst="rect">
            <a:avLst/>
          </a:prstGeom>
        </p:spPr>
      </p:pic>
      <p:sp>
        <p:nvSpPr>
          <p:cNvPr id="15" name="why_ai-text-14"/>
          <p:cNvSpPr/>
          <p:nvPr/>
        </p:nvSpPr>
        <p:spPr>
          <a:xfrm>
            <a:off x="1981200" y="5098772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效率差距正在扩大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why_ai-text-15"/>
          <p:cNvSpPr/>
          <p:nvPr/>
        </p:nvSpPr>
        <p:spPr>
          <a:xfrm>
            <a:off x="1346200" y="567966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用与不用 AI 的工程师，效率差距将持续拉大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why_ai-shape-16"/>
          <p:cNvSpPr/>
          <p:nvPr/>
        </p:nvSpPr>
        <p:spPr>
          <a:xfrm>
            <a:off x="8026400" y="4699000"/>
            <a:ext cx="6705600" cy="215900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pic>
        <p:nvPicPr>
          <p:cNvPr id="18" name="why_ai-icon-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600" y="5029200"/>
            <a:ext cx="457200" cy="457200"/>
          </a:xfrm>
          <a:prstGeom prst="rect">
            <a:avLst/>
          </a:prstGeom>
        </p:spPr>
      </p:pic>
      <p:sp>
        <p:nvSpPr>
          <p:cNvPr id="19" name="why_ai-text-18"/>
          <p:cNvSpPr/>
          <p:nvPr/>
        </p:nvSpPr>
        <p:spPr>
          <a:xfrm>
            <a:off x="8991600" y="5098772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统一方法避免内耗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why_ai-text-19"/>
          <p:cNvSpPr/>
          <p:nvPr/>
        </p:nvSpPr>
        <p:spPr>
          <a:xfrm>
            <a:off x="8356600" y="567966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团队统一使用方式，避免各自摸索走弯路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why_ai-text-20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05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_is_ai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what_is_ai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是什么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what_is_ai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把 AI 理解为一个可对话的工作助手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what_is_ai-shape-4"/>
          <p:cNvSpPr/>
          <p:nvPr/>
        </p:nvSpPr>
        <p:spPr>
          <a:xfrm>
            <a:off x="1016000" y="2349500"/>
            <a:ext cx="6604000" cy="114300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6" name="what_is_ai-text-5"/>
          <p:cNvSpPr/>
          <p:nvPr/>
        </p:nvSpPr>
        <p:spPr>
          <a:xfrm>
            <a:off x="1397000" y="2349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广义 AI</a:t>
            </a:r>
            <a:r>
              <a:rPr lang="en-US" sz="16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 — 让机器完成需要人类智能参与的任务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what_is_ai-shape-6"/>
          <p:cNvSpPr/>
          <p:nvPr/>
        </p:nvSpPr>
        <p:spPr>
          <a:xfrm>
            <a:off x="1524000" y="3683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E0E7FF"/>
          </a:solidFill>
          <a:ln/>
        </p:spPr>
      </p:sp>
      <p:sp>
        <p:nvSpPr>
          <p:cNvPr id="8" name="what_is_ai-text-7"/>
          <p:cNvSpPr/>
          <p:nvPr/>
        </p:nvSpPr>
        <p:spPr>
          <a:xfrm>
            <a:off x="1905000" y="3683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当前主流 AI</a:t>
            </a:r>
            <a:r>
              <a:rPr lang="en-US" sz="16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 — 以大语言模型为核心的文本、代码处理工具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what_is_ai-shape-8"/>
          <p:cNvSpPr/>
          <p:nvPr/>
        </p:nvSpPr>
        <p:spPr>
          <a:xfrm>
            <a:off x="2032000" y="5016500"/>
            <a:ext cx="4572000" cy="114300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/>
        </p:spPr>
      </p:sp>
      <p:sp>
        <p:nvSpPr>
          <p:cNvPr id="10" name="what_is_ai-text-9"/>
          <p:cNvSpPr/>
          <p:nvPr/>
        </p:nvSpPr>
        <p:spPr>
          <a:xfrm>
            <a:off x="2413000" y="5016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对我们而言</a:t>
            </a:r>
            <a:r>
              <a:rPr lang="en-US" sz="1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 — 可对话的工作助手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what_is_ai-shape-10"/>
          <p:cNvSpPr/>
          <p:nvPr/>
        </p:nvSpPr>
        <p:spPr>
          <a:xfrm>
            <a:off x="4308856" y="6985000"/>
            <a:ext cx="9144" cy="3810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2" name="what_is_ai-shape-11"/>
          <p:cNvSpPr/>
          <p:nvPr/>
        </p:nvSpPr>
        <p:spPr>
          <a:xfrm>
            <a:off x="8382000" y="2286000"/>
            <a:ext cx="9144" cy="50800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3" name="what_is_ai-text-12"/>
          <p:cNvSpPr/>
          <p:nvPr/>
        </p:nvSpPr>
        <p:spPr>
          <a:xfrm>
            <a:off x="8890000" y="2286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擅长的四件事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what_is_ai-icon-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2921000"/>
            <a:ext cx="406400" cy="406400"/>
          </a:xfrm>
          <a:prstGeom prst="rect">
            <a:avLst/>
          </a:prstGeom>
        </p:spPr>
      </p:pic>
      <p:sp>
        <p:nvSpPr>
          <p:cNvPr id="15" name="what_is_ai-text-14"/>
          <p:cNvSpPr/>
          <p:nvPr/>
        </p:nvSpPr>
        <p:spPr>
          <a:xfrm>
            <a:off x="9525000" y="28702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生成内容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what_is_ai-icon-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3810000"/>
            <a:ext cx="406400" cy="406400"/>
          </a:xfrm>
          <a:prstGeom prst="rect">
            <a:avLst/>
          </a:prstGeom>
        </p:spPr>
      </p:pic>
      <p:sp>
        <p:nvSpPr>
          <p:cNvPr id="17" name="what_is_ai-text-16"/>
          <p:cNvSpPr/>
          <p:nvPr/>
        </p:nvSpPr>
        <p:spPr>
          <a:xfrm>
            <a:off x="9525000" y="37592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解释说明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what_is_ai-icon-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0" y="4699000"/>
            <a:ext cx="406400" cy="406400"/>
          </a:xfrm>
          <a:prstGeom prst="rect">
            <a:avLst/>
          </a:prstGeom>
        </p:spPr>
      </p:pic>
      <p:sp>
        <p:nvSpPr>
          <p:cNvPr id="19" name="what_is_ai-text-18"/>
          <p:cNvSpPr/>
          <p:nvPr/>
        </p:nvSpPr>
        <p:spPr>
          <a:xfrm>
            <a:off x="9525000" y="46482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归纳总结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" name="what_is_ai-icon-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5588000"/>
            <a:ext cx="406400" cy="406400"/>
          </a:xfrm>
          <a:prstGeom prst="rect">
            <a:avLst/>
          </a:prstGeom>
        </p:spPr>
      </p:pic>
      <p:sp>
        <p:nvSpPr>
          <p:cNvPr id="21" name="what_is_ai-text-20"/>
          <p:cNvSpPr/>
          <p:nvPr/>
        </p:nvSpPr>
        <p:spPr>
          <a:xfrm>
            <a:off x="9525000" y="55372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改写检查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what_is_ai-text-21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06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_is_llm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what_is_llm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LLM 是什么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what_is_llm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LLM：根据上下文预测并生成内容的大模型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what_is_llm-icon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349500"/>
            <a:ext cx="381000" cy="381000"/>
          </a:xfrm>
          <a:prstGeom prst="rect">
            <a:avLst/>
          </a:prstGeom>
        </p:spPr>
      </p:pic>
      <p:sp>
        <p:nvSpPr>
          <p:cNvPr id="6" name="what_is_llm-text-5"/>
          <p:cNvSpPr/>
          <p:nvPr/>
        </p:nvSpPr>
        <p:spPr>
          <a:xfrm>
            <a:off x="1016000" y="2857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LLM = Large Language Model，大语言模型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what_is_llm-icon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349500"/>
            <a:ext cx="381000" cy="381000"/>
          </a:xfrm>
          <a:prstGeom prst="rect">
            <a:avLst/>
          </a:prstGeom>
        </p:spPr>
      </p:pic>
      <p:sp>
        <p:nvSpPr>
          <p:cNvPr id="8" name="what_is_llm-text-7"/>
          <p:cNvSpPr/>
          <p:nvPr/>
        </p:nvSpPr>
        <p:spPr>
          <a:xfrm>
            <a:off x="4381500" y="2857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通过海量文本和代码训练，学习语言与代码模式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what_is_llm-icon-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0" y="2349500"/>
            <a:ext cx="381000" cy="381000"/>
          </a:xfrm>
          <a:prstGeom prst="rect">
            <a:avLst/>
          </a:prstGeom>
        </p:spPr>
      </p:pic>
      <p:sp>
        <p:nvSpPr>
          <p:cNvPr id="10" name="what_is_llm-text-9"/>
          <p:cNvSpPr/>
          <p:nvPr/>
        </p:nvSpPr>
        <p:spPr>
          <a:xfrm>
            <a:off x="7747000" y="2857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根据上下文预测并生成后续内容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what_is_llm-icon-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500" y="2349500"/>
            <a:ext cx="381000" cy="381000"/>
          </a:xfrm>
          <a:prstGeom prst="rect">
            <a:avLst/>
          </a:prstGeom>
        </p:spPr>
      </p:pic>
      <p:sp>
        <p:nvSpPr>
          <p:cNvPr id="12" name="what_is_llm-text-11"/>
          <p:cNvSpPr/>
          <p:nvPr/>
        </p:nvSpPr>
        <p:spPr>
          <a:xfrm>
            <a:off x="11112500" y="2857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ChatGPT、公司内网模型、Copilot 背后均基于 LLM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what_is_llm-shape-12"/>
          <p:cNvSpPr/>
          <p:nvPr/>
        </p:nvSpPr>
        <p:spPr>
          <a:xfrm>
            <a:off x="1016000" y="4318000"/>
            <a:ext cx="14224000" cy="1524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4" name="what_is_llm-text-13"/>
          <p:cNvSpPr/>
          <p:nvPr/>
        </p:nvSpPr>
        <p:spPr>
          <a:xfrm>
            <a:off x="1422400" y="444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实战案例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what_is_llm-text-14"/>
          <p:cNvSpPr/>
          <p:nvPr/>
        </p:nvSpPr>
        <p:spPr>
          <a:xfrm>
            <a:off x="1422400" y="4826000"/>
            <a:ext cx="13411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把一段复杂异常日志贴给模型，请它总结可能原因和下一步排查方向。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what_is_llm-shape-15"/>
          <p:cNvSpPr/>
          <p:nvPr/>
        </p:nvSpPr>
        <p:spPr>
          <a:xfrm>
            <a:off x="1016000" y="6223000"/>
            <a:ext cx="76200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what_is_llm-text-16"/>
          <p:cNvSpPr/>
          <p:nvPr/>
        </p:nvSpPr>
        <p:spPr>
          <a:xfrm>
            <a:off x="1422400" y="62230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LLM 不是数据库查询，它根据输入和已有能力生成最可能有用的回答。</a:t>
            </a:r>
            <a:r>
              <a:rPr lang="en-US" sz="1700" b="1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上下文越清晰，结果越稳定。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what_is_llm-text-17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07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ilot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copilot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GitHub Copilot 是什么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copilot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Copilot：离代码最近的 AI 编程助手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copilot-icon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349500"/>
            <a:ext cx="304800" cy="304800"/>
          </a:xfrm>
          <a:prstGeom prst="rect">
            <a:avLst/>
          </a:prstGeom>
        </p:spPr>
      </p:pic>
      <p:sp>
        <p:nvSpPr>
          <p:cNvPr id="6" name="copilot-text-5"/>
          <p:cNvSpPr/>
          <p:nvPr/>
        </p:nvSpPr>
        <p:spPr>
          <a:xfrm>
            <a:off x="1498600" y="2311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面向开发场景的 AI 编程助手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copilot-icon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857500"/>
            <a:ext cx="304800" cy="304800"/>
          </a:xfrm>
          <a:prstGeom prst="rect">
            <a:avLst/>
          </a:prstGeom>
        </p:spPr>
      </p:pic>
      <p:sp>
        <p:nvSpPr>
          <p:cNvPr id="8" name="copilot-text-7"/>
          <p:cNvSpPr/>
          <p:nvPr/>
        </p:nvSpPr>
        <p:spPr>
          <a:xfrm>
            <a:off x="1498600" y="2819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主要集成在 IDE 中，例如 VS Code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copilot-icon-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3365500"/>
            <a:ext cx="304800" cy="304800"/>
          </a:xfrm>
          <a:prstGeom prst="rect">
            <a:avLst/>
          </a:prstGeom>
        </p:spPr>
      </p:pic>
      <p:sp>
        <p:nvSpPr>
          <p:cNvPr id="10" name="copilot-text-9"/>
          <p:cNvSpPr/>
          <p:nvPr/>
        </p:nvSpPr>
        <p:spPr>
          <a:xfrm>
            <a:off x="1498600" y="3327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能看到当前文件、选中代码和上下文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copilot-shape-10"/>
          <p:cNvSpPr/>
          <p:nvPr/>
        </p:nvSpPr>
        <p:spPr>
          <a:xfrm>
            <a:off x="1016000" y="4064000"/>
            <a:ext cx="3302000" cy="88900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2" name="copilot-text-11"/>
          <p:cNvSpPr/>
          <p:nvPr/>
        </p:nvSpPr>
        <p:spPr>
          <a:xfrm>
            <a:off x="1016000" y="4064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代码补全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copilot-shape-12"/>
          <p:cNvSpPr/>
          <p:nvPr/>
        </p:nvSpPr>
        <p:spPr>
          <a:xfrm>
            <a:off x="4470400" y="4064000"/>
            <a:ext cx="3302000" cy="88900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4" name="copilot-text-13"/>
          <p:cNvSpPr/>
          <p:nvPr/>
        </p:nvSpPr>
        <p:spPr>
          <a:xfrm>
            <a:off x="4470400" y="4064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代码解释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copilot-shape-14"/>
          <p:cNvSpPr/>
          <p:nvPr/>
        </p:nvSpPr>
        <p:spPr>
          <a:xfrm>
            <a:off x="1016000" y="5080000"/>
            <a:ext cx="3302000" cy="88900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6" name="copilot-text-15"/>
          <p:cNvSpPr/>
          <p:nvPr/>
        </p:nvSpPr>
        <p:spPr>
          <a:xfrm>
            <a:off x="1016000" y="5080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生成测试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copilot-shape-16"/>
          <p:cNvSpPr/>
          <p:nvPr/>
        </p:nvSpPr>
        <p:spPr>
          <a:xfrm>
            <a:off x="4470400" y="5080000"/>
            <a:ext cx="3302000" cy="88900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8" name="copilot-text-17"/>
          <p:cNvSpPr/>
          <p:nvPr/>
        </p:nvSpPr>
        <p:spPr>
          <a:xfrm>
            <a:off x="4470400" y="5080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辅助重构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copilot-shape-18"/>
          <p:cNvSpPr/>
          <p:nvPr/>
        </p:nvSpPr>
        <p:spPr>
          <a:xfrm>
            <a:off x="1016000" y="6350000"/>
            <a:ext cx="6756400" cy="139700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/>
        </p:spPr>
      </p:sp>
      <p:sp>
        <p:nvSpPr>
          <p:cNvPr id="20" name="copilot-text-19"/>
          <p:cNvSpPr/>
          <p:nvPr/>
        </p:nvSpPr>
        <p:spPr>
          <a:xfrm>
            <a:off x="1346200" y="64770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实战案例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copilot-text-20"/>
          <p:cNvSpPr/>
          <p:nvPr/>
        </p:nvSpPr>
        <p:spPr>
          <a:xfrm>
            <a:off x="1346200" y="6832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打开一个 Service 方法，让 Copilot 解释输入参数、处理流程、返回值和可能异常。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2" name="copilot-image-21" descr="preencoded.png"/>
          <p:cNvPicPr>
            <a:picLocks noChangeAspect="1"/>
          </p:cNvPicPr>
          <p:nvPr/>
        </p:nvPicPr>
        <p:blipFill>
          <a:blip r:embed="rId6"/>
          <a:srcRect r="50000"/>
          <a:stretch/>
        </p:blipFill>
        <p:spPr>
          <a:xfrm>
            <a:off x="10243625" y="2641600"/>
            <a:ext cx="3866271" cy="3860800"/>
          </a:xfrm>
          <a:prstGeom prst="roundRect">
            <a:avLst>
              <a:gd name="adj" fmla="val 4605"/>
            </a:avLst>
          </a:prstGeom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3" name="copilot-text-22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08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ernal_model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internal_model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公司内网模型适合什么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internal_model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内网模型：文本加工与思路整理的最佳搭档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internal_model-shape-4"/>
          <p:cNvSpPr/>
          <p:nvPr/>
        </p:nvSpPr>
        <p:spPr>
          <a:xfrm>
            <a:off x="1016000" y="23495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6" name="internal_model-text-5"/>
          <p:cNvSpPr/>
          <p:nvPr/>
        </p:nvSpPr>
        <p:spPr>
          <a:xfrm>
            <a:off x="1016000" y="2349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通用文本类任务处理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internal_model-shape-6"/>
          <p:cNvSpPr/>
          <p:nvPr/>
        </p:nvSpPr>
        <p:spPr>
          <a:xfrm>
            <a:off x="4470400" y="23495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8" name="internal_model-text-7"/>
          <p:cNvSpPr/>
          <p:nvPr/>
        </p:nvSpPr>
        <p:spPr>
          <a:xfrm>
            <a:off x="4470400" y="2349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整理需求、会议纪要、方案、周报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internal_model-shape-8"/>
          <p:cNvSpPr/>
          <p:nvPr/>
        </p:nvSpPr>
        <p:spPr>
          <a:xfrm>
            <a:off x="1016000" y="3683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10" name="internal_model-text-9"/>
          <p:cNvSpPr/>
          <p:nvPr/>
        </p:nvSpPr>
        <p:spPr>
          <a:xfrm>
            <a:off x="1016000" y="3683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Prompt 练习和知识问答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internal_model-shape-10"/>
          <p:cNvSpPr/>
          <p:nvPr/>
        </p:nvSpPr>
        <p:spPr>
          <a:xfrm>
            <a:off x="4470400" y="3683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12" name="internal_model-text-11"/>
          <p:cNvSpPr/>
          <p:nvPr/>
        </p:nvSpPr>
        <p:spPr>
          <a:xfrm>
            <a:off x="4470400" y="36830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不依赖 IDE 上下文的分析工作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internal_model-shape-12"/>
          <p:cNvSpPr/>
          <p:nvPr/>
        </p:nvSpPr>
        <p:spPr>
          <a:xfrm>
            <a:off x="1016000" y="5080000"/>
            <a:ext cx="6756400" cy="1397000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/>
        </p:spPr>
      </p:sp>
      <p:sp>
        <p:nvSpPr>
          <p:cNvPr id="14" name="internal_model-text-13"/>
          <p:cNvSpPr/>
          <p:nvPr/>
        </p:nvSpPr>
        <p:spPr>
          <a:xfrm>
            <a:off x="1346200" y="52070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实战案例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internal_model-text-14"/>
          <p:cNvSpPr/>
          <p:nvPr/>
        </p:nvSpPr>
        <p:spPr>
          <a:xfrm>
            <a:off x="1346200" y="5562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把需求说明改写成测试点清单，或把故障经过整理成问题分析报告初稿。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internal_model-shape-15"/>
          <p:cNvSpPr/>
          <p:nvPr/>
        </p:nvSpPr>
        <p:spPr>
          <a:xfrm>
            <a:off x="1016000" y="6731000"/>
            <a:ext cx="6756400" cy="1016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7" name="internal_model-text-16"/>
          <p:cNvSpPr/>
          <p:nvPr/>
        </p:nvSpPr>
        <p:spPr>
          <a:xfrm>
            <a:off x="1270000" y="6731000"/>
            <a:ext cx="624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围绕</a:t>
            </a:r>
            <a:r>
              <a:rPr lang="en-US" sz="15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代码文件</a:t>
            </a:r>
            <a:r>
              <a:rPr lang="en-US" sz="15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 → 优先 Copilot　　围绕</a:t>
            </a:r>
            <a:r>
              <a:rPr lang="en-US" sz="1500" b="1" dirty="0">
                <a:solidFill>
                  <a:srgbClr val="C4B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文档/分析</a:t>
            </a:r>
            <a:r>
              <a:rPr lang="en-US" sz="15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 → 优先内网模型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internal_model-image-17" descr="preencoded.png"/>
          <p:cNvPicPr>
            <a:picLocks noChangeAspect="1"/>
          </p:cNvPicPr>
          <p:nvPr/>
        </p:nvPicPr>
        <p:blipFill>
          <a:blip r:embed="rId3"/>
          <a:srcRect l="50000"/>
          <a:stretch/>
        </p:blipFill>
        <p:spPr>
          <a:xfrm>
            <a:off x="10342099" y="2641600"/>
            <a:ext cx="3795932" cy="3860800"/>
          </a:xfrm>
          <a:prstGeom prst="roundRect">
            <a:avLst>
              <a:gd name="adj" fmla="val 4605"/>
            </a:avLst>
          </a:prstGeom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9" name="internal_model-text-1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09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agent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Agent 是什么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gent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Agent：能持续完成任务的"会干活的 AI"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1" name="agent-table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874967"/>
              </p:ext>
            </p:extLst>
          </p:nvPr>
        </p:nvGraphicFramePr>
        <p:xfrm>
          <a:off x="1016000" y="2222500"/>
          <a:ext cx="7112000" cy="3302001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维度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普通聊天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Agent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工作方式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一次问答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持续执行多步任务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能力范围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生成文本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规划+调用工具+读写文件+验证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当前阶段要求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先理解概念即可</a:t>
                      </a:r>
                      <a:endParaRPr lang="en-US" sz="20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agent-image-5" descr="preencoded.png"/>
          <p:cNvPicPr>
            <a:picLocks noChangeAspect="1"/>
          </p:cNvPicPr>
          <p:nvPr/>
        </p:nvPicPr>
        <p:blipFill>
          <a:blip r:embed="rId3"/>
          <a:srcRect l="-114" r="-114"/>
          <a:stretch/>
        </p:blipFill>
        <p:spPr>
          <a:xfrm>
            <a:off x="8636000" y="2222500"/>
            <a:ext cx="6604000" cy="3708400"/>
          </a:xfrm>
          <a:prstGeom prst="rect">
            <a:avLst/>
          </a:prstGeom>
        </p:spPr>
      </p:pic>
      <p:sp>
        <p:nvSpPr>
          <p:cNvPr id="7" name="agent-shape-6"/>
          <p:cNvSpPr/>
          <p:nvPr/>
        </p:nvSpPr>
        <p:spPr>
          <a:xfrm>
            <a:off x="1016000" y="5842000"/>
            <a:ext cx="14224000" cy="15240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8" name="agent-text-7"/>
          <p:cNvSpPr/>
          <p:nvPr/>
        </p:nvSpPr>
        <p:spPr>
          <a:xfrm>
            <a:off x="1422400" y="5969000"/>
            <a:ext cx="1333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实战案例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gent-text-8"/>
          <p:cNvSpPr/>
          <p:nvPr/>
        </p:nvSpPr>
        <p:spPr>
          <a:xfrm>
            <a:off x="1422400" y="6426200"/>
            <a:ext cx="1333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让 Agent 阅读一个小项目，定位报错原因，修改代码并运行测试验证。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agent-text-9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10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ernal_model-shape-1">
            <a:extLst>
              <a:ext uri="{FF2B5EF4-FFF2-40B4-BE49-F238E27FC236}">
                <a16:creationId xmlns:a16="http://schemas.microsoft.com/office/drawing/2014/main" id="{A7599999-F0A3-DD62-D9BD-F9AA2A22E11F}"/>
              </a:ext>
            </a:extLst>
          </p:cNvPr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D06EE185-4912-C1B0-5E35-7F50FE365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76" y="194120"/>
            <a:ext cx="6611848" cy="760887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9CC671-C533-D4A3-C881-2C88FE57E829}"/>
              </a:ext>
            </a:extLst>
          </p:cNvPr>
          <p:cNvSpPr txBox="1"/>
          <p:nvPr/>
        </p:nvSpPr>
        <p:spPr>
          <a:xfrm>
            <a:off x="2453882" y="8034251"/>
            <a:ext cx="11348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https://neusoft.feishu.cn/share/base/form/shrcnYeNxpBHDIFYEi9a2QMl2Ob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8650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_for_dev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ai_for_dev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能帮开发做什么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i_for_dev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开发场景：从解释代码到辅助重构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ai_for_dev-shape-4"/>
          <p:cNvSpPr/>
          <p:nvPr/>
        </p:nvSpPr>
        <p:spPr>
          <a:xfrm>
            <a:off x="10160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6" name="ai_for_dev-text-5"/>
          <p:cNvSpPr/>
          <p:nvPr/>
        </p:nvSpPr>
        <p:spPr>
          <a:xfrm>
            <a:off x="12700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01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ai_for_dev-icon-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111500"/>
            <a:ext cx="381000" cy="381000"/>
          </a:xfrm>
          <a:prstGeom prst="rect">
            <a:avLst/>
          </a:prstGeom>
        </p:spPr>
      </p:pic>
      <p:sp>
        <p:nvSpPr>
          <p:cNvPr id="8" name="ai_for_dev-text-7"/>
          <p:cNvSpPr/>
          <p:nvPr/>
        </p:nvSpPr>
        <p:spPr>
          <a:xfrm>
            <a:off x="12700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解释陌生代码和业务流程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i_for_dev-shape-8"/>
          <p:cNvSpPr/>
          <p:nvPr/>
        </p:nvSpPr>
        <p:spPr>
          <a:xfrm>
            <a:off x="38608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0" name="ai_for_dev-text-9"/>
          <p:cNvSpPr/>
          <p:nvPr/>
        </p:nvSpPr>
        <p:spPr>
          <a:xfrm>
            <a:off x="41148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02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ai_for_dev-icon-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111500"/>
            <a:ext cx="381000" cy="381000"/>
          </a:xfrm>
          <a:prstGeom prst="rect">
            <a:avLst/>
          </a:prstGeom>
        </p:spPr>
      </p:pic>
      <p:sp>
        <p:nvSpPr>
          <p:cNvPr id="12" name="ai_for_dev-text-11"/>
          <p:cNvSpPr/>
          <p:nvPr/>
        </p:nvSpPr>
        <p:spPr>
          <a:xfrm>
            <a:off x="41148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生成样板代码、SQL、脚本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i_for_dev-shape-12"/>
          <p:cNvSpPr/>
          <p:nvPr/>
        </p:nvSpPr>
        <p:spPr>
          <a:xfrm>
            <a:off x="67056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4" name="ai_for_dev-text-13"/>
          <p:cNvSpPr/>
          <p:nvPr/>
        </p:nvSpPr>
        <p:spPr>
          <a:xfrm>
            <a:off x="69596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03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ai_for_dev-icon-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0" y="3111500"/>
            <a:ext cx="381000" cy="381000"/>
          </a:xfrm>
          <a:prstGeom prst="rect">
            <a:avLst/>
          </a:prstGeom>
        </p:spPr>
      </p:pic>
      <p:sp>
        <p:nvSpPr>
          <p:cNvPr id="16" name="ai_for_dev-text-15"/>
          <p:cNvSpPr/>
          <p:nvPr/>
        </p:nvSpPr>
        <p:spPr>
          <a:xfrm>
            <a:off x="69596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辅助 Debug 和日志分析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i_for_dev-shape-16"/>
          <p:cNvSpPr/>
          <p:nvPr/>
        </p:nvSpPr>
        <p:spPr>
          <a:xfrm>
            <a:off x="95504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8" name="ai_for_dev-text-17"/>
          <p:cNvSpPr/>
          <p:nvPr/>
        </p:nvSpPr>
        <p:spPr>
          <a:xfrm>
            <a:off x="98044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04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" name="ai_for_dev-icon-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400" y="3111500"/>
            <a:ext cx="381000" cy="381000"/>
          </a:xfrm>
          <a:prstGeom prst="rect">
            <a:avLst/>
          </a:prstGeom>
        </p:spPr>
      </p:pic>
      <p:sp>
        <p:nvSpPr>
          <p:cNvPr id="20" name="ai_for_dev-text-19"/>
          <p:cNvSpPr/>
          <p:nvPr/>
        </p:nvSpPr>
        <p:spPr>
          <a:xfrm>
            <a:off x="98044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生成单元测试和边界条件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i_for_dev-shape-20"/>
          <p:cNvSpPr/>
          <p:nvPr/>
        </p:nvSpPr>
        <p:spPr>
          <a:xfrm>
            <a:off x="12395200" y="2349500"/>
            <a:ext cx="2844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2" name="ai_for_dev-text-21"/>
          <p:cNvSpPr/>
          <p:nvPr/>
        </p:nvSpPr>
        <p:spPr>
          <a:xfrm>
            <a:off x="126492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05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3" name="ai_for_dev-icon-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9200" y="3111500"/>
            <a:ext cx="381000" cy="381000"/>
          </a:xfrm>
          <a:prstGeom prst="rect">
            <a:avLst/>
          </a:prstGeom>
        </p:spPr>
      </p:pic>
      <p:sp>
        <p:nvSpPr>
          <p:cNvPr id="24" name="ai_for_dev-text-23"/>
          <p:cNvSpPr/>
          <p:nvPr/>
        </p:nvSpPr>
        <p:spPr>
          <a:xfrm>
            <a:off x="12649200" y="3683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提供重构建议和代码审查线索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5" name="ai_for_dev-image-24" descr="preencoded.png"/>
          <p:cNvPicPr>
            <a:picLocks noChangeAspect="1"/>
          </p:cNvPicPr>
          <p:nvPr/>
        </p:nvPicPr>
        <p:blipFill>
          <a:blip r:embed="rId8"/>
          <a:srcRect r="50000"/>
          <a:stretch/>
        </p:blipFill>
        <p:spPr>
          <a:xfrm>
            <a:off x="1016000" y="5334000"/>
            <a:ext cx="3098800" cy="2794000"/>
          </a:xfrm>
          <a:prstGeom prst="roundRect">
            <a:avLst>
              <a:gd name="adj" fmla="val 5455"/>
            </a:avLst>
          </a:prstGeom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6" name="ai_for_dev-shape-25"/>
          <p:cNvSpPr/>
          <p:nvPr/>
        </p:nvSpPr>
        <p:spPr>
          <a:xfrm>
            <a:off x="4495800" y="5334000"/>
            <a:ext cx="10744200" cy="2794000"/>
          </a:xfrm>
          <a:prstGeom prst="roundRect">
            <a:avLst>
              <a:gd name="adj" fmla="val 4545"/>
            </a:avLst>
          </a:prstGeom>
          <a:solidFill>
            <a:srgbClr val="EEF2FF"/>
          </a:solidFill>
          <a:ln/>
        </p:spPr>
      </p:sp>
      <p:sp>
        <p:nvSpPr>
          <p:cNvPr id="27" name="ai_for_dev-text-26"/>
          <p:cNvSpPr/>
          <p:nvPr/>
        </p:nvSpPr>
        <p:spPr>
          <a:xfrm>
            <a:off x="4817403" y="5586437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入门建议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ai_for_dev-text-27"/>
          <p:cNvSpPr/>
          <p:nvPr/>
        </p:nvSpPr>
        <p:spPr>
          <a:xfrm>
            <a:off x="4817402" y="6169073"/>
            <a:ext cx="10422597" cy="176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从解释代码和生成样板代码开始，不要一开始就让 AI 写核心逻辑。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ai_for_dev-text-2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11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_for_test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ai_for_test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能帮测试做什么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i_for_test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测试场景：从需求拆解到 Bug 分析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ai_for_test-shape-4"/>
          <p:cNvSpPr/>
          <p:nvPr/>
        </p:nvSpPr>
        <p:spPr>
          <a:xfrm>
            <a:off x="10160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6" name="ai_for_test-text-5"/>
          <p:cNvSpPr/>
          <p:nvPr/>
        </p:nvSpPr>
        <p:spPr>
          <a:xfrm>
            <a:off x="12700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01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ai_for_test-icon-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111500"/>
            <a:ext cx="381000" cy="381000"/>
          </a:xfrm>
          <a:prstGeom prst="rect">
            <a:avLst/>
          </a:prstGeom>
        </p:spPr>
      </p:pic>
      <p:sp>
        <p:nvSpPr>
          <p:cNvPr id="8" name="ai_for_test-text-7"/>
          <p:cNvSpPr/>
          <p:nvPr/>
        </p:nvSpPr>
        <p:spPr>
          <a:xfrm>
            <a:off x="12700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根据需求生成测试点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i_for_test-shape-8"/>
          <p:cNvSpPr/>
          <p:nvPr/>
        </p:nvSpPr>
        <p:spPr>
          <a:xfrm>
            <a:off x="38608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0" name="ai_for_test-text-9"/>
          <p:cNvSpPr/>
          <p:nvPr/>
        </p:nvSpPr>
        <p:spPr>
          <a:xfrm>
            <a:off x="41148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02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ai_for_test-icon-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111500"/>
            <a:ext cx="381000" cy="381000"/>
          </a:xfrm>
          <a:prstGeom prst="rect">
            <a:avLst/>
          </a:prstGeom>
        </p:spPr>
      </p:pic>
      <p:sp>
        <p:nvSpPr>
          <p:cNvPr id="12" name="ai_for_test-text-11"/>
          <p:cNvSpPr/>
          <p:nvPr/>
        </p:nvSpPr>
        <p:spPr>
          <a:xfrm>
            <a:off x="41148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根据接口说明生成测试用例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i_for_test-shape-12"/>
          <p:cNvSpPr/>
          <p:nvPr/>
        </p:nvSpPr>
        <p:spPr>
          <a:xfrm>
            <a:off x="67056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4" name="ai_for_test-text-13"/>
          <p:cNvSpPr/>
          <p:nvPr/>
        </p:nvSpPr>
        <p:spPr>
          <a:xfrm>
            <a:off x="69596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43F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03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ai_for_test-icon-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0" y="3111500"/>
            <a:ext cx="381000" cy="381000"/>
          </a:xfrm>
          <a:prstGeom prst="rect">
            <a:avLst/>
          </a:prstGeom>
        </p:spPr>
      </p:pic>
      <p:sp>
        <p:nvSpPr>
          <p:cNvPr id="16" name="ai_for_test-text-15"/>
          <p:cNvSpPr/>
          <p:nvPr/>
        </p:nvSpPr>
        <p:spPr>
          <a:xfrm>
            <a:off x="69596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根据 Bug 描述补充复现步骤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i_for_test-shape-16"/>
          <p:cNvSpPr/>
          <p:nvPr/>
        </p:nvSpPr>
        <p:spPr>
          <a:xfrm>
            <a:off x="9550400" y="2349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8" name="ai_for_test-text-17"/>
          <p:cNvSpPr/>
          <p:nvPr/>
        </p:nvSpPr>
        <p:spPr>
          <a:xfrm>
            <a:off x="98044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43F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04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" name="ai_for_test-icon-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400" y="3111500"/>
            <a:ext cx="381000" cy="381000"/>
          </a:xfrm>
          <a:prstGeom prst="rect">
            <a:avLst/>
          </a:prstGeom>
        </p:spPr>
      </p:pic>
      <p:sp>
        <p:nvSpPr>
          <p:cNvPr id="20" name="ai_for_test-text-19"/>
          <p:cNvSpPr/>
          <p:nvPr/>
        </p:nvSpPr>
        <p:spPr>
          <a:xfrm>
            <a:off x="9804400" y="3683000"/>
            <a:ext cx="208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分析日志和错误信息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i_for_test-shape-20"/>
          <p:cNvSpPr/>
          <p:nvPr/>
        </p:nvSpPr>
        <p:spPr>
          <a:xfrm>
            <a:off x="12395200" y="2349500"/>
            <a:ext cx="28448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2" name="ai_for_test-text-21"/>
          <p:cNvSpPr/>
          <p:nvPr/>
        </p:nvSpPr>
        <p:spPr>
          <a:xfrm>
            <a:off x="12649200" y="2540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05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3" name="ai_for_test-icon-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9200" y="3111500"/>
            <a:ext cx="381000" cy="381000"/>
          </a:xfrm>
          <a:prstGeom prst="rect">
            <a:avLst/>
          </a:prstGeom>
        </p:spPr>
      </p:pic>
      <p:sp>
        <p:nvSpPr>
          <p:cNvPr id="24" name="ai_for_test-text-23"/>
          <p:cNvSpPr/>
          <p:nvPr/>
        </p:nvSpPr>
        <p:spPr>
          <a:xfrm>
            <a:off x="12649200" y="3683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生成测试数据和检查清单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ai_for_test-shape-24"/>
          <p:cNvSpPr/>
          <p:nvPr/>
        </p:nvSpPr>
        <p:spPr>
          <a:xfrm>
            <a:off x="1016000" y="5334000"/>
            <a:ext cx="10871200" cy="279400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/>
        </p:spPr>
      </p:sp>
      <p:sp>
        <p:nvSpPr>
          <p:cNvPr id="26" name="ai_for_test-text-25"/>
          <p:cNvSpPr/>
          <p:nvPr/>
        </p:nvSpPr>
        <p:spPr>
          <a:xfrm>
            <a:off x="1397000" y="55753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核心价值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ai_for_test-text-26"/>
          <p:cNvSpPr/>
          <p:nvPr/>
        </p:nvSpPr>
        <p:spPr>
          <a:xfrm>
            <a:off x="1397000" y="6223000"/>
            <a:ext cx="10236982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测试人员不一定每天写大量代码，但 AI 在拆测试点、补边界条件、整理 Bug 分析上同样高效。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8" name="ai_for_test-image-27" descr="preencoded.png"/>
          <p:cNvPicPr>
            <a:picLocks noChangeAspect="1"/>
          </p:cNvPicPr>
          <p:nvPr/>
        </p:nvPicPr>
        <p:blipFill>
          <a:blip r:embed="rId8"/>
          <a:srcRect l="50000"/>
          <a:stretch/>
        </p:blipFill>
        <p:spPr>
          <a:xfrm>
            <a:off x="12141200" y="5334000"/>
            <a:ext cx="3098800" cy="2794000"/>
          </a:xfrm>
          <a:prstGeom prst="roundRect">
            <a:avLst>
              <a:gd name="adj" fmla="val 5455"/>
            </a:avLst>
          </a:prstGeom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9" name="ai_for_test-text-2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12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itable_tasks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uitable_tasks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什么任务适合交给 AI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uitable_tasks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适合 AI 的任务：输入清晰、可快速验证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suitable_tasks-icon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476500"/>
            <a:ext cx="355600" cy="355600"/>
          </a:xfrm>
          <a:prstGeom prst="rect">
            <a:avLst/>
          </a:prstGeom>
        </p:spPr>
      </p:pic>
      <p:sp>
        <p:nvSpPr>
          <p:cNvPr id="6" name="suitable_tasks-text-5"/>
          <p:cNvSpPr/>
          <p:nvPr/>
        </p:nvSpPr>
        <p:spPr>
          <a:xfrm>
            <a:off x="1549400" y="2438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输入和输出都能描述清楚的任务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suitable_tasks-icon-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8" name="suitable_tasks-text-7"/>
          <p:cNvSpPr/>
          <p:nvPr/>
        </p:nvSpPr>
        <p:spPr>
          <a:xfrm>
            <a:off x="1549400" y="3200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有重复模式的任务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suitable_tasks-icon-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000500"/>
            <a:ext cx="355600" cy="355600"/>
          </a:xfrm>
          <a:prstGeom prst="rect">
            <a:avLst/>
          </a:prstGeom>
        </p:spPr>
      </p:pic>
      <p:sp>
        <p:nvSpPr>
          <p:cNvPr id="10" name="suitable_tasks-text-9"/>
          <p:cNvSpPr/>
          <p:nvPr/>
        </p:nvSpPr>
        <p:spPr>
          <a:xfrm>
            <a:off x="1549400" y="3962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需要整理、归纳、改写的任务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suitable_tasks-icon-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2476500"/>
            <a:ext cx="355600" cy="355600"/>
          </a:xfrm>
          <a:prstGeom prst="rect">
            <a:avLst/>
          </a:prstGeom>
        </p:spPr>
      </p:pic>
      <p:sp>
        <p:nvSpPr>
          <p:cNvPr id="12" name="suitable_tasks-text-11"/>
          <p:cNvSpPr/>
          <p:nvPr/>
        </p:nvSpPr>
        <p:spPr>
          <a:xfrm>
            <a:off x="9169400" y="2438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可以由人工快速检查结果的任务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suitable_tasks-icon-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3238500"/>
            <a:ext cx="355600" cy="355600"/>
          </a:xfrm>
          <a:prstGeom prst="rect">
            <a:avLst/>
          </a:prstGeom>
        </p:spPr>
      </p:pic>
      <p:sp>
        <p:nvSpPr>
          <p:cNvPr id="14" name="suitable_tasks-text-13"/>
          <p:cNvSpPr/>
          <p:nvPr/>
        </p:nvSpPr>
        <p:spPr>
          <a:xfrm>
            <a:off x="9169400" y="3200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错了不会直接造成严重后果的草稿类任务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uitable_tasks-shape-14"/>
          <p:cNvSpPr/>
          <p:nvPr/>
        </p:nvSpPr>
        <p:spPr>
          <a:xfrm>
            <a:off x="1016000" y="5334000"/>
            <a:ext cx="14224000" cy="20320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/>
        </p:spPr>
      </p:sp>
      <p:sp>
        <p:nvSpPr>
          <p:cNvPr id="16" name="suitable_tasks-shape-15"/>
          <p:cNvSpPr/>
          <p:nvPr/>
        </p:nvSpPr>
        <p:spPr>
          <a:xfrm>
            <a:off x="1016000" y="5334000"/>
            <a:ext cx="76200" cy="2032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uitable_tasks-text-16"/>
          <p:cNvSpPr/>
          <p:nvPr/>
        </p:nvSpPr>
        <p:spPr>
          <a:xfrm>
            <a:off x="1371600" y="5576277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简单判断标准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uitable_tasks-text-17"/>
          <p:cNvSpPr/>
          <p:nvPr/>
        </p:nvSpPr>
        <p:spPr>
          <a:xfrm>
            <a:off x="1371600" y="6057900"/>
            <a:ext cx="13385800" cy="11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如果你能清楚说明目标，并且能快速判断结果好坏，就适合先让 AI 试一下。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suitable_tasks-text-1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13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suitable_tasks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unsuitable_tasks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什么任务不适合直接交给 AI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unsuitable_tasks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不适合 AI 的任务：目标模糊、难以验证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unsuitable_tasks-icon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476500"/>
            <a:ext cx="355600" cy="355600"/>
          </a:xfrm>
          <a:prstGeom prst="rect">
            <a:avLst/>
          </a:prstGeom>
        </p:spPr>
      </p:pic>
      <p:sp>
        <p:nvSpPr>
          <p:cNvPr id="6" name="unsuitable_tasks-text-5"/>
          <p:cNvSpPr/>
          <p:nvPr/>
        </p:nvSpPr>
        <p:spPr>
          <a:xfrm>
            <a:off x="1549400" y="2438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目标不清楚、上下文缺失的任务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unsuitable_tasks-icon-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8" name="unsuitable_tasks-text-7"/>
          <p:cNvSpPr/>
          <p:nvPr/>
        </p:nvSpPr>
        <p:spPr>
          <a:xfrm>
            <a:off x="1549400" y="3200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需要真实业务决策负责的任务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unsuitable_tasks-icon-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000500"/>
            <a:ext cx="355600" cy="355600"/>
          </a:xfrm>
          <a:prstGeom prst="rect">
            <a:avLst/>
          </a:prstGeom>
        </p:spPr>
      </p:pic>
      <p:sp>
        <p:nvSpPr>
          <p:cNvPr id="10" name="unsuitable_tasks-text-9"/>
          <p:cNvSpPr/>
          <p:nvPr/>
        </p:nvSpPr>
        <p:spPr>
          <a:xfrm>
            <a:off x="1549400" y="3962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需要精确事实但没有可验证来源的任务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unsuitable_tasks-icon-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2476500"/>
            <a:ext cx="355600" cy="355600"/>
          </a:xfrm>
          <a:prstGeom prst="rect">
            <a:avLst/>
          </a:prstGeom>
        </p:spPr>
      </p:pic>
      <p:sp>
        <p:nvSpPr>
          <p:cNvPr id="12" name="unsuitable_tasks-text-11"/>
          <p:cNvSpPr/>
          <p:nvPr/>
        </p:nvSpPr>
        <p:spPr>
          <a:xfrm>
            <a:off x="9169400" y="2438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输出后很难人工检查的任务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unsuitable_tasks-icon-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3238500"/>
            <a:ext cx="355600" cy="355600"/>
          </a:xfrm>
          <a:prstGeom prst="rect">
            <a:avLst/>
          </a:prstGeom>
        </p:spPr>
      </p:pic>
      <p:sp>
        <p:nvSpPr>
          <p:cNvPr id="14" name="unsuitable_tasks-text-13"/>
          <p:cNvSpPr/>
          <p:nvPr/>
        </p:nvSpPr>
        <p:spPr>
          <a:xfrm>
            <a:off x="9169400" y="3200400"/>
            <a:ext cx="609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一次性要求它完成过大任务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unsuitable_tasks-shape-14"/>
          <p:cNvSpPr/>
          <p:nvPr/>
        </p:nvSpPr>
        <p:spPr>
          <a:xfrm>
            <a:off x="1016000" y="5334000"/>
            <a:ext cx="14224000" cy="2032000"/>
          </a:xfrm>
          <a:prstGeom prst="roundRect">
            <a:avLst>
              <a:gd name="adj" fmla="val 7500"/>
            </a:avLst>
          </a:prstGeom>
          <a:solidFill>
            <a:srgbClr val="FFF1F2"/>
          </a:solidFill>
          <a:ln/>
        </p:spPr>
      </p:sp>
      <p:sp>
        <p:nvSpPr>
          <p:cNvPr id="16" name="unsuitable_tasks-shape-15"/>
          <p:cNvSpPr/>
          <p:nvPr/>
        </p:nvSpPr>
        <p:spPr>
          <a:xfrm>
            <a:off x="1016000" y="5334000"/>
            <a:ext cx="76200" cy="20320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7" name="unsuitable_tasks-text-16"/>
          <p:cNvSpPr/>
          <p:nvPr/>
        </p:nvSpPr>
        <p:spPr>
          <a:xfrm>
            <a:off x="1371600" y="5576277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3F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核心原则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unsuitable_tasks-text-17"/>
          <p:cNvSpPr/>
          <p:nvPr/>
        </p:nvSpPr>
        <p:spPr>
          <a:xfrm>
            <a:off x="1371600" y="6057900"/>
            <a:ext cx="13385800" cy="11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AI 不是责任人。越是大任务，越要拆小；越是重要输出，越要人工检查。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unsuitable_tasks-text-1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14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lucination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hallucination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为什么 AI 会幻觉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hallucination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幻觉：AI 会生成"看起来合理"但不存在的内容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hallucination-icon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349500"/>
            <a:ext cx="304800" cy="304800"/>
          </a:xfrm>
          <a:prstGeom prst="rect">
            <a:avLst/>
          </a:prstGeom>
        </p:spPr>
      </p:pic>
      <p:sp>
        <p:nvSpPr>
          <p:cNvPr id="6" name="hallucination-text-5"/>
          <p:cNvSpPr/>
          <p:nvPr/>
        </p:nvSpPr>
        <p:spPr>
          <a:xfrm>
            <a:off x="1498600" y="2311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模型会生成"看起来合理"的内容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hallucination-icon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857500"/>
            <a:ext cx="304800" cy="304800"/>
          </a:xfrm>
          <a:prstGeom prst="rect">
            <a:avLst/>
          </a:prstGeom>
        </p:spPr>
      </p:pic>
      <p:sp>
        <p:nvSpPr>
          <p:cNvPr id="8" name="hallucination-text-7"/>
          <p:cNvSpPr/>
          <p:nvPr/>
        </p:nvSpPr>
        <p:spPr>
          <a:xfrm>
            <a:off x="1498600" y="2819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可能补全不存在的事实、接口、配置、类名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hallucination-icon-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3365500"/>
            <a:ext cx="304800" cy="304800"/>
          </a:xfrm>
          <a:prstGeom prst="rect">
            <a:avLst/>
          </a:prstGeom>
        </p:spPr>
      </p:pic>
      <p:sp>
        <p:nvSpPr>
          <p:cNvPr id="10" name="hallucination-text-9"/>
          <p:cNvSpPr/>
          <p:nvPr/>
        </p:nvSpPr>
        <p:spPr>
          <a:xfrm>
            <a:off x="1498600" y="3327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上下文不足时更容易编造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hallucination-icon-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2" name="hallucination-text-11"/>
          <p:cNvSpPr/>
          <p:nvPr/>
        </p:nvSpPr>
        <p:spPr>
          <a:xfrm>
            <a:off x="1498600" y="38354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提问越模糊，结果越不稳定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hallucination-shape-12"/>
          <p:cNvSpPr/>
          <p:nvPr/>
        </p:nvSpPr>
        <p:spPr>
          <a:xfrm>
            <a:off x="1016000" y="4699000"/>
            <a:ext cx="7112000" cy="165100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/>
        </p:spPr>
      </p:sp>
      <p:sp>
        <p:nvSpPr>
          <p:cNvPr id="14" name="hallucination-text-13"/>
          <p:cNvSpPr/>
          <p:nvPr/>
        </p:nvSpPr>
        <p:spPr>
          <a:xfrm>
            <a:off x="1346200" y="48768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43F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实战案例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hallucination-text-14"/>
          <p:cNvSpPr/>
          <p:nvPr/>
        </p:nvSpPr>
        <p:spPr>
          <a:xfrm>
            <a:off x="1320800" y="5295900"/>
            <a:ext cx="6375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让 AI 生成某项目 API 的调用方式，若未提供真实代码或文档，它可能编出不存在的方法名。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hallucination-image-15" descr="preencoded.png"/>
          <p:cNvPicPr>
            <a:picLocks noChangeAspect="1"/>
          </p:cNvPicPr>
          <p:nvPr/>
        </p:nvPicPr>
        <p:blipFill>
          <a:blip r:embed="rId7"/>
          <a:srcRect t="-3815" b="-3815"/>
          <a:stretch/>
        </p:blipFill>
        <p:spPr>
          <a:xfrm>
            <a:off x="8636000" y="2349500"/>
            <a:ext cx="6604000" cy="4000500"/>
          </a:xfrm>
          <a:prstGeom prst="rect">
            <a:avLst/>
          </a:prstGeom>
        </p:spPr>
      </p:pic>
      <p:sp>
        <p:nvSpPr>
          <p:cNvPr id="17" name="hallucination-shape-16"/>
          <p:cNvSpPr/>
          <p:nvPr/>
        </p:nvSpPr>
        <p:spPr>
          <a:xfrm>
            <a:off x="1016000" y="6731000"/>
            <a:ext cx="14224000" cy="11430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8" name="hallucination-text-17"/>
          <p:cNvSpPr/>
          <p:nvPr/>
        </p:nvSpPr>
        <p:spPr>
          <a:xfrm>
            <a:off x="1422400" y="6731000"/>
            <a:ext cx="1341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不是"问完就信"，而是</a:t>
            </a:r>
            <a:r>
              <a:rPr lang="en-US" sz="17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"让它给初稿，再由人验证"</a:t>
            </a:r>
            <a:r>
              <a:rPr lang="en-US" sz="17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。</a:t>
            </a:r>
            <a:endParaRPr lang="en-US" sz="1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hallucination-text-18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15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ol_cheatsheet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ool_cheatsheet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工具选择速查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ool_cheatsheet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工具选择一张表搞定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7" name="tool_cheatsheet-table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824485"/>
              </p:ext>
            </p:extLst>
          </p:nvPr>
        </p:nvGraphicFramePr>
        <p:xfrm>
          <a:off x="1016000" y="2286000"/>
          <a:ext cx="14224000" cy="4825992"/>
        </p:xfrm>
        <a:graphic>
          <a:graphicData uri="http://schemas.openxmlformats.org/drawingml/2006/table">
            <a:tbl>
              <a:tblPr/>
              <a:tblGrid>
                <a:gridCol w="587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6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1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使用场景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推荐工具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代码补全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GitHub Copilot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4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代码解释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GitHub Copilot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测试点整理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公司内网模型 / Copilot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文档总结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公司内网模型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日志分析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公司内网模型 / Copilot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小脚本生成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  <a:ea typeface="Microsoft YaHei" pitchFamily="34" charset="-122"/>
                          <a:cs typeface="Noto Sans SC" pitchFamily="34" charset="-120"/>
                        </a:rPr>
                        <a:t>Copilot 优先，内网模型辅助</a:t>
                      </a:r>
                      <a:endParaRPr lang="en-US" sz="2400" dirty="0">
                        <a:latin typeface="Microsoft YaHei" panose="020B0503020204020204" pitchFamily="34" charset="-122"/>
                        <a:ea typeface="Microsoft YaHei" charset="0"/>
                        <a:cs typeface="Noto Sans SC" charset="0"/>
                      </a:endParaRPr>
                    </a:p>
                  </a:txBody>
                  <a:tcPr marL="254000" marR="254000" marT="152400" marB="152400" anchor="ctr">
                    <a:lnL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ool_cheatsheet-shape-5"/>
          <p:cNvSpPr/>
          <p:nvPr/>
        </p:nvSpPr>
        <p:spPr>
          <a:xfrm>
            <a:off x="1016000" y="7493000"/>
            <a:ext cx="14224000" cy="88900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7" name="tool_cheatsheet-text-6"/>
          <p:cNvSpPr/>
          <p:nvPr/>
        </p:nvSpPr>
        <p:spPr>
          <a:xfrm>
            <a:off x="1422400" y="7493000"/>
            <a:ext cx="13411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离代码近 → </a:t>
            </a:r>
            <a:r>
              <a:rPr lang="en-US" sz="20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Copilot</a:t>
            </a:r>
            <a:r>
              <a:rPr lang="en-US" sz="20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　　偏文本与分析 → </a:t>
            </a:r>
            <a:r>
              <a:rPr lang="en-US" sz="2000" b="1" dirty="0">
                <a:solidFill>
                  <a:srgbClr val="C4B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内网模型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ool_cheatsheet-text-7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16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v_prep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env_prep-text-2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环境准备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env_prep-text-3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动手前的准备：VS Code + GitHub Copilot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env_prep-shape-4"/>
          <p:cNvSpPr/>
          <p:nvPr/>
        </p:nvSpPr>
        <p:spPr>
          <a:xfrm>
            <a:off x="1016000" y="2413000"/>
            <a:ext cx="7620000" cy="1270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6" name="env_prep-shape-5"/>
          <p:cNvSpPr/>
          <p:nvPr/>
        </p:nvSpPr>
        <p:spPr>
          <a:xfrm>
            <a:off x="1346200" y="2743200"/>
            <a:ext cx="609600" cy="609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env_prep-text-6"/>
          <p:cNvSpPr/>
          <p:nvPr/>
        </p:nvSpPr>
        <p:spPr>
          <a:xfrm>
            <a:off x="1346200" y="2743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env_prep-text-7"/>
          <p:cNvSpPr/>
          <p:nvPr/>
        </p:nvSpPr>
        <p:spPr>
          <a:xfrm>
            <a:off x="2184400" y="2413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安装 VS Code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env_prep-shape-8"/>
          <p:cNvSpPr/>
          <p:nvPr/>
        </p:nvSpPr>
        <p:spPr>
          <a:xfrm>
            <a:off x="1016000" y="3937000"/>
            <a:ext cx="7620000" cy="1270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0" name="env_prep-shape-9"/>
          <p:cNvSpPr/>
          <p:nvPr/>
        </p:nvSpPr>
        <p:spPr>
          <a:xfrm>
            <a:off x="1346200" y="4267200"/>
            <a:ext cx="609600" cy="609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env_prep-text-10"/>
          <p:cNvSpPr/>
          <p:nvPr/>
        </p:nvSpPr>
        <p:spPr>
          <a:xfrm>
            <a:off x="1346200" y="4267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2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env_prep-text-11"/>
          <p:cNvSpPr/>
          <p:nvPr/>
        </p:nvSpPr>
        <p:spPr>
          <a:xfrm>
            <a:off x="2184400" y="3937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安装常用插件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env_prep-shape-12"/>
          <p:cNvSpPr/>
          <p:nvPr/>
        </p:nvSpPr>
        <p:spPr>
          <a:xfrm>
            <a:off x="1016000" y="5461000"/>
            <a:ext cx="7620000" cy="1270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4" name="env_prep-shape-13"/>
          <p:cNvSpPr/>
          <p:nvPr/>
        </p:nvSpPr>
        <p:spPr>
          <a:xfrm>
            <a:off x="1346200" y="5791200"/>
            <a:ext cx="609600" cy="609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env_prep-text-14"/>
          <p:cNvSpPr/>
          <p:nvPr/>
        </p:nvSpPr>
        <p:spPr>
          <a:xfrm>
            <a:off x="1346200" y="5791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3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env_prep-text-15"/>
          <p:cNvSpPr/>
          <p:nvPr/>
        </p:nvSpPr>
        <p:spPr>
          <a:xfrm>
            <a:off x="2184400" y="5461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安装并配置 GitHub Copilot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env_prep-shape-16"/>
          <p:cNvSpPr/>
          <p:nvPr/>
        </p:nvSpPr>
        <p:spPr>
          <a:xfrm>
            <a:off x="9144000" y="2413000"/>
            <a:ext cx="6096000" cy="19050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pic>
        <p:nvPicPr>
          <p:cNvPr id="18" name="env_prep-icon-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00" y="2743200"/>
            <a:ext cx="381000" cy="381000"/>
          </a:xfrm>
          <a:prstGeom prst="rect">
            <a:avLst/>
          </a:prstGeom>
        </p:spPr>
      </p:pic>
      <p:sp>
        <p:nvSpPr>
          <p:cNvPr id="19" name="env_prep-text-18"/>
          <p:cNvSpPr/>
          <p:nvPr/>
        </p:nvSpPr>
        <p:spPr>
          <a:xfrm>
            <a:off x="10109200" y="27432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参考文档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env_prep-text-19"/>
          <p:cNvSpPr/>
          <p:nvPr/>
        </p:nvSpPr>
        <p:spPr>
          <a:xfrm>
            <a:off x="9474200" y="3429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Roboto Mono" pitchFamily="34" charset="-120"/>
              </a:rPr>
              <a:t>Lesson0.md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env_prep-shape-20"/>
          <p:cNvSpPr/>
          <p:nvPr/>
        </p:nvSpPr>
        <p:spPr>
          <a:xfrm>
            <a:off x="9144000" y="4572000"/>
            <a:ext cx="6096000" cy="215900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22" name="env_prep-text-21"/>
          <p:cNvSpPr/>
          <p:nvPr/>
        </p:nvSpPr>
        <p:spPr>
          <a:xfrm>
            <a:off x="9448800" y="483362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提示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env_prep-text-22"/>
          <p:cNvSpPr/>
          <p:nvPr/>
        </p:nvSpPr>
        <p:spPr>
          <a:xfrm>
            <a:off x="9448800" y="5468620"/>
            <a:ext cx="5410200" cy="107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建议课前完成，课堂练习时直接使用。安装遇到问题可在群里提问。</a:t>
            </a:r>
            <a:endParaRPr 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env_prep-text-23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17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1">
          <a:gsLst>
            <a:gs pos="0">
              <a:srgbClr val="0F172A"/>
            </a:gs>
            <a:gs pos="100000">
              <a:srgbClr val="1E1B4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ctice_homework-text-1"/>
          <p:cNvSpPr/>
          <p:nvPr/>
        </p:nvSpPr>
        <p:spPr>
          <a:xfrm>
            <a:off x="1016000" y="69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课堂练习 &amp; 作业打卡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practice_homework-text-2"/>
          <p:cNvSpPr/>
          <p:nvPr/>
        </p:nvSpPr>
        <p:spPr>
          <a:xfrm>
            <a:off x="1016000" y="1079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现在就开始：选一个真实小任务试试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practice_homework-shape-3"/>
          <p:cNvSpPr/>
          <p:nvPr/>
        </p:nvSpPr>
        <p:spPr>
          <a:xfrm>
            <a:off x="1016000" y="2349500"/>
            <a:ext cx="6731000" cy="4572000"/>
          </a:xfrm>
          <a:prstGeom prst="roundRect">
            <a:avLst>
              <a:gd name="adj" fmla="val 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practice_homework-text-4"/>
          <p:cNvSpPr/>
          <p:nvPr/>
        </p:nvSpPr>
        <p:spPr>
          <a:xfrm>
            <a:off x="1422400" y="2603500"/>
            <a:ext cx="5969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课堂练习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practice_homework-text-5"/>
          <p:cNvSpPr/>
          <p:nvPr/>
        </p:nvSpPr>
        <p:spPr>
          <a:xfrm>
            <a:off x="1422400" y="3111500"/>
            <a:ext cx="596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选择一个你最近遇到的小任务：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practice_homework-text-6"/>
          <p:cNvSpPr/>
          <p:nvPr/>
        </p:nvSpPr>
        <p:spPr>
          <a:xfrm>
            <a:off x="1422400" y="3556000"/>
            <a:ext cx="5969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›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解释一段代码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›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整理一段异常日志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›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把需求改成测试点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›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生成一个简单 SQL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›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改写一段技术说明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practice_homework-shape-7"/>
          <p:cNvSpPr/>
          <p:nvPr/>
        </p:nvSpPr>
        <p:spPr>
          <a:xfrm>
            <a:off x="8128000" y="2349500"/>
            <a:ext cx="7112000" cy="4572000"/>
          </a:xfrm>
          <a:prstGeom prst="roundRect">
            <a:avLst>
              <a:gd name="adj" fmla="val 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practice_homework-text-8"/>
          <p:cNvSpPr/>
          <p:nvPr/>
        </p:nvSpPr>
        <p:spPr>
          <a:xfrm>
            <a:off x="8534400" y="26035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C4B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作业打卡</a:t>
            </a:r>
            <a:endParaRPr lang="en-US" sz="1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practice_homework-text-9"/>
          <p:cNvSpPr/>
          <p:nvPr/>
        </p:nvSpPr>
        <p:spPr>
          <a:xfrm>
            <a:off x="8534400" y="31115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完成真实小任务后，记录：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ractice_homework-text-10"/>
          <p:cNvSpPr/>
          <p:nvPr/>
        </p:nvSpPr>
        <p:spPr>
          <a:xfrm>
            <a:off x="8534400" y="3556000"/>
            <a:ext cx="635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✓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用 AI 解决了什么问题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✓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使用了什么工具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✓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Prompt 或操作方式是什么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✓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结果是否可用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4000" indent="-254000" algn="l">
              <a:lnSpc>
                <a:spcPct val="150000"/>
              </a:lnSpc>
              <a:spcBef>
                <a:spcPts val="10"/>
              </a:spcBef>
              <a:buSzPct val="100000"/>
              <a:buChar char="✓"/>
            </a:pPr>
            <a:r>
              <a:rPr lang="en-US" sz="2000" dirty="0">
                <a:solidFill>
                  <a:srgbClr val="F1F5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有什么不足或后续想学的内容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practice_homework-shape-11"/>
          <p:cNvSpPr/>
          <p:nvPr/>
        </p:nvSpPr>
        <p:spPr>
          <a:xfrm>
            <a:off x="1016000" y="7366000"/>
            <a:ext cx="14224000" cy="1016000"/>
          </a:xfrm>
          <a:prstGeom prst="roundRect">
            <a:avLst>
              <a:gd name="adj" fmla="val 12500"/>
            </a:avLst>
          </a:prstGeom>
          <a:solidFill>
            <a:srgbClr val="312E81">
              <a:alpha val="25000"/>
            </a:srgbClr>
          </a:solidFill>
          <a:ln/>
        </p:spPr>
      </p:sp>
      <p:sp>
        <p:nvSpPr>
          <p:cNvPr id="13" name="practice_homework-text-12"/>
          <p:cNvSpPr/>
          <p:nvPr/>
        </p:nvSpPr>
        <p:spPr>
          <a:xfrm>
            <a:off x="1422400" y="7366000"/>
            <a:ext cx="13411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不要为了完成作业编一个高大上的案例，日常小任务就可以，</a:t>
            </a:r>
            <a:r>
              <a:rPr lang="en-US" sz="20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越真实越有价值</a:t>
            </a:r>
            <a:r>
              <a:rPr lang="en-US" sz="20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。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practice_homework-text-13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 pitchFamily="34" charset="-120"/>
              </a:rPr>
              <a:t>18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v_prep-shape-1">
            <a:extLst>
              <a:ext uri="{FF2B5EF4-FFF2-40B4-BE49-F238E27FC236}">
                <a16:creationId xmlns:a16="http://schemas.microsoft.com/office/drawing/2014/main" id="{4EACC423-4A77-9A2B-B191-8C7D195FF611}"/>
              </a:ext>
            </a:extLst>
          </p:cNvPr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7C51E96C-FB03-2062-CF6A-173872BF4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0" y="215081"/>
            <a:ext cx="6559899" cy="755454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BD6273-DC5A-4E8B-DCFA-32F5AC1FC336}"/>
              </a:ext>
            </a:extLst>
          </p:cNvPr>
          <p:cNvSpPr txBox="1"/>
          <p:nvPr/>
        </p:nvSpPr>
        <p:spPr>
          <a:xfrm>
            <a:off x="2124763" y="8067261"/>
            <a:ext cx="12006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https://neusoft.feishu.cn/share/base/form/shrcn4xkeudeAxmPbuDkb7ILO4e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2792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642</Words>
  <Application>Microsoft Office PowerPoint</Application>
  <PresentationFormat>ユーザー設定</PresentationFormat>
  <Paragraphs>243</Paragraphs>
  <Slides>20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Arial</vt:lpstr>
      <vt:lpstr>Microsoft YaHei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认知与工具地图</dc:title>
  <dc:subject>AI 认知与工具地图</dc:subject>
  <dc:creator>Manus</dc:creator>
  <cp:lastModifiedBy>紀　曄</cp:lastModifiedBy>
  <cp:revision>18</cp:revision>
  <dcterms:created xsi:type="dcterms:W3CDTF">2026-07-12T03:13:10Z</dcterms:created>
  <dcterms:modified xsi:type="dcterms:W3CDTF">2026-07-23T11:19:03Z</dcterms:modified>
</cp:coreProperties>
</file>