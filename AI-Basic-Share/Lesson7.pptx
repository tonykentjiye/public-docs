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BEB"/>
              </a:gs>
              <a:gs pos="100000">
                <a:srgbClr val="FEF3C7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571500" y="-571500"/>
            <a:ext cx="3429000" cy="3429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382000" y="3619500"/>
            <a:ext cx="4191000" cy="4191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59E0B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43000" y="5429250"/>
            <a:ext cx="1524000" cy="152400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382250" y="381000"/>
            <a:ext cx="1143000" cy="114300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3429000"/>
            <a:ext cx="762000" cy="76200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144250" y="3524250"/>
            <a:ext cx="571500" cy="57150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800350" y="704850"/>
            <a:ext cx="114300" cy="114300"/>
          </a:xfrm>
          <a:prstGeom prst="ellipse">
            <a:avLst/>
          </a:prstGeom>
          <a:solidFill>
            <a:srgbClr val="D97706">
              <a:alpha val="3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4724400" y="914400"/>
            <a:ext cx="76200" cy="762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7572375" y="523875"/>
            <a:ext cx="95250" cy="95250"/>
          </a:xfrm>
          <a:prstGeom prst="ellipse">
            <a:avLst/>
          </a:prstGeom>
          <a:solidFill>
            <a:srgbClr val="D97706">
              <a:alpha val="25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496425" y="828675"/>
            <a:ext cx="57150" cy="5715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390650" y="2819400"/>
            <a:ext cx="76200" cy="762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429875" y="2809875"/>
            <a:ext cx="95250" cy="9525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71500" y="19050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FDE68A"/>
            </a:solidFill>
          </a:ln>
        </p:spPr>
      </p:sp>
      <p:sp>
        <p:nvSpPr>
          <p:cNvPr id="17" name="Line 17"/>
          <p:cNvSpPr/>
          <p:nvPr/>
        </p:nvSpPr>
        <p:spPr>
          <a:xfrm>
            <a:off x="10287000" y="47625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FDE68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286000"/>
            <a:ext cx="76200" cy="228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19200" y="2655570"/>
            <a:ext cx="8224083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 工具地图与选型分享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6820" y="3662362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从个人提效到团队资产建设</a:t>
            </a:r>
          </a:p>
        </p:txBody>
      </p:sp>
      <p:sp>
        <p:nvSpPr>
          <p:cNvPr id="21" name="Line 21"/>
          <p:cNvSpPr/>
          <p:nvPr/>
        </p:nvSpPr>
        <p:spPr>
          <a:xfrm>
            <a:off x="1238250" y="4191000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28575" cap="rnd">
            <a:solidFill>
              <a:srgbClr val="D9770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29868" y="4489132"/>
            <a:ext cx="2937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基础培训补充分享 · 开发中心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953500" y="-571500"/>
            <a:ext cx="3048000" cy="3048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62000" y="504825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85750" y="1428750"/>
            <a:ext cx="952500" cy="95250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1049000" y="4381500"/>
            <a:ext cx="762000" cy="762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2809875" y="714375"/>
            <a:ext cx="95250" cy="9525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29400" y="533400"/>
            <a:ext cx="76200" cy="762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467850" y="704850"/>
            <a:ext cx="114300" cy="1143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7784" y="18478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本期主题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1143000"/>
            <a:ext cx="1066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857250" y="1238250"/>
            <a:ext cx="571500" cy="57150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190625" y="1190625"/>
            <a:ext cx="285750" cy="28575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1068921" y="1414996"/>
            <a:ext cx="249758" cy="237057"/>
            <a:chOff x="1068921" y="1414996"/>
            <a:chExt cx="249758" cy="237057"/>
          </a:xfrm>
        </p:grpSpPr>
        <p:sp>
          <p:nvSpPr>
            <p:cNvPr id="16" name="Freeform 16"/>
            <p:cNvSpPr/>
            <p:nvPr/>
          </p:nvSpPr>
          <p:spPr>
            <a:xfrm>
              <a:off x="1238250" y="1567395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68921" y="1440396"/>
              <a:ext cx="186258" cy="182029"/>
            </a:xfrm>
            <a:custGeom>
              <a:avLst/>
              <a:gdLst/>
              <a:ahLst/>
              <a:cxnLst/>
              <a:rect l="l" t="t" r="r" b="b"/>
              <a:pathLst>
                <a:path w="186258" h="182029">
                  <a:moveTo>
                    <a:pt x="16929" y="80429"/>
                  </a:moveTo>
                  <a:cubicBezTo>
                    <a:pt x="51999" y="80429"/>
                    <a:pt x="80429" y="51999"/>
                    <a:pt x="80429" y="16929"/>
                  </a:cubicBezTo>
                  <a:cubicBezTo>
                    <a:pt x="80429" y="0"/>
                    <a:pt x="105829" y="0"/>
                    <a:pt x="105829" y="16929"/>
                  </a:cubicBezTo>
                  <a:cubicBezTo>
                    <a:pt x="105829" y="51999"/>
                    <a:pt x="134259" y="80429"/>
                    <a:pt x="169329" y="80429"/>
                  </a:cubicBezTo>
                  <a:cubicBezTo>
                    <a:pt x="186258" y="80429"/>
                    <a:pt x="186258" y="105829"/>
                    <a:pt x="169329" y="105829"/>
                  </a:cubicBezTo>
                  <a:cubicBezTo>
                    <a:pt x="134259" y="105829"/>
                    <a:pt x="105829" y="134259"/>
                    <a:pt x="105829" y="169329"/>
                  </a:cubicBezTo>
                  <a:cubicBezTo>
                    <a:pt x="105829" y="176343"/>
                    <a:pt x="100143" y="182029"/>
                    <a:pt x="93129" y="182029"/>
                  </a:cubicBezTo>
                  <a:cubicBezTo>
                    <a:pt x="86115" y="182029"/>
                    <a:pt x="80429" y="176343"/>
                    <a:pt x="80429" y="169329"/>
                  </a:cubicBezTo>
                  <a:cubicBezTo>
                    <a:pt x="80429" y="134259"/>
                    <a:pt x="51999" y="105829"/>
                    <a:pt x="16929" y="105829"/>
                  </a:cubicBezTo>
                  <a:cubicBezTo>
                    <a:pt x="0" y="105829"/>
                    <a:pt x="0" y="80429"/>
                    <a:pt x="16929" y="80429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238250" y="1414996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22832" y="2059305"/>
            <a:ext cx="16365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 工具地图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4356" y="25679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从个人提效到团队资产建设，了解哪些工具值得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4356" y="294894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开发中心试用、推广或持续观察。</a:t>
            </a:r>
          </a:p>
        </p:txBody>
      </p:sp>
      <p:sp>
        <p:nvSpPr>
          <p:cNvPr id="23" name="Line 23"/>
          <p:cNvSpPr/>
          <p:nvPr/>
        </p:nvSpPr>
        <p:spPr>
          <a:xfrm>
            <a:off x="1333500" y="34290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19050">
            <a:solidFill>
              <a:srgbClr val="FDE68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325118" y="3727132"/>
            <a:ext cx="464802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不再讲单一工具，而是帮助大家建立工具地图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118" y="4108132"/>
            <a:ext cx="22046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什么工具适合个人用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5118" y="4489132"/>
            <a:ext cx="242679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什么工具适合团队建设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5118" y="4870132"/>
            <a:ext cx="37595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什么工具适合后续高级培训继续深入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381000" y="4381500"/>
            <a:ext cx="2667000" cy="2667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001250" y="19050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76250" y="2571750"/>
            <a:ext cx="571500" cy="57150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1191875" y="4524375"/>
            <a:ext cx="476250" cy="47625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7784" y="18478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本期目标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618" y="11553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完成本次分享后，你将能够：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619250"/>
            <a:ext cx="5143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19150" y="1914525"/>
            <a:ext cx="457200" cy="4572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942479" y="2038369"/>
            <a:ext cx="210437" cy="200562"/>
          </a:xfrm>
          <a:custGeom>
            <a:avLst/>
            <a:gdLst/>
            <a:ahLst/>
            <a:cxnLst/>
            <a:rect l="l" t="t" r="r" b="b"/>
            <a:pathLst>
              <a:path w="210437" h="200562">
                <a:moveTo>
                  <a:pt x="69485" y="60369"/>
                </a:moveTo>
                <a:lnTo>
                  <a:pt x="8716" y="69180"/>
                </a:lnTo>
                <a:lnTo>
                  <a:pt x="7639" y="69399"/>
                </a:lnTo>
                <a:cubicBezTo>
                  <a:pt x="4322" y="70279"/>
                  <a:pt x="1735" y="72877"/>
                  <a:pt x="868" y="76197"/>
                </a:cubicBezTo>
                <a:cubicBezTo>
                  <a:pt x="0" y="79518"/>
                  <a:pt x="986" y="83048"/>
                  <a:pt x="3448" y="85439"/>
                </a:cubicBezTo>
                <a:lnTo>
                  <a:pt x="47473" y="128292"/>
                </a:lnTo>
                <a:lnTo>
                  <a:pt x="37091" y="188823"/>
                </a:lnTo>
                <a:lnTo>
                  <a:pt x="36967" y="189871"/>
                </a:lnTo>
                <a:cubicBezTo>
                  <a:pt x="36764" y="193302"/>
                  <a:pt x="38425" y="196576"/>
                  <a:pt x="41313" y="198439"/>
                </a:cubicBezTo>
                <a:cubicBezTo>
                  <a:pt x="44202" y="200301"/>
                  <a:pt x="47870" y="200463"/>
                  <a:pt x="50911" y="198863"/>
                </a:cubicBezTo>
                <a:lnTo>
                  <a:pt x="105261" y="170288"/>
                </a:lnTo>
                <a:lnTo>
                  <a:pt x="159487" y="198863"/>
                </a:lnTo>
                <a:lnTo>
                  <a:pt x="160439" y="199301"/>
                </a:lnTo>
                <a:cubicBezTo>
                  <a:pt x="163640" y="200562"/>
                  <a:pt x="167273" y="199998"/>
                  <a:pt x="169941" y="197827"/>
                </a:cubicBezTo>
                <a:cubicBezTo>
                  <a:pt x="172610" y="195656"/>
                  <a:pt x="173901" y="192214"/>
                  <a:pt x="173317" y="188823"/>
                </a:cubicBezTo>
                <a:lnTo>
                  <a:pt x="162925" y="128292"/>
                </a:lnTo>
                <a:lnTo>
                  <a:pt x="206969" y="85429"/>
                </a:lnTo>
                <a:lnTo>
                  <a:pt x="207712" y="84620"/>
                </a:lnTo>
                <a:cubicBezTo>
                  <a:pt x="209872" y="81959"/>
                  <a:pt x="210437" y="78342"/>
                  <a:pt x="209189" y="75149"/>
                </a:cubicBezTo>
                <a:cubicBezTo>
                  <a:pt x="207942" y="71957"/>
                  <a:pt x="205075" y="69681"/>
                  <a:pt x="201683" y="69189"/>
                </a:cubicBezTo>
                <a:lnTo>
                  <a:pt x="140913" y="60369"/>
                </a:lnTo>
                <a:lnTo>
                  <a:pt x="113748" y="5315"/>
                </a:lnTo>
                <a:cubicBezTo>
                  <a:pt x="112144" y="2061"/>
                  <a:pt x="108832" y="0"/>
                  <a:pt x="105204" y="0"/>
                </a:cubicBezTo>
                <a:cubicBezTo>
                  <a:pt x="101576" y="0"/>
                  <a:pt x="98263" y="2061"/>
                  <a:pt x="96660" y="5315"/>
                </a:cubicBezTo>
                <a:lnTo>
                  <a:pt x="69485" y="60369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420368" y="1869758"/>
            <a:ext cx="18526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了解 AI 工具类型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892" y="2235518"/>
            <a:ext cx="29804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了解开发中心可关注的 AI 工具类型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619250"/>
            <a:ext cx="5143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914525"/>
            <a:ext cx="457200" cy="4572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6496050" y="2047794"/>
            <a:ext cx="152400" cy="190849"/>
          </a:xfrm>
          <a:custGeom>
            <a:avLst/>
            <a:gdLst/>
            <a:ahLst/>
            <a:cxnLst/>
            <a:rect l="l" t="t" r="r" b="b"/>
            <a:pathLst>
              <a:path w="152400" h="190849">
                <a:moveTo>
                  <a:pt x="0" y="28656"/>
                </a:moveTo>
                <a:cubicBezTo>
                  <a:pt x="0" y="26097"/>
                  <a:pt x="1030" y="23646"/>
                  <a:pt x="2857" y="21855"/>
                </a:cubicBezTo>
                <a:cubicBezTo>
                  <a:pt x="24403" y="734"/>
                  <a:pt x="58656" y="0"/>
                  <a:pt x="81086" y="20179"/>
                </a:cubicBezTo>
                <a:lnTo>
                  <a:pt x="84430" y="23303"/>
                </a:lnTo>
                <a:cubicBezTo>
                  <a:pt x="98800" y="35894"/>
                  <a:pt x="120275" y="35894"/>
                  <a:pt x="134645" y="23303"/>
                </a:cubicBezTo>
                <a:lnTo>
                  <a:pt x="137017" y="21141"/>
                </a:lnTo>
                <a:cubicBezTo>
                  <a:pt x="142827" y="16540"/>
                  <a:pt x="151562" y="20217"/>
                  <a:pt x="152352" y="27579"/>
                </a:cubicBezTo>
                <a:lnTo>
                  <a:pt x="152400" y="28656"/>
                </a:lnTo>
                <a:lnTo>
                  <a:pt x="152400" y="114381"/>
                </a:lnTo>
                <a:cubicBezTo>
                  <a:pt x="152400" y="116940"/>
                  <a:pt x="151370" y="119391"/>
                  <a:pt x="149543" y="121182"/>
                </a:cubicBezTo>
                <a:cubicBezTo>
                  <a:pt x="127997" y="142303"/>
                  <a:pt x="93744" y="143037"/>
                  <a:pt x="71314" y="122858"/>
                </a:cubicBezTo>
                <a:lnTo>
                  <a:pt x="67970" y="119734"/>
                </a:lnTo>
                <a:cubicBezTo>
                  <a:pt x="54081" y="107565"/>
                  <a:pt x="33465" y="107107"/>
                  <a:pt x="19050" y="118648"/>
                </a:cubicBezTo>
                <a:lnTo>
                  <a:pt x="19050" y="181056"/>
                </a:lnTo>
                <a:cubicBezTo>
                  <a:pt x="19044" y="186095"/>
                  <a:pt x="15114" y="190259"/>
                  <a:pt x="10083" y="190554"/>
                </a:cubicBezTo>
                <a:cubicBezTo>
                  <a:pt x="5052" y="190849"/>
                  <a:pt x="662" y="187175"/>
                  <a:pt x="67" y="182170"/>
                </a:cubicBezTo>
                <a:lnTo>
                  <a:pt x="0" y="181056"/>
                </a:lnTo>
                <a:lnTo>
                  <a:pt x="0" y="2865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44868" y="1869758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知道工具适用场景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6392" y="2235518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知道不同工具适合解决什么问题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952750"/>
            <a:ext cx="5143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819150" y="3248025"/>
            <a:ext cx="457200" cy="4572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952497" y="3381374"/>
            <a:ext cx="190972" cy="190504"/>
          </a:xfrm>
          <a:custGeom>
            <a:avLst/>
            <a:gdLst/>
            <a:ahLst/>
            <a:cxnLst/>
            <a:rect l="l" t="t" r="r" b="b"/>
            <a:pathLst>
              <a:path w="190972" h="190504">
                <a:moveTo>
                  <a:pt x="76203" y="1"/>
                </a:moveTo>
                <a:cubicBezTo>
                  <a:pt x="91334" y="0"/>
                  <a:pt x="103843" y="11794"/>
                  <a:pt x="104731" y="26899"/>
                </a:cubicBezTo>
                <a:lnTo>
                  <a:pt x="104778" y="28576"/>
                </a:lnTo>
                <a:lnTo>
                  <a:pt x="104778" y="38101"/>
                </a:lnTo>
                <a:lnTo>
                  <a:pt x="133353" y="38101"/>
                </a:lnTo>
                <a:cubicBezTo>
                  <a:pt x="143322" y="38098"/>
                  <a:pt x="151608" y="45781"/>
                  <a:pt x="152356" y="55722"/>
                </a:cubicBezTo>
                <a:lnTo>
                  <a:pt x="152403" y="57151"/>
                </a:lnTo>
                <a:lnTo>
                  <a:pt x="152403" y="85726"/>
                </a:lnTo>
                <a:lnTo>
                  <a:pt x="161928" y="85726"/>
                </a:lnTo>
                <a:cubicBezTo>
                  <a:pt x="177394" y="85711"/>
                  <a:pt x="190065" y="98003"/>
                  <a:pt x="190518" y="113462"/>
                </a:cubicBezTo>
                <a:cubicBezTo>
                  <a:pt x="190972" y="128921"/>
                  <a:pt x="179044" y="141936"/>
                  <a:pt x="163605" y="142828"/>
                </a:cubicBezTo>
                <a:lnTo>
                  <a:pt x="161928" y="142876"/>
                </a:lnTo>
                <a:lnTo>
                  <a:pt x="152403" y="142876"/>
                </a:lnTo>
                <a:lnTo>
                  <a:pt x="152403" y="171451"/>
                </a:lnTo>
                <a:cubicBezTo>
                  <a:pt x="152406" y="181420"/>
                  <a:pt x="144723" y="189706"/>
                  <a:pt x="134782" y="190453"/>
                </a:cubicBezTo>
                <a:lnTo>
                  <a:pt x="133353" y="190501"/>
                </a:lnTo>
                <a:lnTo>
                  <a:pt x="104778" y="190501"/>
                </a:lnTo>
                <a:cubicBezTo>
                  <a:pt x="94809" y="190504"/>
                  <a:pt x="86523" y="182821"/>
                  <a:pt x="85776" y="172880"/>
                </a:cubicBezTo>
                <a:lnTo>
                  <a:pt x="85728" y="171451"/>
                </a:lnTo>
                <a:lnTo>
                  <a:pt x="85728" y="161926"/>
                </a:lnTo>
                <a:cubicBezTo>
                  <a:pt x="85723" y="156886"/>
                  <a:pt x="81792" y="152723"/>
                  <a:pt x="76761" y="152428"/>
                </a:cubicBezTo>
                <a:cubicBezTo>
                  <a:pt x="71730" y="152132"/>
                  <a:pt x="67340" y="155807"/>
                  <a:pt x="66745" y="160811"/>
                </a:cubicBezTo>
                <a:lnTo>
                  <a:pt x="66678" y="161926"/>
                </a:lnTo>
                <a:lnTo>
                  <a:pt x="66678" y="171451"/>
                </a:lnTo>
                <a:cubicBezTo>
                  <a:pt x="66681" y="181420"/>
                  <a:pt x="58998" y="189706"/>
                  <a:pt x="49057" y="190453"/>
                </a:cubicBezTo>
                <a:lnTo>
                  <a:pt x="47628" y="190501"/>
                </a:lnTo>
                <a:lnTo>
                  <a:pt x="19053" y="190501"/>
                </a:lnTo>
                <a:cubicBezTo>
                  <a:pt x="9084" y="190504"/>
                  <a:pt x="798" y="182821"/>
                  <a:pt x="51" y="172880"/>
                </a:cubicBezTo>
                <a:lnTo>
                  <a:pt x="3" y="171451"/>
                </a:lnTo>
                <a:lnTo>
                  <a:pt x="3" y="142876"/>
                </a:lnTo>
                <a:cubicBezTo>
                  <a:pt x="0" y="132907"/>
                  <a:pt x="7683" y="124621"/>
                  <a:pt x="17624" y="123873"/>
                </a:cubicBezTo>
                <a:lnTo>
                  <a:pt x="19053" y="123826"/>
                </a:lnTo>
                <a:lnTo>
                  <a:pt x="28578" y="123826"/>
                </a:lnTo>
                <a:cubicBezTo>
                  <a:pt x="33618" y="123820"/>
                  <a:pt x="37781" y="119890"/>
                  <a:pt x="38076" y="114859"/>
                </a:cubicBezTo>
                <a:cubicBezTo>
                  <a:pt x="38372" y="109828"/>
                  <a:pt x="34697" y="105438"/>
                  <a:pt x="29693" y="104843"/>
                </a:cubicBezTo>
                <a:lnTo>
                  <a:pt x="28578" y="104776"/>
                </a:lnTo>
                <a:lnTo>
                  <a:pt x="19053" y="104776"/>
                </a:lnTo>
                <a:cubicBezTo>
                  <a:pt x="9084" y="104779"/>
                  <a:pt x="798" y="97096"/>
                  <a:pt x="51" y="87155"/>
                </a:cubicBezTo>
                <a:lnTo>
                  <a:pt x="3" y="85726"/>
                </a:lnTo>
                <a:lnTo>
                  <a:pt x="3" y="57151"/>
                </a:lnTo>
                <a:cubicBezTo>
                  <a:pt x="0" y="47182"/>
                  <a:pt x="7683" y="38896"/>
                  <a:pt x="17624" y="38148"/>
                </a:cubicBezTo>
                <a:lnTo>
                  <a:pt x="19053" y="38101"/>
                </a:lnTo>
                <a:lnTo>
                  <a:pt x="47628" y="38101"/>
                </a:lnTo>
                <a:lnTo>
                  <a:pt x="47628" y="28576"/>
                </a:lnTo>
                <a:cubicBezTo>
                  <a:pt x="47628" y="12794"/>
                  <a:pt x="60422" y="1"/>
                  <a:pt x="76203" y="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0368" y="32032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聚焦重点工具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1892" y="3569018"/>
            <a:ext cx="41490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重点了解代码、知识库、Excel、自动化、文档工具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2952750"/>
            <a:ext cx="51435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248025"/>
            <a:ext cx="457200" cy="457200"/>
          </a:xfrm>
          <a:prstGeom prst="ellipse">
            <a:avLst/>
          </a:prstGeom>
          <a:solidFill>
            <a:srgbClr val="FDE68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495231" y="3418547"/>
            <a:ext cx="163671" cy="116155"/>
          </a:xfrm>
          <a:custGeom>
            <a:avLst/>
            <a:gdLst/>
            <a:ahLst/>
            <a:cxnLst/>
            <a:rect l="l" t="t" r="r" b="b"/>
            <a:pathLst>
              <a:path w="163671" h="116155">
                <a:moveTo>
                  <a:pt x="159953" y="3718"/>
                </a:moveTo>
                <a:cubicBezTo>
                  <a:pt x="163671" y="7438"/>
                  <a:pt x="163671" y="13467"/>
                  <a:pt x="159953" y="17187"/>
                </a:cubicBezTo>
                <a:lnTo>
                  <a:pt x="64703" y="112437"/>
                </a:lnTo>
                <a:cubicBezTo>
                  <a:pt x="60984" y="116155"/>
                  <a:pt x="54954" y="116155"/>
                  <a:pt x="51235" y="112437"/>
                </a:cubicBezTo>
                <a:lnTo>
                  <a:pt x="3610" y="64812"/>
                </a:lnTo>
                <a:cubicBezTo>
                  <a:pt x="0" y="61074"/>
                  <a:pt x="52" y="55134"/>
                  <a:pt x="3726" y="51459"/>
                </a:cubicBezTo>
                <a:cubicBezTo>
                  <a:pt x="7400" y="47785"/>
                  <a:pt x="13341" y="47734"/>
                  <a:pt x="17078" y="51343"/>
                </a:cubicBezTo>
                <a:lnTo>
                  <a:pt x="57969" y="92234"/>
                </a:lnTo>
                <a:lnTo>
                  <a:pt x="146485" y="3718"/>
                </a:lnTo>
                <a:cubicBezTo>
                  <a:pt x="150204" y="0"/>
                  <a:pt x="156234" y="0"/>
                  <a:pt x="159953" y="3718"/>
                </a:cubicBezTo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944868" y="32032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建立选型标准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6392" y="3569018"/>
            <a:ext cx="34667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建立工具选型判断标准，完成工具体验报告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381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40892" y="4578668"/>
            <a:ext cx="74376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这节课不是要求大家全部安装，也不是推荐马上全面铺开。目标是让大家知道有哪些选择。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本期目录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9" name="Ellipse 9"/>
          <p:cNvSpPr/>
          <p:nvPr/>
        </p:nvSpPr>
        <p:spPr>
          <a:xfrm>
            <a:off x="866775" y="11525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99758" y="12134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8255" y="1190625"/>
            <a:ext cx="22448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为什么需要 AI 工具地图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477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6391275" y="11525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24258" y="12134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2755" y="11906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工具分类总览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171450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66775" y="181927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9758" y="18802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8255" y="18573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个人开发提效类工具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71450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6391275" y="181927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24258" y="18802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02755" y="1857375"/>
            <a:ext cx="22021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团队知识库与 RAG 工具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23812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866775" y="24860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9758" y="25469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8255" y="2524125"/>
            <a:ext cx="20165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Excel 与表格分析工具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23812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6391275" y="24860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24258" y="25469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02755" y="252412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自动化工作流工具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04800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866775" y="315277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99758" y="3213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8255" y="319087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模型网关、观测与本地模型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86500" y="304800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6391275" y="315277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424258" y="32137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02755" y="31908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文档与交付物生成工具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37147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66775" y="38195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99758" y="38804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78255" y="38576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工具选型标准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286500" y="3714750"/>
            <a:ext cx="51435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FEF3C7"/>
            </a:solidFill>
          </a:ln>
        </p:spPr>
      </p:sp>
      <p:sp>
        <p:nvSpPr>
          <p:cNvPr id="45" name="Ellipse 45"/>
          <p:cNvSpPr/>
          <p:nvPr/>
        </p:nvSpPr>
        <p:spPr>
          <a:xfrm>
            <a:off x="6391275" y="3819525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77612" y="3880485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02755" y="385762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作业与打卡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457200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40892" y="4759642"/>
            <a:ext cx="56203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每个工具只看三个点：解决什么问题、适合谁用、是否值得团队投入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4286250"/>
            <a:ext cx="2857500" cy="2857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23875" y="3571875"/>
            <a:ext cx="476250" cy="47625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1239500" y="2667000"/>
            <a:ext cx="381000" cy="381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7784" y="184785"/>
            <a:ext cx="504789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为什么需要了解多种 AI 工具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143000"/>
            <a:ext cx="1066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04875" y="1285875"/>
            <a:ext cx="476250" cy="476250"/>
          </a:xfrm>
          <a:prstGeom prst="ellipse">
            <a:avLst/>
          </a:prstGeom>
          <a:solidFill>
            <a:srgbClr val="FDE68A">
              <a:alpha val="5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143000" y="1524000"/>
            <a:ext cx="9906000" cy="5715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285875" y="17145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610868" y="1698308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单一工具无法覆盖所有工作场景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143000" y="2286000"/>
            <a:ext cx="9906000" cy="5715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1285875" y="24765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10868" y="2460308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个人提效和团队标准化需要不同工具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3048000"/>
            <a:ext cx="9906000" cy="5715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285875" y="32385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610868" y="3222308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工具生态变化很快，需要持续观察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143000" y="3810000"/>
            <a:ext cx="9906000" cy="5715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285875" y="40005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10868" y="3984308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选型错误会带来成本、权限和维护问题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143000" y="4572000"/>
            <a:ext cx="9906000" cy="57150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1285875" y="47625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610868" y="4746308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好工具可以沉淀成团队资产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2857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工具分类总览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28575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71104" y="116205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714750" y="1047750"/>
            <a:ext cx="38100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88077" y="11620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代表工具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0" y="1047750"/>
            <a:ext cx="38100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93327" y="11620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主要用途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28575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5642" y="1816418"/>
            <a:ext cx="16586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Chat 与聚合客户端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714750" y="15716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898773" y="1824514"/>
            <a:ext cx="22890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Cherry Studio、Open WebUI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0" y="15716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804023" y="18245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统一聊天入口、多模型体验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238375"/>
            <a:ext cx="28575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5642" y="24831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开发提效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714750" y="22383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898773" y="2491264"/>
            <a:ext cx="4817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Copilot、Cursor、Codex、Cline、Aider、DeepSeek Harness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0" y="22383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804023" y="2491264"/>
            <a:ext cx="297255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写代码、改代码、跑测试、搭建 Agent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2905125"/>
            <a:ext cx="28575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5642" y="3149918"/>
            <a:ext cx="12133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知识库与 RAG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714750" y="29051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98773" y="3158014"/>
            <a:ext cx="12013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Dify、RAGFlow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0" y="29051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804023" y="31580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项目文档问答、需求知识库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571875"/>
            <a:ext cx="28575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45642" y="3816668"/>
            <a:ext cx="113302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Excel 与表格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714750" y="35718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898773" y="3824764"/>
            <a:ext cx="27591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M365 Copilot、SpreadsheetAgent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0" y="35718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804023" y="38247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表格分析、公式、报表、数据清洗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4238625"/>
            <a:ext cx="28575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45642" y="44834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自动化工作流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714750" y="42386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898773" y="4491514"/>
            <a:ext cx="28928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n8n、Dify Workflow、browser-use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0" y="4238625"/>
            <a:ext cx="3810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804023" y="44915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跨系统自动化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4905375"/>
            <a:ext cx="28575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45642" y="51501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模型治理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714750" y="49053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898773" y="5158264"/>
            <a:ext cx="23501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LiteLLM、Langfuse、Ollama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0" y="4905375"/>
            <a:ext cx="3810000" cy="61912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804023" y="51582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网关、成本、观测、本地模型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5572125"/>
            <a:ext cx="28575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45642" y="57788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交付物生成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714750" y="5572125"/>
            <a:ext cx="3810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898773" y="5786914"/>
            <a:ext cx="34012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ppt-master、Marp、Slidev、MarkItDown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0" y="5572125"/>
            <a:ext cx="3810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804023" y="5786914"/>
            <a:ext cx="176303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PPT、文档、培训材料</a:t>
            </a:r>
          </a:p>
        </p:txBody>
      </p:sp>
      <p:sp>
        <p:nvSpPr>
          <p:cNvPr id="56" name="Rectangle 5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31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Chat 与聚合客户端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902077" y="1171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代表工具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56027" y="1675624"/>
            <a:ext cx="192900" cy="183848"/>
          </a:xfrm>
          <a:custGeom>
            <a:avLst/>
            <a:gdLst/>
            <a:ahLst/>
            <a:cxnLst/>
            <a:rect l="l" t="t" r="r" b="b"/>
            <a:pathLst>
              <a:path w="192900" h="183848">
                <a:moveTo>
                  <a:pt x="63695" y="55338"/>
                </a:moveTo>
                <a:lnTo>
                  <a:pt x="7989" y="63415"/>
                </a:lnTo>
                <a:lnTo>
                  <a:pt x="7003" y="63616"/>
                </a:lnTo>
                <a:cubicBezTo>
                  <a:pt x="3962" y="64423"/>
                  <a:pt x="1591" y="66804"/>
                  <a:pt x="795" y="69847"/>
                </a:cubicBezTo>
                <a:cubicBezTo>
                  <a:pt x="0" y="72891"/>
                  <a:pt x="904" y="76128"/>
                  <a:pt x="3161" y="78319"/>
                </a:cubicBezTo>
                <a:lnTo>
                  <a:pt x="43517" y="117601"/>
                </a:lnTo>
                <a:lnTo>
                  <a:pt x="34000" y="173088"/>
                </a:lnTo>
                <a:lnTo>
                  <a:pt x="33886" y="174049"/>
                </a:lnTo>
                <a:cubicBezTo>
                  <a:pt x="33700" y="177194"/>
                  <a:pt x="35223" y="180195"/>
                  <a:pt x="37871" y="181902"/>
                </a:cubicBezTo>
                <a:cubicBezTo>
                  <a:pt x="40518" y="183610"/>
                  <a:pt x="43881" y="183758"/>
                  <a:pt x="46669" y="182291"/>
                </a:cubicBezTo>
                <a:lnTo>
                  <a:pt x="96489" y="156097"/>
                </a:lnTo>
                <a:lnTo>
                  <a:pt x="146196" y="182291"/>
                </a:lnTo>
                <a:lnTo>
                  <a:pt x="147069" y="182692"/>
                </a:lnTo>
                <a:cubicBezTo>
                  <a:pt x="150004" y="183848"/>
                  <a:pt x="153333" y="183332"/>
                  <a:pt x="155780" y="181341"/>
                </a:cubicBezTo>
                <a:cubicBezTo>
                  <a:pt x="158226" y="179351"/>
                  <a:pt x="159409" y="176196"/>
                  <a:pt x="158874" y="173088"/>
                </a:cubicBezTo>
                <a:lnTo>
                  <a:pt x="149348" y="117601"/>
                </a:lnTo>
                <a:lnTo>
                  <a:pt x="189722" y="78310"/>
                </a:lnTo>
                <a:lnTo>
                  <a:pt x="190403" y="77568"/>
                </a:lnTo>
                <a:cubicBezTo>
                  <a:pt x="192383" y="75129"/>
                  <a:pt x="192900" y="71814"/>
                  <a:pt x="191757" y="68887"/>
                </a:cubicBezTo>
                <a:cubicBezTo>
                  <a:pt x="190613" y="65960"/>
                  <a:pt x="187985" y="63874"/>
                  <a:pt x="184876" y="63424"/>
                </a:cubicBezTo>
                <a:lnTo>
                  <a:pt x="129170" y="55338"/>
                </a:lnTo>
                <a:lnTo>
                  <a:pt x="104269" y="4872"/>
                </a:lnTo>
                <a:cubicBezTo>
                  <a:pt x="102799" y="1889"/>
                  <a:pt x="99762" y="0"/>
                  <a:pt x="96437" y="0"/>
                </a:cubicBezTo>
                <a:cubicBezTo>
                  <a:pt x="93112" y="0"/>
                  <a:pt x="90075" y="1889"/>
                  <a:pt x="88605" y="4872"/>
                </a:cubicBezTo>
                <a:lnTo>
                  <a:pt x="63695" y="55338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73505" y="1685925"/>
            <a:ext cx="13707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Cherry Studio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88199" y="2055367"/>
            <a:ext cx="136075" cy="184842"/>
            <a:chOff x="1088199" y="2055367"/>
            <a:chExt cx="136075" cy="184842"/>
          </a:xfrm>
        </p:grpSpPr>
        <p:sp>
          <p:nvSpPr>
            <p:cNvPr id="14" name="Freeform 14"/>
            <p:cNvSpPr/>
            <p:nvPr/>
          </p:nvSpPr>
          <p:spPr>
            <a:xfrm>
              <a:off x="1100138" y="2082799"/>
              <a:ext cx="87657" cy="87987"/>
            </a:xfrm>
            <a:custGeom>
              <a:avLst/>
              <a:gdLst/>
              <a:ahLst/>
              <a:cxnLst/>
              <a:rect l="l" t="t" r="r" b="b"/>
              <a:pathLst>
                <a:path w="87657" h="87987">
                  <a:moveTo>
                    <a:pt x="43656" y="1"/>
                  </a:moveTo>
                  <a:cubicBezTo>
                    <a:pt x="67521" y="0"/>
                    <a:pt x="86964" y="19162"/>
                    <a:pt x="87310" y="43024"/>
                  </a:cubicBezTo>
                  <a:cubicBezTo>
                    <a:pt x="87657" y="66886"/>
                    <a:pt x="68778" y="86605"/>
                    <a:pt x="44923" y="87296"/>
                  </a:cubicBezTo>
                  <a:cubicBezTo>
                    <a:pt x="21068" y="87987"/>
                    <a:pt x="1079" y="69395"/>
                    <a:pt x="44" y="45552"/>
                  </a:cubicBezTo>
                  <a:lnTo>
                    <a:pt x="0" y="43658"/>
                  </a:lnTo>
                  <a:lnTo>
                    <a:pt x="44" y="41763"/>
                  </a:lnTo>
                  <a:cubicBezTo>
                    <a:pt x="1058" y="18412"/>
                    <a:pt x="20283" y="3"/>
                    <a:pt x="43656" y="1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88199" y="2055367"/>
              <a:ext cx="136075" cy="154813"/>
            </a:xfrm>
            <a:custGeom>
              <a:avLst/>
              <a:gdLst/>
              <a:ahLst/>
              <a:cxnLst/>
              <a:rect l="l" t="t" r="r" b="b"/>
              <a:pathLst>
                <a:path w="136075" h="154813">
                  <a:moveTo>
                    <a:pt x="82950" y="5622"/>
                  </a:moveTo>
                  <a:cubicBezTo>
                    <a:pt x="85351" y="1442"/>
                    <a:pt x="90687" y="0"/>
                    <a:pt x="94868" y="2401"/>
                  </a:cubicBezTo>
                  <a:cubicBezTo>
                    <a:pt x="120829" y="17322"/>
                    <a:pt x="136075" y="45681"/>
                    <a:pt x="134203" y="75566"/>
                  </a:cubicBezTo>
                  <a:cubicBezTo>
                    <a:pt x="132330" y="105450"/>
                    <a:pt x="113664" y="131685"/>
                    <a:pt x="86044" y="143249"/>
                  </a:cubicBezTo>
                  <a:cubicBezTo>
                    <a:pt x="58424" y="154813"/>
                    <a:pt x="26634" y="149705"/>
                    <a:pt x="4028" y="130069"/>
                  </a:cubicBezTo>
                  <a:cubicBezTo>
                    <a:pt x="387" y="126906"/>
                    <a:pt x="0" y="121390"/>
                    <a:pt x="3163" y="117749"/>
                  </a:cubicBezTo>
                  <a:cubicBezTo>
                    <a:pt x="6327" y="114109"/>
                    <a:pt x="11842" y="113721"/>
                    <a:pt x="15483" y="116885"/>
                  </a:cubicBezTo>
                  <a:cubicBezTo>
                    <a:pt x="33074" y="132164"/>
                    <a:pt x="57811" y="136139"/>
                    <a:pt x="79303" y="127141"/>
                  </a:cubicBezTo>
                  <a:cubicBezTo>
                    <a:pt x="100795" y="118142"/>
                    <a:pt x="115321" y="97728"/>
                    <a:pt x="116778" y="74474"/>
                  </a:cubicBezTo>
                  <a:cubicBezTo>
                    <a:pt x="118235" y="51219"/>
                    <a:pt x="106372" y="29152"/>
                    <a:pt x="86171" y="17541"/>
                  </a:cubicBezTo>
                  <a:cubicBezTo>
                    <a:pt x="81991" y="15139"/>
                    <a:pt x="80549" y="9803"/>
                    <a:pt x="82950" y="562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35063" y="2187575"/>
              <a:ext cx="17463" cy="52634"/>
            </a:xfrm>
            <a:custGeom>
              <a:avLst/>
              <a:gdLst/>
              <a:ahLst/>
              <a:cxnLst/>
              <a:rect l="l" t="t" r="r" b="b"/>
              <a:pathLst>
                <a:path w="17463" h="52634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3" y="8731"/>
                  </a:lnTo>
                  <a:lnTo>
                    <a:pt x="17463" y="43656"/>
                  </a:lnTo>
                  <a:cubicBezTo>
                    <a:pt x="17457" y="48276"/>
                    <a:pt x="13855" y="52092"/>
                    <a:pt x="9243" y="52363"/>
                  </a:cubicBezTo>
                  <a:cubicBezTo>
                    <a:pt x="4631" y="52634"/>
                    <a:pt x="607" y="49265"/>
                    <a:pt x="61" y="44678"/>
                  </a:cubicBezTo>
                  <a:lnTo>
                    <a:pt x="0" y="43656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99891" y="2222500"/>
              <a:ext cx="87805" cy="17463"/>
            </a:xfrm>
            <a:custGeom>
              <a:avLst/>
              <a:gdLst/>
              <a:ahLst/>
              <a:cxnLst/>
              <a:rect l="l" t="t" r="r" b="b"/>
              <a:pathLst>
                <a:path w="87805" h="17463">
                  <a:moveTo>
                    <a:pt x="78827" y="0"/>
                  </a:moveTo>
                  <a:cubicBezTo>
                    <a:pt x="83447" y="5"/>
                    <a:pt x="87263" y="3608"/>
                    <a:pt x="87534" y="8220"/>
                  </a:cubicBezTo>
                  <a:cubicBezTo>
                    <a:pt x="87805" y="12831"/>
                    <a:pt x="84436" y="16856"/>
                    <a:pt x="79849" y="17401"/>
                  </a:cubicBezTo>
                  <a:lnTo>
                    <a:pt x="78827" y="17463"/>
                  </a:lnTo>
                  <a:lnTo>
                    <a:pt x="8977" y="17463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78827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373505" y="2066925"/>
            <a:ext cx="11330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 WebUI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65213" y="2455069"/>
            <a:ext cx="174625" cy="166302"/>
          </a:xfrm>
          <a:custGeom>
            <a:avLst/>
            <a:gdLst/>
            <a:ahLst/>
            <a:cxnLst/>
            <a:rect l="l" t="t" r="r" b="b"/>
            <a:pathLst>
              <a:path w="174625" h="166302">
                <a:moveTo>
                  <a:pt x="139700" y="0"/>
                </a:moveTo>
                <a:cubicBezTo>
                  <a:pt x="158989" y="0"/>
                  <a:pt x="174625" y="15636"/>
                  <a:pt x="174625" y="34925"/>
                </a:cubicBezTo>
                <a:lnTo>
                  <a:pt x="174625" y="104775"/>
                </a:lnTo>
                <a:cubicBezTo>
                  <a:pt x="174625" y="124064"/>
                  <a:pt x="158989" y="139700"/>
                  <a:pt x="139700" y="139700"/>
                </a:cubicBezTo>
                <a:lnTo>
                  <a:pt x="98454" y="139700"/>
                </a:lnTo>
                <a:lnTo>
                  <a:pt x="56875" y="164645"/>
                </a:lnTo>
                <a:cubicBezTo>
                  <a:pt x="54331" y="166172"/>
                  <a:pt x="51185" y="166302"/>
                  <a:pt x="48524" y="164991"/>
                </a:cubicBezTo>
                <a:cubicBezTo>
                  <a:pt x="45862" y="163679"/>
                  <a:pt x="44048" y="161106"/>
                  <a:pt x="43709" y="158158"/>
                </a:cubicBezTo>
                <a:lnTo>
                  <a:pt x="43656" y="157163"/>
                </a:lnTo>
                <a:lnTo>
                  <a:pt x="43656" y="139700"/>
                </a:lnTo>
                <a:lnTo>
                  <a:pt x="34925" y="139700"/>
                </a:lnTo>
                <a:cubicBezTo>
                  <a:pt x="16315" y="139700"/>
                  <a:pt x="974" y="125108"/>
                  <a:pt x="44" y="106521"/>
                </a:cubicBezTo>
                <a:lnTo>
                  <a:pt x="0" y="104775"/>
                </a:lnTo>
                <a:lnTo>
                  <a:pt x="0" y="34925"/>
                </a:lnTo>
                <a:cubicBezTo>
                  <a:pt x="0" y="15636"/>
                  <a:pt x="15636" y="0"/>
                  <a:pt x="34925" y="0"/>
                </a:cubicBezTo>
                <a:close/>
                <a:moveTo>
                  <a:pt x="104775" y="78581"/>
                </a:moveTo>
                <a:lnTo>
                  <a:pt x="52388" y="78581"/>
                </a:lnTo>
                <a:cubicBezTo>
                  <a:pt x="47565" y="78581"/>
                  <a:pt x="43656" y="82490"/>
                  <a:pt x="43656" y="87313"/>
                </a:cubicBezTo>
                <a:cubicBezTo>
                  <a:pt x="43656" y="92135"/>
                  <a:pt x="47565" y="96044"/>
                  <a:pt x="52388" y="96044"/>
                </a:cubicBezTo>
                <a:lnTo>
                  <a:pt x="104775" y="96044"/>
                </a:lnTo>
                <a:cubicBezTo>
                  <a:pt x="109597" y="96044"/>
                  <a:pt x="113506" y="92135"/>
                  <a:pt x="113506" y="87313"/>
                </a:cubicBezTo>
                <a:cubicBezTo>
                  <a:pt x="113506" y="82490"/>
                  <a:pt x="109597" y="78581"/>
                  <a:pt x="104775" y="78581"/>
                </a:cubicBezTo>
                <a:moveTo>
                  <a:pt x="122238" y="43656"/>
                </a:moveTo>
                <a:lnTo>
                  <a:pt x="52388" y="43656"/>
                </a:lnTo>
                <a:cubicBezTo>
                  <a:pt x="47565" y="43656"/>
                  <a:pt x="43656" y="47565"/>
                  <a:pt x="43656" y="52388"/>
                </a:cubicBezTo>
                <a:cubicBezTo>
                  <a:pt x="43656" y="57210"/>
                  <a:pt x="47565" y="61119"/>
                  <a:pt x="52388" y="61119"/>
                </a:cubicBezTo>
                <a:lnTo>
                  <a:pt x="122238" y="61119"/>
                </a:lnTo>
                <a:cubicBezTo>
                  <a:pt x="127060" y="61119"/>
                  <a:pt x="130969" y="57210"/>
                  <a:pt x="130969" y="52388"/>
                </a:cubicBezTo>
                <a:cubicBezTo>
                  <a:pt x="130969" y="47565"/>
                  <a:pt x="127060" y="43656"/>
                  <a:pt x="122238" y="43656"/>
                </a:cubicBezTo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73505" y="2447925"/>
            <a:ext cx="25228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ChatGPT / Claude / Gemini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56481" y="2841639"/>
            <a:ext cx="192088" cy="134164"/>
          </a:xfrm>
          <a:custGeom>
            <a:avLst/>
            <a:gdLst/>
            <a:ahLst/>
            <a:cxnLst/>
            <a:rect l="l" t="t" r="r" b="b"/>
            <a:pathLst>
              <a:path w="192088" h="134164">
                <a:moveTo>
                  <a:pt x="78931" y="5824"/>
                </a:moveTo>
                <a:cubicBezTo>
                  <a:pt x="98096" y="0"/>
                  <a:pt x="119225" y="3868"/>
                  <a:pt x="134461" y="16092"/>
                </a:cubicBezTo>
                <a:cubicBezTo>
                  <a:pt x="146563" y="25766"/>
                  <a:pt x="153565" y="39544"/>
                  <a:pt x="154124" y="53985"/>
                </a:cubicBezTo>
                <a:lnTo>
                  <a:pt x="154150" y="55836"/>
                </a:lnTo>
                <a:lnTo>
                  <a:pt x="154945" y="55863"/>
                </a:lnTo>
                <a:cubicBezTo>
                  <a:pt x="175027" y="56797"/>
                  <a:pt x="191118" y="72985"/>
                  <a:pt x="192053" y="93145"/>
                </a:cubicBezTo>
                <a:lnTo>
                  <a:pt x="192088" y="94987"/>
                </a:lnTo>
                <a:cubicBezTo>
                  <a:pt x="192088" y="116003"/>
                  <a:pt x="175629" y="133160"/>
                  <a:pt x="154936" y="134121"/>
                </a:cubicBezTo>
                <a:lnTo>
                  <a:pt x="153103" y="134164"/>
                </a:lnTo>
                <a:lnTo>
                  <a:pt x="49393" y="134164"/>
                </a:lnTo>
                <a:lnTo>
                  <a:pt x="47454" y="134095"/>
                </a:lnTo>
                <a:cubicBezTo>
                  <a:pt x="21784" y="133134"/>
                  <a:pt x="1030" y="113148"/>
                  <a:pt x="44" y="88142"/>
                </a:cubicBezTo>
                <a:lnTo>
                  <a:pt x="0" y="86256"/>
                </a:lnTo>
                <a:cubicBezTo>
                  <a:pt x="0" y="62271"/>
                  <a:pt x="18161" y="42512"/>
                  <a:pt x="41770" y="38959"/>
                </a:cubicBezTo>
                <a:lnTo>
                  <a:pt x="42766" y="38819"/>
                </a:lnTo>
                <a:lnTo>
                  <a:pt x="43377" y="37239"/>
                </a:lnTo>
                <a:cubicBezTo>
                  <a:pt x="49166" y="23094"/>
                  <a:pt x="61328" y="11866"/>
                  <a:pt x="76809" y="6522"/>
                </a:cubicBezTo>
                <a:lnTo>
                  <a:pt x="78939" y="5824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73505" y="282892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公司内网模型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047750"/>
            <a:ext cx="51435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26577" y="1171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28" name="Ellipse 28"/>
          <p:cNvSpPr/>
          <p:nvPr/>
        </p:nvSpPr>
        <p:spPr>
          <a:xfrm>
            <a:off x="6515100" y="1704975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55511" y="1674971"/>
            <a:ext cx="7818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日常问答</a:t>
            </a:r>
          </a:p>
        </p:txBody>
      </p:sp>
      <p:sp>
        <p:nvSpPr>
          <p:cNvPr id="30" name="Ellipse 30"/>
          <p:cNvSpPr/>
          <p:nvPr/>
        </p:nvSpPr>
        <p:spPr>
          <a:xfrm>
            <a:off x="6515100" y="2038350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55511" y="2008346"/>
            <a:ext cx="113760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Prompt 练习</a:t>
            </a:r>
          </a:p>
        </p:txBody>
      </p:sp>
      <p:sp>
        <p:nvSpPr>
          <p:cNvPr id="32" name="Ellipse 32"/>
          <p:cNvSpPr/>
          <p:nvPr/>
        </p:nvSpPr>
        <p:spPr>
          <a:xfrm>
            <a:off x="6515100" y="2371725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755511" y="2341721"/>
            <a:ext cx="9736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多模型对比</a:t>
            </a:r>
          </a:p>
        </p:txBody>
      </p:sp>
      <p:sp>
        <p:nvSpPr>
          <p:cNvPr id="34" name="Ellipse 34"/>
          <p:cNvSpPr/>
          <p:nvPr/>
        </p:nvSpPr>
        <p:spPr>
          <a:xfrm>
            <a:off x="6515100" y="2705100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55511" y="2675096"/>
            <a:ext cx="7818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文档总结</a:t>
            </a:r>
          </a:p>
        </p:txBody>
      </p:sp>
      <p:sp>
        <p:nvSpPr>
          <p:cNvPr id="36" name="Ellipse 36"/>
          <p:cNvSpPr/>
          <p:nvPr/>
        </p:nvSpPr>
        <p:spPr>
          <a:xfrm>
            <a:off x="6515100" y="3038475"/>
            <a:ext cx="114300" cy="1143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55511" y="3008471"/>
            <a:ext cx="1357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需求或方案初稿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37147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40892" y="3911918"/>
            <a:ext cx="73682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这类工具最适合普通成员日常使用。入口统一、上手简单，可作为基础 AI 使用入口。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144000" y="4381500"/>
            <a:ext cx="2667000" cy="2667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58933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Cherry Studio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114104" y="11715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特点</a:t>
            </a:r>
          </a:p>
        </p:txBody>
      </p:sp>
      <p:sp>
        <p:nvSpPr>
          <p:cNvPr id="12" name="Ellipse 12"/>
          <p:cNvSpPr/>
          <p:nvPr/>
        </p:nvSpPr>
        <p:spPr>
          <a:xfrm>
            <a:off x="10001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31011" y="1674971"/>
            <a:ext cx="19299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桌面端 AI 聚合客户端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0125" y="2095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1011" y="2055971"/>
            <a:ext cx="21346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管理多个模型和 API Key</a:t>
            </a:r>
          </a:p>
        </p:txBody>
      </p:sp>
      <p:sp>
        <p:nvSpPr>
          <p:cNvPr id="16" name="Ellipse 16"/>
          <p:cNvSpPr/>
          <p:nvPr/>
        </p:nvSpPr>
        <p:spPr>
          <a:xfrm>
            <a:off x="1000125" y="2476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31011" y="2436971"/>
            <a:ext cx="15248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Prompt 模板管理</a:t>
            </a:r>
          </a:p>
        </p:txBody>
      </p:sp>
      <p:sp>
        <p:nvSpPr>
          <p:cNvPr id="18" name="Ellipse 18"/>
          <p:cNvSpPr/>
          <p:nvPr/>
        </p:nvSpPr>
        <p:spPr>
          <a:xfrm>
            <a:off x="1000125" y="2857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31011" y="2817971"/>
            <a:ext cx="9736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多模型对比</a:t>
            </a:r>
          </a:p>
        </p:txBody>
      </p:sp>
      <p:sp>
        <p:nvSpPr>
          <p:cNvPr id="20" name="Ellipse 20"/>
          <p:cNvSpPr/>
          <p:nvPr/>
        </p:nvSpPr>
        <p:spPr>
          <a:xfrm>
            <a:off x="1000125" y="3238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31011" y="3198971"/>
            <a:ext cx="1357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偏个人效率工具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896511" y="117157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适合开发中心的用法</a:t>
            </a:r>
          </a:p>
        </p:txBody>
      </p:sp>
      <p:sp>
        <p:nvSpPr>
          <p:cNvPr id="26" name="Ellipse 26"/>
          <p:cNvSpPr/>
          <p:nvPr/>
        </p:nvSpPr>
        <p:spPr>
          <a:xfrm>
            <a:off x="65246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55511" y="1674971"/>
            <a:ext cx="21246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给骨干人员做多模型体验</a:t>
            </a:r>
          </a:p>
        </p:txBody>
      </p:sp>
      <p:sp>
        <p:nvSpPr>
          <p:cNvPr id="28" name="Ellipse 28"/>
          <p:cNvSpPr/>
          <p:nvPr/>
        </p:nvSpPr>
        <p:spPr>
          <a:xfrm>
            <a:off x="6524625" y="2095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55511" y="2055971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对比内网模型和外部模型效果</a:t>
            </a:r>
          </a:p>
        </p:txBody>
      </p:sp>
      <p:sp>
        <p:nvSpPr>
          <p:cNvPr id="30" name="Ellipse 30"/>
          <p:cNvSpPr/>
          <p:nvPr/>
        </p:nvSpPr>
        <p:spPr>
          <a:xfrm>
            <a:off x="6524625" y="2476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55511" y="2436971"/>
            <a:ext cx="15248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沉淀常用 Prompt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000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40892" y="4197668"/>
            <a:ext cx="73334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Cherry Studio 可以作为"模型体验台"，帮助快速比较不同模型的回答风格和能力边界。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1401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WebUI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114104" y="11715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特点</a:t>
            </a:r>
          </a:p>
        </p:txBody>
      </p:sp>
      <p:sp>
        <p:nvSpPr>
          <p:cNvPr id="12" name="Ellipse 12"/>
          <p:cNvSpPr/>
          <p:nvPr/>
        </p:nvSpPr>
        <p:spPr>
          <a:xfrm>
            <a:off x="10001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31011" y="1674971"/>
            <a:ext cx="1779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自托管 AI Chat 界面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0125" y="2095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1011" y="2055971"/>
            <a:ext cx="34832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 Ollama 和 OpenAI-compatible API</a:t>
            </a:r>
          </a:p>
        </p:txBody>
      </p:sp>
      <p:sp>
        <p:nvSpPr>
          <p:cNvPr id="16" name="Ellipse 16"/>
          <p:cNvSpPr/>
          <p:nvPr/>
        </p:nvSpPr>
        <p:spPr>
          <a:xfrm>
            <a:off x="1000125" y="2476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31011" y="2436971"/>
            <a:ext cx="29635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适合做团队内部统一 AI Chat 入口</a:t>
            </a:r>
          </a:p>
        </p:txBody>
      </p:sp>
      <p:sp>
        <p:nvSpPr>
          <p:cNvPr id="18" name="Ellipse 18"/>
          <p:cNvSpPr/>
          <p:nvPr/>
        </p:nvSpPr>
        <p:spPr>
          <a:xfrm>
            <a:off x="1000125" y="2857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31011" y="2817971"/>
            <a:ext cx="27001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可配合本地模型或内网模型使用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896511" y="117157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适合开发中心的用法</a:t>
            </a:r>
          </a:p>
        </p:txBody>
      </p:sp>
      <p:sp>
        <p:nvSpPr>
          <p:cNvPr id="24" name="Ellipse 24"/>
          <p:cNvSpPr/>
          <p:nvPr/>
        </p:nvSpPr>
        <p:spPr>
          <a:xfrm>
            <a:off x="65246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55511" y="1674971"/>
            <a:ext cx="19299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搭建内部 AI 问答门户</a:t>
            </a:r>
          </a:p>
        </p:txBody>
      </p:sp>
      <p:sp>
        <p:nvSpPr>
          <p:cNvPr id="26" name="Ellipse 26"/>
          <p:cNvSpPr/>
          <p:nvPr/>
        </p:nvSpPr>
        <p:spPr>
          <a:xfrm>
            <a:off x="6524625" y="2095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55511" y="2055971"/>
            <a:ext cx="15491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统一接入内网模型</a:t>
            </a:r>
          </a:p>
        </p:txBody>
      </p:sp>
      <p:sp>
        <p:nvSpPr>
          <p:cNvPr id="28" name="Ellipse 28"/>
          <p:cNvSpPr/>
          <p:nvPr/>
        </p:nvSpPr>
        <p:spPr>
          <a:xfrm>
            <a:off x="6524625" y="2476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55511" y="2436971"/>
            <a:ext cx="23164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给非编码场景提供简单入口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000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40892" y="4197668"/>
            <a:ext cx="46585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与 Ollama、LiteLLM 组合，可形成基础内网 AI 门户。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个人开发提效类工具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106680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106680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295400"/>
            <a:ext cx="106680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64327" y="11525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代表工具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5849" y="1685925"/>
            <a:ext cx="152402" cy="190501"/>
            <a:chOff x="1085849" y="1685925"/>
            <a:chExt cx="152402" cy="190501"/>
          </a:xfrm>
        </p:grpSpPr>
        <p:sp>
          <p:nvSpPr>
            <p:cNvPr id="12" name="Freeform 12"/>
            <p:cNvSpPr/>
            <p:nvPr/>
          </p:nvSpPr>
          <p:spPr>
            <a:xfrm>
              <a:off x="1085849" y="1685925"/>
              <a:ext cx="152402" cy="190501"/>
            </a:xfrm>
            <a:custGeom>
              <a:avLst/>
              <a:gdLst/>
              <a:ahLst/>
              <a:cxnLst/>
              <a:rect l="l" t="t" r="r" b="b"/>
              <a:pathLst>
                <a:path w="152402" h="190501">
                  <a:moveTo>
                    <a:pt x="76201" y="0"/>
                  </a:moveTo>
                  <a:lnTo>
                    <a:pt x="77315" y="67"/>
                  </a:lnTo>
                  <a:cubicBezTo>
                    <a:pt x="81692" y="583"/>
                    <a:pt x="85143" y="4034"/>
                    <a:pt x="85659" y="8411"/>
                  </a:cubicBezTo>
                  <a:lnTo>
                    <a:pt x="85726" y="9525"/>
                  </a:lnTo>
                  <a:lnTo>
                    <a:pt x="85726" y="47625"/>
                  </a:lnTo>
                  <a:lnTo>
                    <a:pt x="85773" y="49054"/>
                  </a:lnTo>
                  <a:cubicBezTo>
                    <a:pt x="86478" y="58425"/>
                    <a:pt x="93911" y="65883"/>
                    <a:pt x="103280" y="66618"/>
                  </a:cubicBezTo>
                  <a:lnTo>
                    <a:pt x="104776" y="66675"/>
                  </a:lnTo>
                  <a:lnTo>
                    <a:pt x="142876" y="66675"/>
                  </a:lnTo>
                  <a:lnTo>
                    <a:pt x="143990" y="66742"/>
                  </a:lnTo>
                  <a:cubicBezTo>
                    <a:pt x="148367" y="67258"/>
                    <a:pt x="151818" y="70709"/>
                    <a:pt x="152334" y="75086"/>
                  </a:cubicBezTo>
                  <a:lnTo>
                    <a:pt x="152401" y="76200"/>
                  </a:lnTo>
                  <a:lnTo>
                    <a:pt x="152401" y="161925"/>
                  </a:lnTo>
                  <a:cubicBezTo>
                    <a:pt x="152402" y="177056"/>
                    <a:pt x="140607" y="189565"/>
                    <a:pt x="125502" y="190452"/>
                  </a:cubicBezTo>
                  <a:lnTo>
                    <a:pt x="123826" y="190500"/>
                  </a:lnTo>
                  <a:lnTo>
                    <a:pt x="28576" y="190500"/>
                  </a:lnTo>
                  <a:cubicBezTo>
                    <a:pt x="13445" y="190501"/>
                    <a:pt x="936" y="178706"/>
                    <a:pt x="48" y="163601"/>
                  </a:cubicBezTo>
                  <a:lnTo>
                    <a:pt x="1" y="161925"/>
                  </a:lnTo>
                  <a:lnTo>
                    <a:pt x="1" y="28575"/>
                  </a:lnTo>
                  <a:cubicBezTo>
                    <a:pt x="0" y="13444"/>
                    <a:pt x="11794" y="935"/>
                    <a:pt x="26899" y="48"/>
                  </a:cubicBezTo>
                  <a:lnTo>
                    <a:pt x="28576" y="0"/>
                  </a:lnTo>
                  <a:close/>
                  <a:moveTo>
                    <a:pt x="61409" y="105785"/>
                  </a:moveTo>
                  <a:cubicBezTo>
                    <a:pt x="56705" y="103436"/>
                    <a:pt x="50989" y="105341"/>
                    <a:pt x="48635" y="110042"/>
                  </a:cubicBezTo>
                  <a:lnTo>
                    <a:pt x="39110" y="129092"/>
                  </a:lnTo>
                  <a:cubicBezTo>
                    <a:pt x="37771" y="131773"/>
                    <a:pt x="37771" y="134927"/>
                    <a:pt x="39110" y="137608"/>
                  </a:cubicBezTo>
                  <a:lnTo>
                    <a:pt x="48635" y="156658"/>
                  </a:lnTo>
                  <a:cubicBezTo>
                    <a:pt x="50989" y="161359"/>
                    <a:pt x="56705" y="163264"/>
                    <a:pt x="61409" y="160915"/>
                  </a:cubicBezTo>
                  <a:lnTo>
                    <a:pt x="62380" y="160363"/>
                  </a:lnTo>
                  <a:cubicBezTo>
                    <a:pt x="66414" y="157711"/>
                    <a:pt x="67826" y="152460"/>
                    <a:pt x="65666" y="148142"/>
                  </a:cubicBezTo>
                  <a:lnTo>
                    <a:pt x="58275" y="133350"/>
                  </a:lnTo>
                  <a:lnTo>
                    <a:pt x="65666" y="118558"/>
                  </a:lnTo>
                  <a:cubicBezTo>
                    <a:pt x="68015" y="113855"/>
                    <a:pt x="66109" y="108138"/>
                    <a:pt x="61409" y="105785"/>
                  </a:cubicBezTo>
                  <a:moveTo>
                    <a:pt x="103766" y="110042"/>
                  </a:moveTo>
                  <a:cubicBezTo>
                    <a:pt x="101413" y="105341"/>
                    <a:pt x="95696" y="103436"/>
                    <a:pt x="90993" y="105785"/>
                  </a:cubicBezTo>
                  <a:lnTo>
                    <a:pt x="90022" y="106337"/>
                  </a:lnTo>
                  <a:cubicBezTo>
                    <a:pt x="85988" y="108989"/>
                    <a:pt x="84576" y="114240"/>
                    <a:pt x="86735" y="118558"/>
                  </a:cubicBezTo>
                  <a:lnTo>
                    <a:pt x="94108" y="133350"/>
                  </a:lnTo>
                  <a:lnTo>
                    <a:pt x="86726" y="148142"/>
                  </a:lnTo>
                  <a:cubicBezTo>
                    <a:pt x="84568" y="152814"/>
                    <a:pt x="86511" y="158355"/>
                    <a:pt x="91113" y="160656"/>
                  </a:cubicBezTo>
                  <a:cubicBezTo>
                    <a:pt x="95716" y="162957"/>
                    <a:pt x="101314" y="161187"/>
                    <a:pt x="103757" y="156658"/>
                  </a:cubicBezTo>
                  <a:lnTo>
                    <a:pt x="113282" y="137608"/>
                  </a:lnTo>
                  <a:cubicBezTo>
                    <a:pt x="114621" y="134927"/>
                    <a:pt x="114621" y="131773"/>
                    <a:pt x="113282" y="12909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90615" y="1695440"/>
              <a:ext cx="38110" cy="38110"/>
            </a:xfrm>
            <a:custGeom>
              <a:avLst/>
              <a:gdLst/>
              <a:ahLst/>
              <a:cxnLst/>
              <a:rect l="l" t="t" r="r" b="b"/>
              <a:pathLst>
                <a:path w="38110" h="38110">
                  <a:moveTo>
                    <a:pt x="38110" y="38110"/>
                  </a:moveTo>
                  <a:lnTo>
                    <a:pt x="10" y="38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373886" y="1703546"/>
            <a:ext cx="13165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162300" y="1685925"/>
            <a:ext cx="190500" cy="190500"/>
            <a:chOff x="3162300" y="1685925"/>
            <a:chExt cx="190500" cy="190500"/>
          </a:xfrm>
        </p:grpSpPr>
        <p:sp>
          <p:nvSpPr>
            <p:cNvPr id="16" name="Freeform 16"/>
            <p:cNvSpPr/>
            <p:nvPr/>
          </p:nvSpPr>
          <p:spPr>
            <a:xfrm>
              <a:off x="3200400" y="16859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4928"/>
                  </a:moveTo>
                  <a:cubicBezTo>
                    <a:pt x="0" y="15638"/>
                    <a:pt x="15638" y="0"/>
                    <a:pt x="34928" y="0"/>
                  </a:cubicBezTo>
                  <a:lnTo>
                    <a:pt x="117472" y="0"/>
                  </a:lnTo>
                  <a:cubicBezTo>
                    <a:pt x="126735" y="0"/>
                    <a:pt x="135619" y="3680"/>
                    <a:pt x="142170" y="10230"/>
                  </a:cubicBezTo>
                  <a:cubicBezTo>
                    <a:pt x="148720" y="16781"/>
                    <a:pt x="152400" y="25665"/>
                    <a:pt x="152400" y="34928"/>
                  </a:cubicBezTo>
                  <a:lnTo>
                    <a:pt x="152400" y="117472"/>
                  </a:lnTo>
                  <a:cubicBezTo>
                    <a:pt x="152400" y="126735"/>
                    <a:pt x="148720" y="135619"/>
                    <a:pt x="142170" y="142170"/>
                  </a:cubicBezTo>
                  <a:cubicBezTo>
                    <a:pt x="135619" y="148720"/>
                    <a:pt x="126735" y="152400"/>
                    <a:pt x="117472" y="152400"/>
                  </a:cubicBezTo>
                  <a:lnTo>
                    <a:pt x="34928" y="152400"/>
                  </a:lnTo>
                  <a:cubicBezTo>
                    <a:pt x="15638" y="152400"/>
                    <a:pt x="0" y="136762"/>
                    <a:pt x="0" y="11747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62300" y="1727431"/>
              <a:ext cx="150332" cy="148994"/>
            </a:xfrm>
            <a:custGeom>
              <a:avLst/>
              <a:gdLst/>
              <a:ahLst/>
              <a:cxnLst/>
              <a:rect l="l" t="t" r="r" b="b"/>
              <a:pathLst>
                <a:path w="150332" h="148994">
                  <a:moveTo>
                    <a:pt x="0" y="25169"/>
                  </a:moveTo>
                  <a:cubicBezTo>
                    <a:pt x="0" y="14749"/>
                    <a:pt x="5077" y="7757"/>
                    <a:pt x="14421" y="2557"/>
                  </a:cubicBezTo>
                  <a:cubicBezTo>
                    <a:pt x="19019" y="0"/>
                    <a:pt x="24818" y="1655"/>
                    <a:pt x="27375" y="6252"/>
                  </a:cubicBezTo>
                  <a:cubicBezTo>
                    <a:pt x="29931" y="10850"/>
                    <a:pt x="28277" y="16650"/>
                    <a:pt x="23679" y="19206"/>
                  </a:cubicBezTo>
                  <a:cubicBezTo>
                    <a:pt x="19888" y="21311"/>
                    <a:pt x="19050" y="22464"/>
                    <a:pt x="19050" y="25169"/>
                  </a:cubicBezTo>
                  <a:lnTo>
                    <a:pt x="19050" y="120419"/>
                  </a:lnTo>
                  <a:cubicBezTo>
                    <a:pt x="19050" y="125639"/>
                    <a:pt x="23355" y="129944"/>
                    <a:pt x="28575" y="129944"/>
                  </a:cubicBezTo>
                  <a:lnTo>
                    <a:pt x="123806" y="129944"/>
                  </a:lnTo>
                  <a:cubicBezTo>
                    <a:pt x="126854" y="129944"/>
                    <a:pt x="129692" y="128477"/>
                    <a:pt x="131474" y="126067"/>
                  </a:cubicBezTo>
                  <a:lnTo>
                    <a:pt x="132093" y="125115"/>
                  </a:lnTo>
                  <a:cubicBezTo>
                    <a:pt x="133777" y="122158"/>
                    <a:pt x="136911" y="120324"/>
                    <a:pt x="140315" y="120304"/>
                  </a:cubicBezTo>
                  <a:cubicBezTo>
                    <a:pt x="143718" y="120284"/>
                    <a:pt x="146873" y="122081"/>
                    <a:pt x="148592" y="125019"/>
                  </a:cubicBezTo>
                  <a:cubicBezTo>
                    <a:pt x="150310" y="127956"/>
                    <a:pt x="150332" y="131587"/>
                    <a:pt x="148647" y="134545"/>
                  </a:cubicBezTo>
                  <a:cubicBezTo>
                    <a:pt x="143571" y="143471"/>
                    <a:pt x="134094" y="148988"/>
                    <a:pt x="123825" y="148994"/>
                  </a:cubicBezTo>
                  <a:lnTo>
                    <a:pt x="28575" y="148994"/>
                  </a:lnTo>
                  <a:cubicBezTo>
                    <a:pt x="12840" y="148994"/>
                    <a:pt x="0" y="136154"/>
                    <a:pt x="0" y="120419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3469386" y="1703546"/>
            <a:ext cx="6535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20" name="Freeform 20"/>
          <p:cNvSpPr/>
          <p:nvPr/>
        </p:nvSpPr>
        <p:spPr>
          <a:xfrm>
            <a:off x="5075793" y="1695450"/>
            <a:ext cx="173831" cy="171780"/>
          </a:xfrm>
          <a:custGeom>
            <a:avLst/>
            <a:gdLst/>
            <a:ahLst/>
            <a:cxnLst/>
            <a:rect l="l" t="t" r="r" b="b"/>
            <a:pathLst>
              <a:path w="173831" h="171780">
                <a:moveTo>
                  <a:pt x="171473" y="119567"/>
                </a:moveTo>
                <a:cubicBezTo>
                  <a:pt x="173822" y="124270"/>
                  <a:pt x="171916" y="129987"/>
                  <a:pt x="167215" y="132340"/>
                </a:cubicBezTo>
                <a:lnTo>
                  <a:pt x="91015" y="170440"/>
                </a:lnTo>
                <a:cubicBezTo>
                  <a:pt x="88335" y="171780"/>
                  <a:pt x="85180" y="171780"/>
                  <a:pt x="82500" y="170440"/>
                </a:cubicBezTo>
                <a:lnTo>
                  <a:pt x="6300" y="132340"/>
                </a:lnTo>
                <a:cubicBezTo>
                  <a:pt x="1770" y="129898"/>
                  <a:pt x="0" y="124300"/>
                  <a:pt x="2301" y="119697"/>
                </a:cubicBezTo>
                <a:cubicBezTo>
                  <a:pt x="4603" y="115094"/>
                  <a:pt x="10144" y="113152"/>
                  <a:pt x="14815" y="115310"/>
                </a:cubicBezTo>
                <a:lnTo>
                  <a:pt x="86757" y="151257"/>
                </a:lnTo>
                <a:lnTo>
                  <a:pt x="158709" y="115300"/>
                </a:lnTo>
                <a:cubicBezTo>
                  <a:pt x="163412" y="112951"/>
                  <a:pt x="169129" y="114857"/>
                  <a:pt x="171482" y="119558"/>
                </a:cubicBezTo>
                <a:moveTo>
                  <a:pt x="171482" y="81458"/>
                </a:moveTo>
                <a:cubicBezTo>
                  <a:pt x="173831" y="86161"/>
                  <a:pt x="171926" y="91878"/>
                  <a:pt x="167225" y="94231"/>
                </a:cubicBezTo>
                <a:lnTo>
                  <a:pt x="91025" y="132331"/>
                </a:lnTo>
                <a:cubicBezTo>
                  <a:pt x="88344" y="133670"/>
                  <a:pt x="85190" y="133670"/>
                  <a:pt x="82509" y="132331"/>
                </a:cubicBezTo>
                <a:lnTo>
                  <a:pt x="6309" y="94231"/>
                </a:lnTo>
                <a:cubicBezTo>
                  <a:pt x="1780" y="91788"/>
                  <a:pt x="10" y="86190"/>
                  <a:pt x="2311" y="81587"/>
                </a:cubicBezTo>
                <a:cubicBezTo>
                  <a:pt x="4612" y="76985"/>
                  <a:pt x="10153" y="75042"/>
                  <a:pt x="14825" y="77200"/>
                </a:cubicBezTo>
                <a:lnTo>
                  <a:pt x="86757" y="113157"/>
                </a:lnTo>
                <a:lnTo>
                  <a:pt x="158709" y="77200"/>
                </a:lnTo>
                <a:cubicBezTo>
                  <a:pt x="163412" y="74851"/>
                  <a:pt x="169129" y="76757"/>
                  <a:pt x="171482" y="81458"/>
                </a:cubicBezTo>
                <a:moveTo>
                  <a:pt x="86834" y="0"/>
                </a:moveTo>
                <a:cubicBezTo>
                  <a:pt x="87189" y="0"/>
                  <a:pt x="87542" y="22"/>
                  <a:pt x="87891" y="67"/>
                </a:cubicBezTo>
                <a:lnTo>
                  <a:pt x="88948" y="257"/>
                </a:lnTo>
                <a:lnTo>
                  <a:pt x="89767" y="486"/>
                </a:lnTo>
                <a:lnTo>
                  <a:pt x="89882" y="543"/>
                </a:lnTo>
                <a:lnTo>
                  <a:pt x="89996" y="562"/>
                </a:lnTo>
                <a:lnTo>
                  <a:pt x="90272" y="695"/>
                </a:lnTo>
                <a:lnTo>
                  <a:pt x="90748" y="876"/>
                </a:lnTo>
                <a:lnTo>
                  <a:pt x="90901" y="962"/>
                </a:lnTo>
                <a:lnTo>
                  <a:pt x="91015" y="1010"/>
                </a:lnTo>
                <a:lnTo>
                  <a:pt x="167215" y="39110"/>
                </a:lnTo>
                <a:cubicBezTo>
                  <a:pt x="170438" y="40725"/>
                  <a:pt x="172472" y="44020"/>
                  <a:pt x="172472" y="47625"/>
                </a:cubicBezTo>
                <a:cubicBezTo>
                  <a:pt x="172472" y="51230"/>
                  <a:pt x="170438" y="54525"/>
                  <a:pt x="167215" y="56140"/>
                </a:cubicBezTo>
                <a:lnTo>
                  <a:pt x="91015" y="94240"/>
                </a:lnTo>
                <a:cubicBezTo>
                  <a:pt x="88335" y="95580"/>
                  <a:pt x="85180" y="95580"/>
                  <a:pt x="82500" y="94240"/>
                </a:cubicBezTo>
                <a:lnTo>
                  <a:pt x="6300" y="56140"/>
                </a:lnTo>
                <a:cubicBezTo>
                  <a:pt x="3077" y="54525"/>
                  <a:pt x="1043" y="51230"/>
                  <a:pt x="1043" y="47625"/>
                </a:cubicBezTo>
                <a:cubicBezTo>
                  <a:pt x="1043" y="44020"/>
                  <a:pt x="3077" y="40725"/>
                  <a:pt x="6300" y="39110"/>
                </a:cubicBezTo>
                <a:lnTo>
                  <a:pt x="82500" y="1010"/>
                </a:lnTo>
                <a:lnTo>
                  <a:pt x="82605" y="962"/>
                </a:lnTo>
                <a:lnTo>
                  <a:pt x="82776" y="867"/>
                </a:lnTo>
                <a:lnTo>
                  <a:pt x="83519" y="562"/>
                </a:lnTo>
                <a:lnTo>
                  <a:pt x="83624" y="543"/>
                </a:lnTo>
                <a:lnTo>
                  <a:pt x="83748" y="486"/>
                </a:lnTo>
                <a:lnTo>
                  <a:pt x="84567" y="257"/>
                </a:lnTo>
                <a:lnTo>
                  <a:pt x="85614" y="67"/>
                </a:lnTo>
                <a:lnTo>
                  <a:pt x="86148" y="19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74386" y="1703546"/>
            <a:ext cx="5479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22" name="Freeform 22"/>
          <p:cNvSpPr/>
          <p:nvPr/>
        </p:nvSpPr>
        <p:spPr>
          <a:xfrm>
            <a:off x="6971490" y="1685801"/>
            <a:ext cx="181785" cy="190624"/>
          </a:xfrm>
          <a:custGeom>
            <a:avLst/>
            <a:gdLst/>
            <a:ahLst/>
            <a:cxnLst/>
            <a:rect l="l" t="t" r="r" b="b"/>
            <a:pathLst>
              <a:path w="181785" h="190624">
                <a:moveTo>
                  <a:pt x="32385" y="1076"/>
                </a:moveTo>
                <a:cubicBezTo>
                  <a:pt x="39920" y="0"/>
                  <a:pt x="50483" y="2457"/>
                  <a:pt x="64132" y="10277"/>
                </a:cubicBezTo>
                <a:lnTo>
                  <a:pt x="66723" y="11811"/>
                </a:lnTo>
                <a:lnTo>
                  <a:pt x="68247" y="12764"/>
                </a:lnTo>
                <a:lnTo>
                  <a:pt x="72028" y="11973"/>
                </a:lnTo>
                <a:cubicBezTo>
                  <a:pt x="86447" y="9187"/>
                  <a:pt x="101241" y="8929"/>
                  <a:pt x="115748" y="11211"/>
                </a:cubicBezTo>
                <a:lnTo>
                  <a:pt x="120092" y="11973"/>
                </a:lnTo>
                <a:lnTo>
                  <a:pt x="123863" y="12764"/>
                </a:lnTo>
                <a:lnTo>
                  <a:pt x="125397" y="11811"/>
                </a:lnTo>
                <a:cubicBezTo>
                  <a:pt x="138589" y="3810"/>
                  <a:pt x="149086" y="667"/>
                  <a:pt x="157039" y="876"/>
                </a:cubicBezTo>
                <a:lnTo>
                  <a:pt x="158601" y="952"/>
                </a:lnTo>
                <a:lnTo>
                  <a:pt x="160001" y="1114"/>
                </a:lnTo>
                <a:lnTo>
                  <a:pt x="160725" y="1248"/>
                </a:lnTo>
                <a:lnTo>
                  <a:pt x="161201" y="1353"/>
                </a:lnTo>
                <a:lnTo>
                  <a:pt x="162573" y="1800"/>
                </a:lnTo>
                <a:cubicBezTo>
                  <a:pt x="164819" y="2728"/>
                  <a:pt x="166625" y="4480"/>
                  <a:pt x="167621" y="6696"/>
                </a:cubicBezTo>
                <a:cubicBezTo>
                  <a:pt x="171519" y="15380"/>
                  <a:pt x="172832" y="25003"/>
                  <a:pt x="171403" y="34414"/>
                </a:cubicBezTo>
                <a:lnTo>
                  <a:pt x="170955" y="36957"/>
                </a:lnTo>
                <a:lnTo>
                  <a:pt x="170517" y="38824"/>
                </a:lnTo>
                <a:lnTo>
                  <a:pt x="171689" y="40376"/>
                </a:lnTo>
                <a:cubicBezTo>
                  <a:pt x="177156" y="47949"/>
                  <a:pt x="180547" y="56836"/>
                  <a:pt x="181499" y="66161"/>
                </a:cubicBezTo>
                <a:lnTo>
                  <a:pt x="181718" y="68971"/>
                </a:lnTo>
                <a:lnTo>
                  <a:pt x="181785" y="71561"/>
                </a:lnTo>
                <a:cubicBezTo>
                  <a:pt x="181785" y="108280"/>
                  <a:pt x="165983" y="127597"/>
                  <a:pt x="137551" y="135188"/>
                </a:cubicBezTo>
                <a:lnTo>
                  <a:pt x="135217" y="135769"/>
                </a:lnTo>
                <a:lnTo>
                  <a:pt x="133960" y="136046"/>
                </a:lnTo>
                <a:lnTo>
                  <a:pt x="134093" y="137579"/>
                </a:lnTo>
                <a:lnTo>
                  <a:pt x="134170" y="139075"/>
                </a:lnTo>
                <a:lnTo>
                  <a:pt x="134208" y="142551"/>
                </a:lnTo>
                <a:lnTo>
                  <a:pt x="134189" y="144580"/>
                </a:lnTo>
                <a:lnTo>
                  <a:pt x="134160" y="181099"/>
                </a:lnTo>
                <a:cubicBezTo>
                  <a:pt x="134159" y="185928"/>
                  <a:pt x="130545" y="189992"/>
                  <a:pt x="125749" y="190557"/>
                </a:cubicBezTo>
                <a:lnTo>
                  <a:pt x="124635" y="190624"/>
                </a:lnTo>
                <a:lnTo>
                  <a:pt x="67485" y="190624"/>
                </a:lnTo>
                <a:cubicBezTo>
                  <a:pt x="62656" y="190623"/>
                  <a:pt x="58592" y="187009"/>
                  <a:pt x="58027" y="182213"/>
                </a:cubicBezTo>
                <a:lnTo>
                  <a:pt x="57960" y="181099"/>
                </a:lnTo>
                <a:lnTo>
                  <a:pt x="57960" y="174107"/>
                </a:lnTo>
                <a:cubicBezTo>
                  <a:pt x="40644" y="176584"/>
                  <a:pt x="29099" y="170069"/>
                  <a:pt x="18812" y="156220"/>
                </a:cubicBezTo>
                <a:lnTo>
                  <a:pt x="13716" y="148923"/>
                </a:lnTo>
                <a:cubicBezTo>
                  <a:pt x="11049" y="145151"/>
                  <a:pt x="9383" y="143408"/>
                  <a:pt x="8106" y="142789"/>
                </a:cubicBezTo>
                <a:lnTo>
                  <a:pt x="7649" y="142608"/>
                </a:lnTo>
                <a:cubicBezTo>
                  <a:pt x="2745" y="141015"/>
                  <a:pt x="0" y="135809"/>
                  <a:pt x="1455" y="130862"/>
                </a:cubicBezTo>
                <a:cubicBezTo>
                  <a:pt x="2909" y="125916"/>
                  <a:pt x="8036" y="123025"/>
                  <a:pt x="13021" y="124339"/>
                </a:cubicBezTo>
                <a:cubicBezTo>
                  <a:pt x="19136" y="126130"/>
                  <a:pt x="23251" y="129750"/>
                  <a:pt x="27975" y="136141"/>
                </a:cubicBezTo>
                <a:lnTo>
                  <a:pt x="33100" y="143466"/>
                </a:lnTo>
                <a:cubicBezTo>
                  <a:pt x="40339" y="153743"/>
                  <a:pt x="46054" y="157363"/>
                  <a:pt x="57950" y="154810"/>
                </a:cubicBezTo>
                <a:lnTo>
                  <a:pt x="57960" y="148352"/>
                </a:lnTo>
                <a:lnTo>
                  <a:pt x="57789" y="146752"/>
                </a:lnTo>
                <a:cubicBezTo>
                  <a:pt x="57507" y="144145"/>
                  <a:pt x="57440" y="141520"/>
                  <a:pt x="57589" y="138903"/>
                </a:cubicBezTo>
                <a:lnTo>
                  <a:pt x="57750" y="137141"/>
                </a:lnTo>
                <a:lnTo>
                  <a:pt x="57931" y="135998"/>
                </a:lnTo>
                <a:lnTo>
                  <a:pt x="56903" y="135769"/>
                </a:lnTo>
                <a:cubicBezTo>
                  <a:pt x="28556" y="129007"/>
                  <a:pt x="12107" y="111262"/>
                  <a:pt x="10468" y="77295"/>
                </a:cubicBezTo>
                <a:lnTo>
                  <a:pt x="10373" y="74343"/>
                </a:lnTo>
                <a:lnTo>
                  <a:pt x="10335" y="71561"/>
                </a:lnTo>
                <a:cubicBezTo>
                  <a:pt x="10346" y="61242"/>
                  <a:pt x="13350" y="51147"/>
                  <a:pt x="18984" y="42501"/>
                </a:cubicBezTo>
                <a:lnTo>
                  <a:pt x="20432" y="40386"/>
                </a:lnTo>
                <a:lnTo>
                  <a:pt x="21594" y="38833"/>
                </a:lnTo>
                <a:lnTo>
                  <a:pt x="21165" y="36967"/>
                </a:lnTo>
                <a:cubicBezTo>
                  <a:pt x="19448" y="28599"/>
                  <a:pt x="19924" y="19930"/>
                  <a:pt x="22546" y="11801"/>
                </a:cubicBezTo>
                <a:lnTo>
                  <a:pt x="23499" y="9115"/>
                </a:lnTo>
                <a:lnTo>
                  <a:pt x="24508" y="6706"/>
                </a:lnTo>
                <a:cubicBezTo>
                  <a:pt x="25503" y="4491"/>
                  <a:pt x="27305" y="2740"/>
                  <a:pt x="29547" y="1810"/>
                </a:cubicBezTo>
                <a:lnTo>
                  <a:pt x="30919" y="1362"/>
                </a:lnTo>
                <a:lnTo>
                  <a:pt x="32385" y="1076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279386" y="1703546"/>
            <a:ext cx="1091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24" name="Freeform 24"/>
          <p:cNvSpPr/>
          <p:nvPr/>
        </p:nvSpPr>
        <p:spPr>
          <a:xfrm>
            <a:off x="8877297" y="1685924"/>
            <a:ext cx="190972" cy="190504"/>
          </a:xfrm>
          <a:custGeom>
            <a:avLst/>
            <a:gdLst/>
            <a:ahLst/>
            <a:cxnLst/>
            <a:rect l="l" t="t" r="r" b="b"/>
            <a:pathLst>
              <a:path w="190972" h="190504">
                <a:moveTo>
                  <a:pt x="76203" y="1"/>
                </a:moveTo>
                <a:cubicBezTo>
                  <a:pt x="91334" y="0"/>
                  <a:pt x="103843" y="11794"/>
                  <a:pt x="104731" y="26899"/>
                </a:cubicBezTo>
                <a:lnTo>
                  <a:pt x="104778" y="28576"/>
                </a:lnTo>
                <a:lnTo>
                  <a:pt x="104778" y="38101"/>
                </a:lnTo>
                <a:lnTo>
                  <a:pt x="133353" y="38101"/>
                </a:lnTo>
                <a:cubicBezTo>
                  <a:pt x="143322" y="38098"/>
                  <a:pt x="151608" y="45781"/>
                  <a:pt x="152356" y="55722"/>
                </a:cubicBezTo>
                <a:lnTo>
                  <a:pt x="152403" y="57151"/>
                </a:lnTo>
                <a:lnTo>
                  <a:pt x="152403" y="85726"/>
                </a:lnTo>
                <a:lnTo>
                  <a:pt x="161928" y="85726"/>
                </a:lnTo>
                <a:cubicBezTo>
                  <a:pt x="177394" y="85711"/>
                  <a:pt x="190065" y="98003"/>
                  <a:pt x="190518" y="113462"/>
                </a:cubicBezTo>
                <a:cubicBezTo>
                  <a:pt x="190972" y="128921"/>
                  <a:pt x="179044" y="141936"/>
                  <a:pt x="163605" y="142828"/>
                </a:cubicBezTo>
                <a:lnTo>
                  <a:pt x="161928" y="142876"/>
                </a:lnTo>
                <a:lnTo>
                  <a:pt x="152403" y="142876"/>
                </a:lnTo>
                <a:lnTo>
                  <a:pt x="152403" y="171451"/>
                </a:lnTo>
                <a:cubicBezTo>
                  <a:pt x="152406" y="181420"/>
                  <a:pt x="144723" y="189706"/>
                  <a:pt x="134782" y="190453"/>
                </a:cubicBezTo>
                <a:lnTo>
                  <a:pt x="133353" y="190501"/>
                </a:lnTo>
                <a:lnTo>
                  <a:pt x="104778" y="190501"/>
                </a:lnTo>
                <a:cubicBezTo>
                  <a:pt x="94809" y="190504"/>
                  <a:pt x="86523" y="182821"/>
                  <a:pt x="85776" y="172880"/>
                </a:cubicBezTo>
                <a:lnTo>
                  <a:pt x="85728" y="171451"/>
                </a:lnTo>
                <a:lnTo>
                  <a:pt x="85728" y="161926"/>
                </a:lnTo>
                <a:cubicBezTo>
                  <a:pt x="85723" y="156886"/>
                  <a:pt x="81792" y="152723"/>
                  <a:pt x="76761" y="152428"/>
                </a:cubicBezTo>
                <a:cubicBezTo>
                  <a:pt x="71730" y="152132"/>
                  <a:pt x="67340" y="155807"/>
                  <a:pt x="66745" y="160811"/>
                </a:cubicBezTo>
                <a:lnTo>
                  <a:pt x="66678" y="161926"/>
                </a:lnTo>
                <a:lnTo>
                  <a:pt x="66678" y="171451"/>
                </a:lnTo>
                <a:cubicBezTo>
                  <a:pt x="66681" y="181420"/>
                  <a:pt x="58998" y="189706"/>
                  <a:pt x="49057" y="190453"/>
                </a:cubicBezTo>
                <a:lnTo>
                  <a:pt x="47628" y="190501"/>
                </a:lnTo>
                <a:lnTo>
                  <a:pt x="19053" y="190501"/>
                </a:lnTo>
                <a:cubicBezTo>
                  <a:pt x="9084" y="190504"/>
                  <a:pt x="798" y="182821"/>
                  <a:pt x="51" y="172880"/>
                </a:cubicBezTo>
                <a:lnTo>
                  <a:pt x="3" y="171451"/>
                </a:lnTo>
                <a:lnTo>
                  <a:pt x="3" y="142876"/>
                </a:lnTo>
                <a:cubicBezTo>
                  <a:pt x="0" y="132907"/>
                  <a:pt x="7683" y="124621"/>
                  <a:pt x="17624" y="123873"/>
                </a:cubicBezTo>
                <a:lnTo>
                  <a:pt x="19053" y="123826"/>
                </a:lnTo>
                <a:lnTo>
                  <a:pt x="28578" y="123826"/>
                </a:lnTo>
                <a:cubicBezTo>
                  <a:pt x="33618" y="123820"/>
                  <a:pt x="37781" y="119890"/>
                  <a:pt x="38076" y="114859"/>
                </a:cubicBezTo>
                <a:cubicBezTo>
                  <a:pt x="38372" y="109828"/>
                  <a:pt x="34697" y="105438"/>
                  <a:pt x="29693" y="104843"/>
                </a:cubicBezTo>
                <a:lnTo>
                  <a:pt x="28578" y="104776"/>
                </a:lnTo>
                <a:lnTo>
                  <a:pt x="19053" y="104776"/>
                </a:lnTo>
                <a:cubicBezTo>
                  <a:pt x="9084" y="104779"/>
                  <a:pt x="798" y="97096"/>
                  <a:pt x="51" y="87155"/>
                </a:cubicBezTo>
                <a:lnTo>
                  <a:pt x="3" y="85726"/>
                </a:lnTo>
                <a:lnTo>
                  <a:pt x="3" y="57151"/>
                </a:lnTo>
                <a:cubicBezTo>
                  <a:pt x="0" y="47182"/>
                  <a:pt x="7683" y="38896"/>
                  <a:pt x="17624" y="38148"/>
                </a:cubicBezTo>
                <a:lnTo>
                  <a:pt x="19053" y="38101"/>
                </a:lnTo>
                <a:lnTo>
                  <a:pt x="47628" y="38101"/>
                </a:lnTo>
                <a:lnTo>
                  <a:pt x="47628" y="28576"/>
                </a:lnTo>
                <a:cubicBezTo>
                  <a:pt x="47628" y="12794"/>
                  <a:pt x="60422" y="1"/>
                  <a:pt x="76203" y="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84386" y="1703546"/>
            <a:ext cx="450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Cline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66800" y="2254012"/>
            <a:ext cx="191319" cy="194732"/>
          </a:xfrm>
          <a:custGeom>
            <a:avLst/>
            <a:gdLst/>
            <a:ahLst/>
            <a:cxnLst/>
            <a:rect l="l" t="t" r="r" b="b"/>
            <a:pathLst>
              <a:path w="191319" h="194732">
                <a:moveTo>
                  <a:pt x="114300" y="13624"/>
                </a:moveTo>
                <a:cubicBezTo>
                  <a:pt x="133370" y="24632"/>
                  <a:pt x="146746" y="43351"/>
                  <a:pt x="150982" y="64958"/>
                </a:cubicBezTo>
                <a:cubicBezTo>
                  <a:pt x="155218" y="86566"/>
                  <a:pt x="149900" y="108949"/>
                  <a:pt x="136398" y="126343"/>
                </a:cubicBezTo>
                <a:lnTo>
                  <a:pt x="187710" y="177654"/>
                </a:lnTo>
                <a:cubicBezTo>
                  <a:pt x="191319" y="181391"/>
                  <a:pt x="191268" y="187332"/>
                  <a:pt x="187594" y="191006"/>
                </a:cubicBezTo>
                <a:cubicBezTo>
                  <a:pt x="183919" y="194680"/>
                  <a:pt x="177979" y="194732"/>
                  <a:pt x="174241" y="191122"/>
                </a:cubicBezTo>
                <a:lnTo>
                  <a:pt x="122921" y="139811"/>
                </a:lnTo>
                <a:cubicBezTo>
                  <a:pt x="99940" y="157646"/>
                  <a:pt x="68811" y="160842"/>
                  <a:pt x="42686" y="148048"/>
                </a:cubicBezTo>
                <a:cubicBezTo>
                  <a:pt x="16561" y="135254"/>
                  <a:pt x="0" y="108702"/>
                  <a:pt x="0" y="79613"/>
                </a:cubicBezTo>
                <a:lnTo>
                  <a:pt x="48" y="76898"/>
                </a:lnTo>
                <a:cubicBezTo>
                  <a:pt x="1001" y="50176"/>
                  <a:pt x="15891" y="25909"/>
                  <a:pt x="39282" y="12955"/>
                </a:cubicBezTo>
                <a:cubicBezTo>
                  <a:pt x="62674" y="0"/>
                  <a:pt x="91144" y="254"/>
                  <a:pt x="114300" y="13624"/>
                </a:cubicBezTo>
                <a:moveTo>
                  <a:pt x="63885" y="53819"/>
                </a:moveTo>
                <a:cubicBezTo>
                  <a:pt x="60165" y="50101"/>
                  <a:pt x="54136" y="50101"/>
                  <a:pt x="50416" y="53819"/>
                </a:cubicBezTo>
                <a:lnTo>
                  <a:pt x="31366" y="72869"/>
                </a:lnTo>
                <a:cubicBezTo>
                  <a:pt x="29578" y="74656"/>
                  <a:pt x="28573" y="77080"/>
                  <a:pt x="28573" y="79608"/>
                </a:cubicBezTo>
                <a:cubicBezTo>
                  <a:pt x="28573" y="82136"/>
                  <a:pt x="29578" y="84561"/>
                  <a:pt x="31366" y="86347"/>
                </a:cubicBezTo>
                <a:lnTo>
                  <a:pt x="50416" y="105397"/>
                </a:lnTo>
                <a:cubicBezTo>
                  <a:pt x="54136" y="109116"/>
                  <a:pt x="60165" y="109116"/>
                  <a:pt x="63885" y="105397"/>
                </a:cubicBezTo>
                <a:lnTo>
                  <a:pt x="64675" y="104502"/>
                </a:lnTo>
                <a:cubicBezTo>
                  <a:pt x="67617" y="100710"/>
                  <a:pt x="67278" y="95322"/>
                  <a:pt x="63885" y="91929"/>
                </a:cubicBezTo>
                <a:lnTo>
                  <a:pt x="51578" y="79613"/>
                </a:lnTo>
                <a:lnTo>
                  <a:pt x="63885" y="67297"/>
                </a:lnTo>
                <a:cubicBezTo>
                  <a:pt x="67603" y="63578"/>
                  <a:pt x="67603" y="57548"/>
                  <a:pt x="63885" y="53829"/>
                </a:cubicBezTo>
                <a:moveTo>
                  <a:pt x="101985" y="53829"/>
                </a:moveTo>
                <a:cubicBezTo>
                  <a:pt x="98265" y="50110"/>
                  <a:pt x="92236" y="50110"/>
                  <a:pt x="88516" y="53829"/>
                </a:cubicBezTo>
                <a:lnTo>
                  <a:pt x="87726" y="54734"/>
                </a:lnTo>
                <a:cubicBezTo>
                  <a:pt x="84784" y="58526"/>
                  <a:pt x="85123" y="63913"/>
                  <a:pt x="88516" y="67307"/>
                </a:cubicBezTo>
                <a:lnTo>
                  <a:pt x="100823" y="79613"/>
                </a:lnTo>
                <a:lnTo>
                  <a:pt x="88516" y="91929"/>
                </a:lnTo>
                <a:cubicBezTo>
                  <a:pt x="84907" y="95666"/>
                  <a:pt x="84958" y="101607"/>
                  <a:pt x="88632" y="105281"/>
                </a:cubicBezTo>
                <a:cubicBezTo>
                  <a:pt x="92306" y="108955"/>
                  <a:pt x="98247" y="109007"/>
                  <a:pt x="101985" y="105397"/>
                </a:cubicBezTo>
                <a:lnTo>
                  <a:pt x="121035" y="86347"/>
                </a:lnTo>
                <a:cubicBezTo>
                  <a:pt x="124753" y="82628"/>
                  <a:pt x="124753" y="76598"/>
                  <a:pt x="121035" y="72879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73886" y="2275046"/>
            <a:ext cx="9093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3162032" y="2257425"/>
            <a:ext cx="191037" cy="190500"/>
            <a:chOff x="3162032" y="2257425"/>
            <a:chExt cx="191037" cy="190500"/>
          </a:xfrm>
        </p:grpSpPr>
        <p:sp>
          <p:nvSpPr>
            <p:cNvPr id="28" name="Freeform 28"/>
            <p:cNvSpPr/>
            <p:nvPr/>
          </p:nvSpPr>
          <p:spPr>
            <a:xfrm>
              <a:off x="3162032" y="234315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248025" y="2257425"/>
              <a:ext cx="19050" cy="28843"/>
            </a:xfrm>
            <a:custGeom>
              <a:avLst/>
              <a:gdLst/>
              <a:ahLst/>
              <a:cxnLst/>
              <a:rect l="l" t="t" r="r" b="b"/>
              <a:pathLst>
                <a:path w="19050" h="28843">
                  <a:moveTo>
                    <a:pt x="9525" y="0"/>
                  </a:moveTo>
                  <a:cubicBezTo>
                    <a:pt x="14354" y="1"/>
                    <a:pt x="18418" y="3615"/>
                    <a:pt x="18983" y="8411"/>
                  </a:cubicBezTo>
                  <a:lnTo>
                    <a:pt x="19050" y="9525"/>
                  </a:lnTo>
                  <a:lnTo>
                    <a:pt x="19050" y="19050"/>
                  </a:lnTo>
                  <a:cubicBezTo>
                    <a:pt x="19044" y="24090"/>
                    <a:pt x="15114" y="28253"/>
                    <a:pt x="10083" y="28548"/>
                  </a:cubicBezTo>
                  <a:cubicBezTo>
                    <a:pt x="5052" y="28843"/>
                    <a:pt x="662" y="25169"/>
                    <a:pt x="67" y="20164"/>
                  </a:cubicBezTo>
                  <a:lnTo>
                    <a:pt x="0" y="19050"/>
                  </a:ln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323957" y="234315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186137" y="2281249"/>
              <a:ext cx="27574" cy="27730"/>
            </a:xfrm>
            <a:custGeom>
              <a:avLst/>
              <a:gdLst/>
              <a:ahLst/>
              <a:cxnLst/>
              <a:rect l="l" t="t" r="r" b="b"/>
              <a:pathLst>
                <a:path w="27574" h="27730">
                  <a:moveTo>
                    <a:pt x="3718" y="3732"/>
                  </a:moveTo>
                  <a:cubicBezTo>
                    <a:pt x="7112" y="339"/>
                    <a:pt x="12500" y="0"/>
                    <a:pt x="16291" y="2941"/>
                  </a:cubicBezTo>
                  <a:lnTo>
                    <a:pt x="17187" y="3732"/>
                  </a:lnTo>
                  <a:lnTo>
                    <a:pt x="23854" y="10399"/>
                  </a:lnTo>
                  <a:cubicBezTo>
                    <a:pt x="27400" y="13957"/>
                    <a:pt x="27574" y="19656"/>
                    <a:pt x="24252" y="23423"/>
                  </a:cubicBezTo>
                  <a:cubicBezTo>
                    <a:pt x="20930" y="27190"/>
                    <a:pt x="15254" y="27730"/>
                    <a:pt x="11281" y="24658"/>
                  </a:cubicBezTo>
                  <a:lnTo>
                    <a:pt x="10386" y="23868"/>
                  </a:lnTo>
                  <a:lnTo>
                    <a:pt x="3718" y="17200"/>
                  </a:lnTo>
                  <a:cubicBezTo>
                    <a:pt x="0" y="13481"/>
                    <a:pt x="0" y="7451"/>
                    <a:pt x="3718" y="373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301246" y="2281261"/>
              <a:ext cx="27861" cy="27575"/>
            </a:xfrm>
            <a:custGeom>
              <a:avLst/>
              <a:gdLst/>
              <a:ahLst/>
              <a:cxnLst/>
              <a:rect l="l" t="t" r="r" b="b"/>
              <a:pathLst>
                <a:path w="27861" h="27575">
                  <a:moveTo>
                    <a:pt x="10530" y="3719"/>
                  </a:moveTo>
                  <a:cubicBezTo>
                    <a:pt x="14088" y="174"/>
                    <a:pt x="19786" y="0"/>
                    <a:pt x="23554" y="3322"/>
                  </a:cubicBezTo>
                  <a:cubicBezTo>
                    <a:pt x="27321" y="6643"/>
                    <a:pt x="27861" y="12319"/>
                    <a:pt x="24789" y="16292"/>
                  </a:cubicBezTo>
                  <a:lnTo>
                    <a:pt x="23999" y="17188"/>
                  </a:lnTo>
                  <a:lnTo>
                    <a:pt x="17331" y="23855"/>
                  </a:lnTo>
                  <a:cubicBezTo>
                    <a:pt x="13774" y="27400"/>
                    <a:pt x="8075" y="27575"/>
                    <a:pt x="4308" y="24253"/>
                  </a:cubicBezTo>
                  <a:cubicBezTo>
                    <a:pt x="541" y="20931"/>
                    <a:pt x="0" y="15255"/>
                    <a:pt x="3072" y="11282"/>
                  </a:cubicBezTo>
                  <a:lnTo>
                    <a:pt x="3863" y="10387"/>
                  </a:lnTo>
                  <a:lnTo>
                    <a:pt x="10530" y="3719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228975" y="2409825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47625" y="0"/>
                  </a:moveTo>
                  <a:cubicBezTo>
                    <a:pt x="52886" y="0"/>
                    <a:pt x="57150" y="4264"/>
                    <a:pt x="57150" y="9525"/>
                  </a:cubicBezTo>
                  <a:cubicBezTo>
                    <a:pt x="57150" y="25307"/>
                    <a:pt x="44357" y="38100"/>
                    <a:pt x="28575" y="38100"/>
                  </a:cubicBezTo>
                  <a:cubicBezTo>
                    <a:pt x="12793" y="38100"/>
                    <a:pt x="0" y="25307"/>
                    <a:pt x="0" y="9525"/>
                  </a:cubicBezTo>
                  <a:cubicBezTo>
                    <a:pt x="1" y="4696"/>
                    <a:pt x="3615" y="632"/>
                    <a:pt x="8411" y="67"/>
                  </a:cubicBezTo>
                  <a:lnTo>
                    <a:pt x="9525" y="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195554" y="2295525"/>
              <a:ext cx="123992" cy="104775"/>
            </a:xfrm>
            <a:custGeom>
              <a:avLst/>
              <a:gdLst/>
              <a:ahLst/>
              <a:cxnLst/>
              <a:rect l="l" t="t" r="r" b="b"/>
              <a:pathLst>
                <a:path w="123992" h="104775">
                  <a:moveTo>
                    <a:pt x="61996" y="0"/>
                  </a:moveTo>
                  <a:cubicBezTo>
                    <a:pt x="86595" y="0"/>
                    <a:pt x="108435" y="15741"/>
                    <a:pt x="116213" y="39078"/>
                  </a:cubicBezTo>
                  <a:cubicBezTo>
                    <a:pt x="123992" y="62414"/>
                    <a:pt x="115965" y="88111"/>
                    <a:pt x="96286" y="102870"/>
                  </a:cubicBezTo>
                  <a:cubicBezTo>
                    <a:pt x="94973" y="103856"/>
                    <a:pt x="93428" y="104486"/>
                    <a:pt x="91800" y="104699"/>
                  </a:cubicBezTo>
                  <a:lnTo>
                    <a:pt x="90571" y="104775"/>
                  </a:lnTo>
                  <a:lnTo>
                    <a:pt x="33421" y="104775"/>
                  </a:lnTo>
                  <a:cubicBezTo>
                    <a:pt x="31360" y="104775"/>
                    <a:pt x="29355" y="104107"/>
                    <a:pt x="27706" y="102870"/>
                  </a:cubicBezTo>
                  <a:cubicBezTo>
                    <a:pt x="8027" y="88111"/>
                    <a:pt x="0" y="62414"/>
                    <a:pt x="7779" y="39078"/>
                  </a:cubicBezTo>
                  <a:cubicBezTo>
                    <a:pt x="15558" y="15741"/>
                    <a:pt x="37397" y="0"/>
                    <a:pt x="61996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3469386" y="2275046"/>
            <a:ext cx="4994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Aider</a:t>
            </a:r>
          </a:p>
        </p:txBody>
      </p:sp>
      <p:sp>
        <p:nvSpPr>
          <p:cNvPr id="37" name="Freeform 37"/>
          <p:cNvSpPr/>
          <p:nvPr/>
        </p:nvSpPr>
        <p:spPr>
          <a:xfrm>
            <a:off x="5067300" y="2257394"/>
            <a:ext cx="190500" cy="190531"/>
          </a:xfrm>
          <a:custGeom>
            <a:avLst/>
            <a:gdLst/>
            <a:ahLst/>
            <a:cxnLst/>
            <a:rect l="l" t="t" r="r" b="b"/>
            <a:pathLst>
              <a:path w="190500" h="190531">
                <a:moveTo>
                  <a:pt x="95250" y="31"/>
                </a:moveTo>
                <a:cubicBezTo>
                  <a:pt x="117064" y="0"/>
                  <a:pt x="138223" y="7488"/>
                  <a:pt x="155162" y="21234"/>
                </a:cubicBezTo>
                <a:cubicBezTo>
                  <a:pt x="157327" y="22987"/>
                  <a:pt x="158616" y="25600"/>
                  <a:pt x="158689" y="28385"/>
                </a:cubicBezTo>
                <a:cubicBezTo>
                  <a:pt x="158762" y="31169"/>
                  <a:pt x="157613" y="33847"/>
                  <a:pt x="155543" y="35712"/>
                </a:cubicBezTo>
                <a:lnTo>
                  <a:pt x="141161" y="48685"/>
                </a:lnTo>
                <a:cubicBezTo>
                  <a:pt x="137792" y="51718"/>
                  <a:pt x="132752" y="51957"/>
                  <a:pt x="129111" y="49256"/>
                </a:cubicBezTo>
                <a:cubicBezTo>
                  <a:pt x="109248" y="34657"/>
                  <a:pt x="82262" y="34439"/>
                  <a:pt x="62166" y="48717"/>
                </a:cubicBezTo>
                <a:cubicBezTo>
                  <a:pt x="42070" y="62994"/>
                  <a:pt x="33393" y="88548"/>
                  <a:pt x="40642" y="112110"/>
                </a:cubicBezTo>
                <a:cubicBezTo>
                  <a:pt x="47890" y="135672"/>
                  <a:pt x="69430" y="151930"/>
                  <a:pt x="94076" y="152443"/>
                </a:cubicBezTo>
                <a:cubicBezTo>
                  <a:pt x="118722" y="152957"/>
                  <a:pt x="140920" y="137609"/>
                  <a:pt x="149142" y="114369"/>
                </a:cubicBezTo>
                <a:lnTo>
                  <a:pt x="149152" y="114331"/>
                </a:lnTo>
                <a:lnTo>
                  <a:pt x="114290" y="114331"/>
                </a:lnTo>
                <a:cubicBezTo>
                  <a:pt x="109465" y="114325"/>
                  <a:pt x="105406" y="110712"/>
                  <a:pt x="104842" y="105920"/>
                </a:cubicBezTo>
                <a:lnTo>
                  <a:pt x="104775" y="104806"/>
                </a:lnTo>
                <a:lnTo>
                  <a:pt x="104775" y="85756"/>
                </a:lnTo>
                <a:cubicBezTo>
                  <a:pt x="104775" y="80495"/>
                  <a:pt x="109039" y="76231"/>
                  <a:pt x="114300" y="76231"/>
                </a:cubicBezTo>
                <a:lnTo>
                  <a:pt x="180451" y="76231"/>
                </a:lnTo>
                <a:cubicBezTo>
                  <a:pt x="185306" y="76231"/>
                  <a:pt x="189385" y="79882"/>
                  <a:pt x="189919" y="84708"/>
                </a:cubicBezTo>
                <a:cubicBezTo>
                  <a:pt x="190300" y="88204"/>
                  <a:pt x="190500" y="91728"/>
                  <a:pt x="190500" y="95281"/>
                </a:cubicBezTo>
                <a:cubicBezTo>
                  <a:pt x="190500" y="147887"/>
                  <a:pt x="147857" y="190531"/>
                  <a:pt x="95250" y="190531"/>
                </a:cubicBezTo>
                <a:cubicBezTo>
                  <a:pt x="42643" y="190531"/>
                  <a:pt x="0" y="147887"/>
                  <a:pt x="0" y="95281"/>
                </a:cubicBezTo>
                <a:cubicBezTo>
                  <a:pt x="0" y="42674"/>
                  <a:pt x="42643" y="31"/>
                  <a:pt x="95250" y="3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374386" y="2275046"/>
            <a:ext cx="9387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Gemini CLI</a:t>
            </a:r>
          </a:p>
        </p:txBody>
      </p:sp>
      <p:sp>
        <p:nvSpPr>
          <p:cNvPr id="39" name="Freeform 39"/>
          <p:cNvSpPr/>
          <p:nvPr/>
        </p:nvSpPr>
        <p:spPr>
          <a:xfrm>
            <a:off x="6965014" y="2257397"/>
            <a:ext cx="204603" cy="183592"/>
          </a:xfrm>
          <a:custGeom>
            <a:avLst/>
            <a:gdLst/>
            <a:ahLst/>
            <a:cxnLst/>
            <a:rect l="l" t="t" r="r" b="b"/>
            <a:pathLst>
              <a:path w="204603" h="183592">
                <a:moveTo>
                  <a:pt x="105232" y="66"/>
                </a:moveTo>
                <a:cubicBezTo>
                  <a:pt x="149794" y="1307"/>
                  <a:pt x="187535" y="33290"/>
                  <a:pt x="196069" y="77045"/>
                </a:cubicBezTo>
                <a:cubicBezTo>
                  <a:pt x="204603" y="120800"/>
                  <a:pt x="181647" y="164622"/>
                  <a:pt x="140817" y="182518"/>
                </a:cubicBezTo>
                <a:cubicBezTo>
                  <a:pt x="138444" y="183556"/>
                  <a:pt x="135751" y="183584"/>
                  <a:pt x="133357" y="182594"/>
                </a:cubicBezTo>
                <a:cubicBezTo>
                  <a:pt x="130963" y="181603"/>
                  <a:pt x="129076" y="179681"/>
                  <a:pt x="128130" y="177269"/>
                </a:cubicBezTo>
                <a:lnTo>
                  <a:pt x="107242" y="123910"/>
                </a:lnTo>
                <a:cubicBezTo>
                  <a:pt x="105484" y="119428"/>
                  <a:pt x="107348" y="114339"/>
                  <a:pt x="111585" y="112052"/>
                </a:cubicBezTo>
                <a:cubicBezTo>
                  <a:pt x="119262" y="107908"/>
                  <a:pt x="123143" y="99079"/>
                  <a:pt x="121006" y="90621"/>
                </a:cubicBezTo>
                <a:cubicBezTo>
                  <a:pt x="118869" y="82163"/>
                  <a:pt x="111260" y="76238"/>
                  <a:pt x="102536" y="76238"/>
                </a:cubicBezTo>
                <a:cubicBezTo>
                  <a:pt x="93813" y="76238"/>
                  <a:pt x="86204" y="82163"/>
                  <a:pt x="84067" y="90621"/>
                </a:cubicBezTo>
                <a:cubicBezTo>
                  <a:pt x="81930" y="99079"/>
                  <a:pt x="85811" y="107908"/>
                  <a:pt x="93488" y="112052"/>
                </a:cubicBezTo>
                <a:cubicBezTo>
                  <a:pt x="97723" y="114335"/>
                  <a:pt x="99591" y="119418"/>
                  <a:pt x="97841" y="123901"/>
                </a:cubicBezTo>
                <a:lnTo>
                  <a:pt x="76952" y="177269"/>
                </a:lnTo>
                <a:cubicBezTo>
                  <a:pt x="76008" y="179683"/>
                  <a:pt x="74122" y="181607"/>
                  <a:pt x="71728" y="182599"/>
                </a:cubicBezTo>
                <a:cubicBezTo>
                  <a:pt x="69334" y="183592"/>
                  <a:pt x="66639" y="183565"/>
                  <a:pt x="64265" y="182527"/>
                </a:cubicBezTo>
                <a:cubicBezTo>
                  <a:pt x="22960" y="164437"/>
                  <a:pt x="0" y="119861"/>
                  <a:pt x="9255" y="75729"/>
                </a:cubicBezTo>
                <a:cubicBezTo>
                  <a:pt x="18510" y="31596"/>
                  <a:pt x="57444" y="0"/>
                  <a:pt x="102536" y="28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279386" y="2275046"/>
            <a:ext cx="16732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DeepSeek Harness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2952750"/>
            <a:ext cx="51435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2952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62000" y="3200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923661" y="3065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45" name="Ellipse 45"/>
          <p:cNvSpPr/>
          <p:nvPr/>
        </p:nvSpPr>
        <p:spPr>
          <a:xfrm>
            <a:off x="1000125" y="35242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231392" y="34928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代码解释</a:t>
            </a:r>
          </a:p>
        </p:txBody>
      </p:sp>
      <p:sp>
        <p:nvSpPr>
          <p:cNvPr id="47" name="Ellipse 47"/>
          <p:cNvSpPr/>
          <p:nvPr/>
        </p:nvSpPr>
        <p:spPr>
          <a:xfrm>
            <a:off x="1000125" y="38100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231392" y="37785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小功能开发</a:t>
            </a:r>
          </a:p>
        </p:txBody>
      </p:sp>
      <p:sp>
        <p:nvSpPr>
          <p:cNvPr id="49" name="Ellipse 49"/>
          <p:cNvSpPr/>
          <p:nvPr/>
        </p:nvSpPr>
        <p:spPr>
          <a:xfrm>
            <a:off x="1000125" y="40957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231392" y="4064318"/>
            <a:ext cx="7451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Bug 修复</a:t>
            </a:r>
          </a:p>
        </p:txBody>
      </p:sp>
      <p:sp>
        <p:nvSpPr>
          <p:cNvPr id="51" name="Ellipse 51"/>
          <p:cNvSpPr/>
          <p:nvPr/>
        </p:nvSpPr>
        <p:spPr>
          <a:xfrm>
            <a:off x="2809875" y="35242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041142" y="34928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单元测试</a:t>
            </a:r>
          </a:p>
        </p:txBody>
      </p:sp>
      <p:sp>
        <p:nvSpPr>
          <p:cNvPr id="53" name="Ellipse 53"/>
          <p:cNvSpPr/>
          <p:nvPr/>
        </p:nvSpPr>
        <p:spPr>
          <a:xfrm>
            <a:off x="2809875" y="38100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3041142" y="37785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重构建议</a:t>
            </a:r>
          </a:p>
        </p:txBody>
      </p:sp>
      <p:sp>
        <p:nvSpPr>
          <p:cNvPr id="55" name="Ellipse 55"/>
          <p:cNvSpPr/>
          <p:nvPr/>
        </p:nvSpPr>
        <p:spPr>
          <a:xfrm>
            <a:off x="2809875" y="40957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3041142" y="40643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脚本和工具制作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286500" y="2952750"/>
            <a:ext cx="51435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286500" y="2952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286500" y="3200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649586" y="3065621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65392" y="3473768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这类工具是开发人员最直接能感受到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5392" y="3759518"/>
            <a:ext cx="30641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提效的工具。基础培训已围绕 Copilot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5392" y="404526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展开，今天主要看其他工具各自特点。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62000" y="495300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1040892" y="5140642"/>
            <a:ext cx="76177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Copilot 是基础盘，适合全员日常使用。Cursor 和 Codex 更适合骨干或高频开发人员试点。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0DEB3D7-2023-6259-972C-9C150F41F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5" name="Ellipse 3">
            <a:extLst>
              <a:ext uri="{FF2B5EF4-FFF2-40B4-BE49-F238E27FC236}">
                <a16:creationId xmlns:a16="http://schemas.microsoft.com/office/drawing/2014/main" id="{91538C18-D2E5-291D-E263-83F86BB68220}"/>
              </a:ext>
            </a:extLst>
          </p:cNvPr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6" name="Ellipse 4">
            <a:extLst>
              <a:ext uri="{FF2B5EF4-FFF2-40B4-BE49-F238E27FC236}">
                <a16:creationId xmlns:a16="http://schemas.microsoft.com/office/drawing/2014/main" id="{F16A151F-5384-F4BA-B276-E1A728A73712}"/>
              </a:ext>
            </a:extLst>
          </p:cNvPr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4F93C3-007B-D681-38E0-BC5396F919B4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6D90B7-C861-3154-A902-D462C3C2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991" y="167540"/>
            <a:ext cx="4894018" cy="56372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F9090BD-1401-F463-316A-511B326A61D1}"/>
              </a:ext>
            </a:extLst>
          </p:cNvPr>
          <p:cNvSpPr txBox="1"/>
          <p:nvPr/>
        </p:nvSpPr>
        <p:spPr>
          <a:xfrm>
            <a:off x="1122651" y="6050170"/>
            <a:ext cx="9946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https://neusoft.feishu.cn/share/base/form/shrcnYaiLVV5Dwk5GJoQMUpNxOe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9533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453483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Copilot / Cursor / Codex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5836" y="117014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047750"/>
            <a:ext cx="42862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95286" y="1170146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143750" y="1047750"/>
            <a:ext cx="42862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78211" y="117014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特点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1905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085849" y="1876425"/>
            <a:ext cx="152402" cy="190501"/>
            <a:chOff x="1085849" y="1876425"/>
            <a:chExt cx="152402" cy="190501"/>
          </a:xfrm>
        </p:grpSpPr>
        <p:sp>
          <p:nvSpPr>
            <p:cNvPr id="15" name="Freeform 15"/>
            <p:cNvSpPr/>
            <p:nvPr/>
          </p:nvSpPr>
          <p:spPr>
            <a:xfrm>
              <a:off x="1085849" y="1876425"/>
              <a:ext cx="152402" cy="190501"/>
            </a:xfrm>
            <a:custGeom>
              <a:avLst/>
              <a:gdLst/>
              <a:ahLst/>
              <a:cxnLst/>
              <a:rect l="l" t="t" r="r" b="b"/>
              <a:pathLst>
                <a:path w="152402" h="190501">
                  <a:moveTo>
                    <a:pt x="76201" y="0"/>
                  </a:moveTo>
                  <a:lnTo>
                    <a:pt x="77315" y="67"/>
                  </a:lnTo>
                  <a:cubicBezTo>
                    <a:pt x="81692" y="583"/>
                    <a:pt x="85143" y="4034"/>
                    <a:pt x="85659" y="8411"/>
                  </a:cubicBezTo>
                  <a:lnTo>
                    <a:pt x="85726" y="9525"/>
                  </a:lnTo>
                  <a:lnTo>
                    <a:pt x="85726" y="47625"/>
                  </a:lnTo>
                  <a:lnTo>
                    <a:pt x="85773" y="49054"/>
                  </a:lnTo>
                  <a:cubicBezTo>
                    <a:pt x="86478" y="58425"/>
                    <a:pt x="93911" y="65883"/>
                    <a:pt x="103280" y="66618"/>
                  </a:cubicBezTo>
                  <a:lnTo>
                    <a:pt x="104776" y="66675"/>
                  </a:lnTo>
                  <a:lnTo>
                    <a:pt x="142876" y="66675"/>
                  </a:lnTo>
                  <a:lnTo>
                    <a:pt x="143990" y="66742"/>
                  </a:lnTo>
                  <a:cubicBezTo>
                    <a:pt x="148367" y="67258"/>
                    <a:pt x="151818" y="70709"/>
                    <a:pt x="152334" y="75086"/>
                  </a:cubicBezTo>
                  <a:lnTo>
                    <a:pt x="152401" y="76200"/>
                  </a:lnTo>
                  <a:lnTo>
                    <a:pt x="152401" y="161925"/>
                  </a:lnTo>
                  <a:cubicBezTo>
                    <a:pt x="152402" y="177056"/>
                    <a:pt x="140607" y="189565"/>
                    <a:pt x="125502" y="190452"/>
                  </a:cubicBezTo>
                  <a:lnTo>
                    <a:pt x="123826" y="190500"/>
                  </a:lnTo>
                  <a:lnTo>
                    <a:pt x="28576" y="190500"/>
                  </a:lnTo>
                  <a:cubicBezTo>
                    <a:pt x="13445" y="190501"/>
                    <a:pt x="936" y="178706"/>
                    <a:pt x="48" y="163601"/>
                  </a:cubicBezTo>
                  <a:lnTo>
                    <a:pt x="1" y="161925"/>
                  </a:lnTo>
                  <a:lnTo>
                    <a:pt x="1" y="28575"/>
                  </a:lnTo>
                  <a:cubicBezTo>
                    <a:pt x="0" y="13444"/>
                    <a:pt x="11794" y="935"/>
                    <a:pt x="26899" y="48"/>
                  </a:cubicBezTo>
                  <a:lnTo>
                    <a:pt x="28576" y="0"/>
                  </a:lnTo>
                  <a:close/>
                  <a:moveTo>
                    <a:pt x="61409" y="105785"/>
                  </a:moveTo>
                  <a:cubicBezTo>
                    <a:pt x="56705" y="103436"/>
                    <a:pt x="50989" y="105341"/>
                    <a:pt x="48635" y="110042"/>
                  </a:cubicBezTo>
                  <a:lnTo>
                    <a:pt x="39110" y="129092"/>
                  </a:lnTo>
                  <a:cubicBezTo>
                    <a:pt x="37771" y="131773"/>
                    <a:pt x="37771" y="134927"/>
                    <a:pt x="39110" y="137608"/>
                  </a:cubicBezTo>
                  <a:lnTo>
                    <a:pt x="48635" y="156658"/>
                  </a:lnTo>
                  <a:cubicBezTo>
                    <a:pt x="50989" y="161359"/>
                    <a:pt x="56705" y="163264"/>
                    <a:pt x="61409" y="160915"/>
                  </a:cubicBezTo>
                  <a:lnTo>
                    <a:pt x="62380" y="160363"/>
                  </a:lnTo>
                  <a:cubicBezTo>
                    <a:pt x="66414" y="157711"/>
                    <a:pt x="67826" y="152460"/>
                    <a:pt x="65666" y="148142"/>
                  </a:cubicBezTo>
                  <a:lnTo>
                    <a:pt x="58275" y="133350"/>
                  </a:lnTo>
                  <a:lnTo>
                    <a:pt x="65666" y="118558"/>
                  </a:lnTo>
                  <a:cubicBezTo>
                    <a:pt x="68015" y="113855"/>
                    <a:pt x="66109" y="108138"/>
                    <a:pt x="61409" y="105785"/>
                  </a:cubicBezTo>
                  <a:moveTo>
                    <a:pt x="103766" y="110042"/>
                  </a:moveTo>
                  <a:cubicBezTo>
                    <a:pt x="101413" y="105341"/>
                    <a:pt x="95696" y="103436"/>
                    <a:pt x="90993" y="105785"/>
                  </a:cubicBezTo>
                  <a:lnTo>
                    <a:pt x="90022" y="106337"/>
                  </a:lnTo>
                  <a:cubicBezTo>
                    <a:pt x="85988" y="108989"/>
                    <a:pt x="84576" y="114240"/>
                    <a:pt x="86735" y="118558"/>
                  </a:cubicBezTo>
                  <a:lnTo>
                    <a:pt x="94108" y="133350"/>
                  </a:lnTo>
                  <a:lnTo>
                    <a:pt x="86726" y="148142"/>
                  </a:lnTo>
                  <a:cubicBezTo>
                    <a:pt x="84568" y="152814"/>
                    <a:pt x="86511" y="158355"/>
                    <a:pt x="91113" y="160656"/>
                  </a:cubicBezTo>
                  <a:cubicBezTo>
                    <a:pt x="95716" y="162957"/>
                    <a:pt x="101314" y="161187"/>
                    <a:pt x="103757" y="156658"/>
                  </a:cubicBezTo>
                  <a:lnTo>
                    <a:pt x="113282" y="137608"/>
                  </a:lnTo>
                  <a:cubicBezTo>
                    <a:pt x="114621" y="134927"/>
                    <a:pt x="114621" y="131773"/>
                    <a:pt x="113282" y="12909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90615" y="1885940"/>
              <a:ext cx="38110" cy="38110"/>
            </a:xfrm>
            <a:custGeom>
              <a:avLst/>
              <a:gdLst/>
              <a:ahLst/>
              <a:cxnLst/>
              <a:rect l="l" t="t" r="r" b="b"/>
              <a:pathLst>
                <a:path w="38110" h="38110">
                  <a:moveTo>
                    <a:pt x="38110" y="38110"/>
                  </a:moveTo>
                  <a:lnTo>
                    <a:pt x="10" y="38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74267" y="1902142"/>
            <a:ext cx="13089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762250" y="1571625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945892" y="1806892"/>
            <a:ext cx="13002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IDE 内日常开发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43750" y="1571625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327392" y="180689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上手成本低，适合全员推广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2619375"/>
            <a:ext cx="190500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1066800" y="2924175"/>
            <a:ext cx="190500" cy="190500"/>
            <a:chOff x="1066800" y="2924175"/>
            <a:chExt cx="190500" cy="190500"/>
          </a:xfrm>
        </p:grpSpPr>
        <p:sp>
          <p:nvSpPr>
            <p:cNvPr id="24" name="Freeform 24"/>
            <p:cNvSpPr/>
            <p:nvPr/>
          </p:nvSpPr>
          <p:spPr>
            <a:xfrm>
              <a:off x="1104900" y="29241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34928"/>
                  </a:moveTo>
                  <a:cubicBezTo>
                    <a:pt x="0" y="15638"/>
                    <a:pt x="15638" y="0"/>
                    <a:pt x="34928" y="0"/>
                  </a:cubicBezTo>
                  <a:lnTo>
                    <a:pt x="117472" y="0"/>
                  </a:lnTo>
                  <a:cubicBezTo>
                    <a:pt x="126735" y="0"/>
                    <a:pt x="135619" y="3680"/>
                    <a:pt x="142170" y="10230"/>
                  </a:cubicBezTo>
                  <a:cubicBezTo>
                    <a:pt x="148720" y="16781"/>
                    <a:pt x="152400" y="25665"/>
                    <a:pt x="152400" y="34928"/>
                  </a:cubicBezTo>
                  <a:lnTo>
                    <a:pt x="152400" y="117472"/>
                  </a:lnTo>
                  <a:cubicBezTo>
                    <a:pt x="152400" y="126735"/>
                    <a:pt x="148720" y="135619"/>
                    <a:pt x="142170" y="142170"/>
                  </a:cubicBezTo>
                  <a:cubicBezTo>
                    <a:pt x="135619" y="148720"/>
                    <a:pt x="126735" y="152400"/>
                    <a:pt x="117472" y="152400"/>
                  </a:cubicBezTo>
                  <a:lnTo>
                    <a:pt x="34928" y="152400"/>
                  </a:lnTo>
                  <a:cubicBezTo>
                    <a:pt x="15638" y="152400"/>
                    <a:pt x="0" y="136762"/>
                    <a:pt x="0" y="11747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66800" y="2965681"/>
              <a:ext cx="150332" cy="148994"/>
            </a:xfrm>
            <a:custGeom>
              <a:avLst/>
              <a:gdLst/>
              <a:ahLst/>
              <a:cxnLst/>
              <a:rect l="l" t="t" r="r" b="b"/>
              <a:pathLst>
                <a:path w="150332" h="148994">
                  <a:moveTo>
                    <a:pt x="0" y="25169"/>
                  </a:moveTo>
                  <a:cubicBezTo>
                    <a:pt x="0" y="14749"/>
                    <a:pt x="5077" y="7757"/>
                    <a:pt x="14421" y="2557"/>
                  </a:cubicBezTo>
                  <a:cubicBezTo>
                    <a:pt x="19019" y="0"/>
                    <a:pt x="24818" y="1655"/>
                    <a:pt x="27375" y="6252"/>
                  </a:cubicBezTo>
                  <a:cubicBezTo>
                    <a:pt x="29931" y="10850"/>
                    <a:pt x="28277" y="16650"/>
                    <a:pt x="23679" y="19206"/>
                  </a:cubicBezTo>
                  <a:cubicBezTo>
                    <a:pt x="19888" y="21311"/>
                    <a:pt x="19050" y="22464"/>
                    <a:pt x="19050" y="25169"/>
                  </a:cubicBezTo>
                  <a:lnTo>
                    <a:pt x="19050" y="120419"/>
                  </a:lnTo>
                  <a:cubicBezTo>
                    <a:pt x="19050" y="125639"/>
                    <a:pt x="23355" y="129944"/>
                    <a:pt x="28575" y="129944"/>
                  </a:cubicBezTo>
                  <a:lnTo>
                    <a:pt x="123806" y="129944"/>
                  </a:lnTo>
                  <a:cubicBezTo>
                    <a:pt x="126854" y="129944"/>
                    <a:pt x="129692" y="128477"/>
                    <a:pt x="131474" y="126067"/>
                  </a:cubicBezTo>
                  <a:lnTo>
                    <a:pt x="132093" y="125115"/>
                  </a:lnTo>
                  <a:cubicBezTo>
                    <a:pt x="133777" y="122158"/>
                    <a:pt x="136911" y="120324"/>
                    <a:pt x="140315" y="120304"/>
                  </a:cubicBezTo>
                  <a:cubicBezTo>
                    <a:pt x="143718" y="120284"/>
                    <a:pt x="146873" y="122081"/>
                    <a:pt x="148592" y="125019"/>
                  </a:cubicBezTo>
                  <a:cubicBezTo>
                    <a:pt x="150310" y="127956"/>
                    <a:pt x="150332" y="131587"/>
                    <a:pt x="148647" y="134545"/>
                  </a:cubicBezTo>
                  <a:cubicBezTo>
                    <a:pt x="143571" y="143471"/>
                    <a:pt x="134094" y="148988"/>
                    <a:pt x="123825" y="148994"/>
                  </a:cubicBezTo>
                  <a:lnTo>
                    <a:pt x="28575" y="148994"/>
                  </a:lnTo>
                  <a:cubicBezTo>
                    <a:pt x="12840" y="148994"/>
                    <a:pt x="0" y="136154"/>
                    <a:pt x="0" y="120419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374267" y="2949892"/>
            <a:ext cx="6493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762250" y="2619375"/>
            <a:ext cx="428625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945892" y="2854642"/>
            <a:ext cx="945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AI 原生 IDE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43750" y="2619375"/>
            <a:ext cx="428625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27392" y="2854642"/>
            <a:ext cx="30922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代码库理解、Agent、并行任务体验强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667125"/>
            <a:ext cx="1905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1075293" y="3981450"/>
            <a:ext cx="173831" cy="171780"/>
          </a:xfrm>
          <a:custGeom>
            <a:avLst/>
            <a:gdLst/>
            <a:ahLst/>
            <a:cxnLst/>
            <a:rect l="l" t="t" r="r" b="b"/>
            <a:pathLst>
              <a:path w="173831" h="171780">
                <a:moveTo>
                  <a:pt x="171473" y="119567"/>
                </a:moveTo>
                <a:cubicBezTo>
                  <a:pt x="173822" y="124270"/>
                  <a:pt x="171916" y="129987"/>
                  <a:pt x="167215" y="132340"/>
                </a:cubicBezTo>
                <a:lnTo>
                  <a:pt x="91015" y="170440"/>
                </a:lnTo>
                <a:cubicBezTo>
                  <a:pt x="88335" y="171780"/>
                  <a:pt x="85180" y="171780"/>
                  <a:pt x="82500" y="170440"/>
                </a:cubicBezTo>
                <a:lnTo>
                  <a:pt x="6300" y="132340"/>
                </a:lnTo>
                <a:cubicBezTo>
                  <a:pt x="1770" y="129898"/>
                  <a:pt x="0" y="124300"/>
                  <a:pt x="2301" y="119697"/>
                </a:cubicBezTo>
                <a:cubicBezTo>
                  <a:pt x="4603" y="115094"/>
                  <a:pt x="10144" y="113152"/>
                  <a:pt x="14815" y="115310"/>
                </a:cubicBezTo>
                <a:lnTo>
                  <a:pt x="86757" y="151257"/>
                </a:lnTo>
                <a:lnTo>
                  <a:pt x="158709" y="115300"/>
                </a:lnTo>
                <a:cubicBezTo>
                  <a:pt x="163412" y="112951"/>
                  <a:pt x="169129" y="114857"/>
                  <a:pt x="171482" y="119558"/>
                </a:cubicBezTo>
                <a:moveTo>
                  <a:pt x="171482" y="81458"/>
                </a:moveTo>
                <a:cubicBezTo>
                  <a:pt x="173831" y="86161"/>
                  <a:pt x="171926" y="91878"/>
                  <a:pt x="167225" y="94231"/>
                </a:cubicBezTo>
                <a:lnTo>
                  <a:pt x="91025" y="132331"/>
                </a:lnTo>
                <a:cubicBezTo>
                  <a:pt x="88344" y="133670"/>
                  <a:pt x="85190" y="133670"/>
                  <a:pt x="82509" y="132331"/>
                </a:cubicBezTo>
                <a:lnTo>
                  <a:pt x="6309" y="94231"/>
                </a:lnTo>
                <a:cubicBezTo>
                  <a:pt x="1780" y="91788"/>
                  <a:pt x="10" y="86190"/>
                  <a:pt x="2311" y="81587"/>
                </a:cubicBezTo>
                <a:cubicBezTo>
                  <a:pt x="4612" y="76985"/>
                  <a:pt x="10153" y="75042"/>
                  <a:pt x="14825" y="77200"/>
                </a:cubicBezTo>
                <a:lnTo>
                  <a:pt x="86757" y="113157"/>
                </a:lnTo>
                <a:lnTo>
                  <a:pt x="158709" y="77200"/>
                </a:lnTo>
                <a:cubicBezTo>
                  <a:pt x="163412" y="74851"/>
                  <a:pt x="169129" y="76757"/>
                  <a:pt x="171482" y="81458"/>
                </a:cubicBezTo>
                <a:moveTo>
                  <a:pt x="86834" y="0"/>
                </a:moveTo>
                <a:cubicBezTo>
                  <a:pt x="87189" y="0"/>
                  <a:pt x="87542" y="22"/>
                  <a:pt x="87891" y="67"/>
                </a:cubicBezTo>
                <a:lnTo>
                  <a:pt x="88948" y="257"/>
                </a:lnTo>
                <a:lnTo>
                  <a:pt x="89767" y="486"/>
                </a:lnTo>
                <a:lnTo>
                  <a:pt x="89882" y="543"/>
                </a:lnTo>
                <a:lnTo>
                  <a:pt x="89996" y="562"/>
                </a:lnTo>
                <a:lnTo>
                  <a:pt x="90272" y="695"/>
                </a:lnTo>
                <a:lnTo>
                  <a:pt x="90748" y="876"/>
                </a:lnTo>
                <a:lnTo>
                  <a:pt x="90901" y="962"/>
                </a:lnTo>
                <a:lnTo>
                  <a:pt x="91015" y="1010"/>
                </a:lnTo>
                <a:lnTo>
                  <a:pt x="167215" y="39110"/>
                </a:lnTo>
                <a:cubicBezTo>
                  <a:pt x="170438" y="40725"/>
                  <a:pt x="172472" y="44020"/>
                  <a:pt x="172472" y="47625"/>
                </a:cubicBezTo>
                <a:cubicBezTo>
                  <a:pt x="172472" y="51230"/>
                  <a:pt x="170438" y="54525"/>
                  <a:pt x="167215" y="56140"/>
                </a:cubicBezTo>
                <a:lnTo>
                  <a:pt x="91015" y="94240"/>
                </a:lnTo>
                <a:cubicBezTo>
                  <a:pt x="88335" y="95580"/>
                  <a:pt x="85180" y="95580"/>
                  <a:pt x="82500" y="94240"/>
                </a:cubicBezTo>
                <a:lnTo>
                  <a:pt x="6300" y="56140"/>
                </a:lnTo>
                <a:cubicBezTo>
                  <a:pt x="3077" y="54525"/>
                  <a:pt x="1043" y="51230"/>
                  <a:pt x="1043" y="47625"/>
                </a:cubicBezTo>
                <a:cubicBezTo>
                  <a:pt x="1043" y="44020"/>
                  <a:pt x="3077" y="40725"/>
                  <a:pt x="6300" y="39110"/>
                </a:cubicBezTo>
                <a:lnTo>
                  <a:pt x="82500" y="1010"/>
                </a:lnTo>
                <a:lnTo>
                  <a:pt x="82605" y="962"/>
                </a:lnTo>
                <a:lnTo>
                  <a:pt x="82776" y="867"/>
                </a:lnTo>
                <a:lnTo>
                  <a:pt x="83519" y="562"/>
                </a:lnTo>
                <a:lnTo>
                  <a:pt x="83624" y="543"/>
                </a:lnTo>
                <a:lnTo>
                  <a:pt x="83748" y="486"/>
                </a:lnTo>
                <a:lnTo>
                  <a:pt x="84567" y="257"/>
                </a:lnTo>
                <a:lnTo>
                  <a:pt x="85614" y="67"/>
                </a:lnTo>
                <a:lnTo>
                  <a:pt x="86148" y="19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74267" y="3997642"/>
            <a:ext cx="5444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762250" y="3667125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945892" y="3902392"/>
            <a:ext cx="1133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Coding Agent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43750" y="3667125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327392" y="3902392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可处理较完整任务，适合任务委托和验证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495300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40892" y="5140642"/>
            <a:ext cx="75015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Copilot 是基础盘。Cursor 和 Codex 更适合骨干试点，看 Agent 化开发能做到什么程度。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681828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Cline / OpenCode / Aider / Gemini CLI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5836" y="117014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047750"/>
            <a:ext cx="42862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95286" y="1170146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143750" y="1047750"/>
            <a:ext cx="42862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78211" y="117014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特点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19050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5642" y="1873568"/>
            <a:ext cx="447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Cline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762250" y="1571625"/>
            <a:ext cx="428625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945892" y="1873568"/>
            <a:ext cx="12471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VS Code Agent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143750" y="1571625"/>
            <a:ext cx="428625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327392" y="1873568"/>
            <a:ext cx="398165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Plan/Act、MCP、多模型、适合演示 Agent 流程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381250"/>
            <a:ext cx="190500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5642" y="2683192"/>
            <a:ext cx="903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762250" y="2381250"/>
            <a:ext cx="428625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945892" y="2683192"/>
            <a:ext cx="941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终端 Agent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143750" y="2381250"/>
            <a:ext cx="428625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327392" y="268319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开源、终端优先、支持多模型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190875"/>
            <a:ext cx="190500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5642" y="3492818"/>
            <a:ext cx="4961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Aider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762250" y="3190875"/>
            <a:ext cx="428625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945892" y="3492818"/>
            <a:ext cx="19821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终端 Pair Programming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43750" y="3190875"/>
            <a:ext cx="4286250" cy="714375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27392" y="3492818"/>
            <a:ext cx="21801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Git 集成好，适合小步修改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000500"/>
            <a:ext cx="190500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45642" y="4302442"/>
            <a:ext cx="9331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Gemini CLI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762250" y="4000500"/>
            <a:ext cx="428625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945892" y="4302442"/>
            <a:ext cx="941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终端 Agent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143750" y="4000500"/>
            <a:ext cx="4286250" cy="714375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327392" y="4302442"/>
            <a:ext cx="34392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长上下文、MCP、Google Search、脚本化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000625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40892" y="5188268"/>
            <a:ext cx="62994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适合开发骨干体验，帮助理解 Agent 工作方式：先计划、再修改、再验证。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52573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DeepSeek Harness（新公布）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963283" y="1160437"/>
            <a:ext cx="187553" cy="168292"/>
          </a:xfrm>
          <a:custGeom>
            <a:avLst/>
            <a:gdLst/>
            <a:ahLst/>
            <a:cxnLst/>
            <a:rect l="l" t="t" r="r" b="b"/>
            <a:pathLst>
              <a:path w="187553" h="168292">
                <a:moveTo>
                  <a:pt x="96463" y="61"/>
                </a:moveTo>
                <a:cubicBezTo>
                  <a:pt x="137312" y="1198"/>
                  <a:pt x="171907" y="30516"/>
                  <a:pt x="179730" y="70625"/>
                </a:cubicBezTo>
                <a:cubicBezTo>
                  <a:pt x="187553" y="110734"/>
                  <a:pt x="166510" y="150903"/>
                  <a:pt x="129083" y="167308"/>
                </a:cubicBezTo>
                <a:cubicBezTo>
                  <a:pt x="126907" y="168260"/>
                  <a:pt x="124438" y="168285"/>
                  <a:pt x="122244" y="167378"/>
                </a:cubicBezTo>
                <a:cubicBezTo>
                  <a:pt x="120050" y="166470"/>
                  <a:pt x="118320" y="164708"/>
                  <a:pt x="117453" y="162497"/>
                </a:cubicBezTo>
                <a:lnTo>
                  <a:pt x="98305" y="113584"/>
                </a:lnTo>
                <a:cubicBezTo>
                  <a:pt x="96694" y="109475"/>
                  <a:pt x="98403" y="104810"/>
                  <a:pt x="102286" y="102714"/>
                </a:cubicBezTo>
                <a:cubicBezTo>
                  <a:pt x="109323" y="98916"/>
                  <a:pt x="112881" y="90823"/>
                  <a:pt x="110922" y="83070"/>
                </a:cubicBezTo>
                <a:cubicBezTo>
                  <a:pt x="108963" y="75317"/>
                  <a:pt x="101988" y="69885"/>
                  <a:pt x="93992" y="69885"/>
                </a:cubicBezTo>
                <a:cubicBezTo>
                  <a:pt x="85995" y="69885"/>
                  <a:pt x="79020" y="75317"/>
                  <a:pt x="77061" y="83070"/>
                </a:cubicBezTo>
                <a:cubicBezTo>
                  <a:pt x="75102" y="90823"/>
                  <a:pt x="78660" y="98916"/>
                  <a:pt x="85697" y="102714"/>
                </a:cubicBezTo>
                <a:cubicBezTo>
                  <a:pt x="89580" y="104807"/>
                  <a:pt x="91292" y="109467"/>
                  <a:pt x="89687" y="113576"/>
                </a:cubicBezTo>
                <a:lnTo>
                  <a:pt x="70540" y="162497"/>
                </a:lnTo>
                <a:cubicBezTo>
                  <a:pt x="69674" y="164709"/>
                  <a:pt x="67945" y="166473"/>
                  <a:pt x="65751" y="167383"/>
                </a:cubicBezTo>
                <a:cubicBezTo>
                  <a:pt x="63556" y="168292"/>
                  <a:pt x="61086" y="168268"/>
                  <a:pt x="58910" y="167317"/>
                </a:cubicBezTo>
                <a:cubicBezTo>
                  <a:pt x="21047" y="150734"/>
                  <a:pt x="0" y="109873"/>
                  <a:pt x="8484" y="69418"/>
                </a:cubicBezTo>
                <a:cubicBezTo>
                  <a:pt x="16967" y="28963"/>
                  <a:pt x="52657" y="0"/>
                  <a:pt x="93992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923661" y="1160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工具特点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72997" y="1693069"/>
            <a:ext cx="159345" cy="157465"/>
          </a:xfrm>
          <a:custGeom>
            <a:avLst/>
            <a:gdLst/>
            <a:ahLst/>
            <a:cxnLst/>
            <a:rect l="l" t="t" r="r" b="b"/>
            <a:pathLst>
              <a:path w="159345" h="157465">
                <a:moveTo>
                  <a:pt x="157183" y="109603"/>
                </a:moveTo>
                <a:cubicBezTo>
                  <a:pt x="159336" y="113915"/>
                  <a:pt x="157590" y="119155"/>
                  <a:pt x="153281" y="121312"/>
                </a:cubicBezTo>
                <a:lnTo>
                  <a:pt x="83431" y="156237"/>
                </a:lnTo>
                <a:cubicBezTo>
                  <a:pt x="80974" y="157465"/>
                  <a:pt x="78082" y="157465"/>
                  <a:pt x="75625" y="156237"/>
                </a:cubicBezTo>
                <a:lnTo>
                  <a:pt x="5775" y="121312"/>
                </a:lnTo>
                <a:cubicBezTo>
                  <a:pt x="1623" y="119073"/>
                  <a:pt x="0" y="113941"/>
                  <a:pt x="2110" y="109722"/>
                </a:cubicBezTo>
                <a:cubicBezTo>
                  <a:pt x="4219" y="105503"/>
                  <a:pt x="9298" y="103722"/>
                  <a:pt x="13581" y="105701"/>
                </a:cubicBezTo>
                <a:lnTo>
                  <a:pt x="79528" y="138652"/>
                </a:lnTo>
                <a:lnTo>
                  <a:pt x="145484" y="105692"/>
                </a:lnTo>
                <a:cubicBezTo>
                  <a:pt x="149795" y="103539"/>
                  <a:pt x="155035" y="105286"/>
                  <a:pt x="157192" y="109595"/>
                </a:cubicBezTo>
                <a:moveTo>
                  <a:pt x="157192" y="74670"/>
                </a:moveTo>
                <a:cubicBezTo>
                  <a:pt x="159345" y="78981"/>
                  <a:pt x="157598" y="84221"/>
                  <a:pt x="153289" y="86378"/>
                </a:cubicBezTo>
                <a:lnTo>
                  <a:pt x="83439" y="121303"/>
                </a:lnTo>
                <a:cubicBezTo>
                  <a:pt x="80982" y="122531"/>
                  <a:pt x="78091" y="122531"/>
                  <a:pt x="75634" y="121303"/>
                </a:cubicBezTo>
                <a:lnTo>
                  <a:pt x="5784" y="86378"/>
                </a:lnTo>
                <a:cubicBezTo>
                  <a:pt x="1632" y="84139"/>
                  <a:pt x="9" y="79008"/>
                  <a:pt x="2118" y="74788"/>
                </a:cubicBezTo>
                <a:cubicBezTo>
                  <a:pt x="4228" y="70569"/>
                  <a:pt x="9307" y="68789"/>
                  <a:pt x="13589" y="70767"/>
                </a:cubicBezTo>
                <a:lnTo>
                  <a:pt x="79528" y="103727"/>
                </a:lnTo>
                <a:lnTo>
                  <a:pt x="145484" y="70767"/>
                </a:lnTo>
                <a:cubicBezTo>
                  <a:pt x="149795" y="68614"/>
                  <a:pt x="155035" y="70361"/>
                  <a:pt x="157192" y="74670"/>
                </a:cubicBezTo>
                <a:moveTo>
                  <a:pt x="79598" y="0"/>
                </a:moveTo>
                <a:cubicBezTo>
                  <a:pt x="79924" y="0"/>
                  <a:pt x="80247" y="20"/>
                  <a:pt x="80567" y="61"/>
                </a:cubicBezTo>
                <a:lnTo>
                  <a:pt x="81536" y="236"/>
                </a:lnTo>
                <a:lnTo>
                  <a:pt x="82287" y="445"/>
                </a:lnTo>
                <a:lnTo>
                  <a:pt x="82392" y="498"/>
                </a:lnTo>
                <a:lnTo>
                  <a:pt x="82496" y="515"/>
                </a:lnTo>
                <a:lnTo>
                  <a:pt x="82750" y="637"/>
                </a:lnTo>
                <a:lnTo>
                  <a:pt x="83186" y="803"/>
                </a:lnTo>
                <a:lnTo>
                  <a:pt x="83326" y="882"/>
                </a:lnTo>
                <a:lnTo>
                  <a:pt x="83431" y="926"/>
                </a:lnTo>
                <a:lnTo>
                  <a:pt x="153281" y="35851"/>
                </a:lnTo>
                <a:cubicBezTo>
                  <a:pt x="156235" y="37331"/>
                  <a:pt x="158100" y="40352"/>
                  <a:pt x="158100" y="43656"/>
                </a:cubicBezTo>
                <a:cubicBezTo>
                  <a:pt x="158100" y="46960"/>
                  <a:pt x="156235" y="49982"/>
                  <a:pt x="153281" y="51462"/>
                </a:cubicBezTo>
                <a:lnTo>
                  <a:pt x="83431" y="86387"/>
                </a:lnTo>
                <a:cubicBezTo>
                  <a:pt x="80974" y="87615"/>
                  <a:pt x="78082" y="87615"/>
                  <a:pt x="75625" y="86387"/>
                </a:cubicBezTo>
                <a:lnTo>
                  <a:pt x="5775" y="51462"/>
                </a:lnTo>
                <a:cubicBezTo>
                  <a:pt x="2821" y="49982"/>
                  <a:pt x="956" y="46960"/>
                  <a:pt x="956" y="43656"/>
                </a:cubicBezTo>
                <a:cubicBezTo>
                  <a:pt x="956" y="40352"/>
                  <a:pt x="2821" y="37331"/>
                  <a:pt x="5775" y="35851"/>
                </a:cubicBezTo>
                <a:lnTo>
                  <a:pt x="75625" y="926"/>
                </a:lnTo>
                <a:lnTo>
                  <a:pt x="75721" y="882"/>
                </a:lnTo>
                <a:lnTo>
                  <a:pt x="75878" y="795"/>
                </a:lnTo>
                <a:lnTo>
                  <a:pt x="76559" y="515"/>
                </a:lnTo>
                <a:lnTo>
                  <a:pt x="76655" y="498"/>
                </a:lnTo>
                <a:lnTo>
                  <a:pt x="76769" y="445"/>
                </a:lnTo>
                <a:lnTo>
                  <a:pt x="77520" y="236"/>
                </a:lnTo>
                <a:lnTo>
                  <a:pt x="78480" y="61"/>
                </a:lnTo>
                <a:lnTo>
                  <a:pt x="78969" y="1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74267" y="1702118"/>
            <a:ext cx="36870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DeepSeek 官方开源 Agent 框架（命令 dsh）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65213" y="206142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3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87313" y="38836"/>
                </a:moveTo>
                <a:cubicBezTo>
                  <a:pt x="82886" y="38837"/>
                  <a:pt x="79160" y="42150"/>
                  <a:pt x="78642" y="46546"/>
                </a:cubicBezTo>
                <a:lnTo>
                  <a:pt x="78581" y="47567"/>
                </a:lnTo>
                <a:lnTo>
                  <a:pt x="78581" y="91224"/>
                </a:lnTo>
                <a:lnTo>
                  <a:pt x="78660" y="92367"/>
                </a:lnTo>
                <a:cubicBezTo>
                  <a:pt x="78859" y="93882"/>
                  <a:pt x="79452" y="95318"/>
                  <a:pt x="80380" y="96532"/>
                </a:cubicBezTo>
                <a:lnTo>
                  <a:pt x="81140" y="97405"/>
                </a:lnTo>
                <a:lnTo>
                  <a:pt x="107333" y="123599"/>
                </a:lnTo>
                <a:lnTo>
                  <a:pt x="108154" y="124315"/>
                </a:lnTo>
                <a:cubicBezTo>
                  <a:pt x="111304" y="126759"/>
                  <a:pt x="115709" y="126759"/>
                  <a:pt x="118859" y="124315"/>
                </a:cubicBezTo>
                <a:lnTo>
                  <a:pt x="119679" y="123590"/>
                </a:lnTo>
                <a:lnTo>
                  <a:pt x="120404" y="122770"/>
                </a:lnTo>
                <a:cubicBezTo>
                  <a:pt x="122848" y="119620"/>
                  <a:pt x="122848" y="115215"/>
                  <a:pt x="120404" y="112065"/>
                </a:cubicBezTo>
                <a:lnTo>
                  <a:pt x="119679" y="111244"/>
                </a:lnTo>
                <a:lnTo>
                  <a:pt x="96044" y="87600"/>
                </a:lnTo>
                <a:lnTo>
                  <a:pt x="96044" y="47567"/>
                </a:lnTo>
                <a:lnTo>
                  <a:pt x="95983" y="46546"/>
                </a:lnTo>
                <a:cubicBezTo>
                  <a:pt x="95465" y="42150"/>
                  <a:pt x="91739" y="38837"/>
                  <a:pt x="87313" y="38836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74267" y="2083118"/>
            <a:ext cx="34848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刚进入 developer preview，值得持续观察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59153" y="2440278"/>
            <a:ext cx="186744" cy="186744"/>
          </a:xfrm>
          <a:custGeom>
            <a:avLst/>
            <a:gdLst/>
            <a:ahLst/>
            <a:cxnLst/>
            <a:rect l="l" t="t" r="r" b="b"/>
            <a:pathLst>
              <a:path w="186744" h="186744">
                <a:moveTo>
                  <a:pt x="116484" y="24229"/>
                </a:moveTo>
                <a:cubicBezTo>
                  <a:pt x="116959" y="26190"/>
                  <a:pt x="118341" y="27807"/>
                  <a:pt x="120205" y="28580"/>
                </a:cubicBezTo>
                <a:cubicBezTo>
                  <a:pt x="122069" y="29353"/>
                  <a:pt x="124190" y="29190"/>
                  <a:pt x="125913" y="28141"/>
                </a:cubicBezTo>
                <a:cubicBezTo>
                  <a:pt x="147209" y="15175"/>
                  <a:pt x="171578" y="39535"/>
                  <a:pt x="158612" y="60831"/>
                </a:cubicBezTo>
                <a:cubicBezTo>
                  <a:pt x="157563" y="62553"/>
                  <a:pt x="157399" y="64673"/>
                  <a:pt x="158170" y="66536"/>
                </a:cubicBezTo>
                <a:cubicBezTo>
                  <a:pt x="158941" y="68399"/>
                  <a:pt x="160555" y="69783"/>
                  <a:pt x="162515" y="70260"/>
                </a:cubicBezTo>
                <a:cubicBezTo>
                  <a:pt x="186744" y="76137"/>
                  <a:pt x="186744" y="110599"/>
                  <a:pt x="162515" y="116484"/>
                </a:cubicBezTo>
                <a:cubicBezTo>
                  <a:pt x="160554" y="116959"/>
                  <a:pt x="158938" y="118341"/>
                  <a:pt x="158164" y="120205"/>
                </a:cubicBezTo>
                <a:cubicBezTo>
                  <a:pt x="157391" y="122069"/>
                  <a:pt x="157554" y="124190"/>
                  <a:pt x="158603" y="125913"/>
                </a:cubicBezTo>
                <a:cubicBezTo>
                  <a:pt x="171569" y="147209"/>
                  <a:pt x="147209" y="171578"/>
                  <a:pt x="125913" y="158612"/>
                </a:cubicBezTo>
                <a:cubicBezTo>
                  <a:pt x="124191" y="157563"/>
                  <a:pt x="122071" y="157399"/>
                  <a:pt x="120208" y="158170"/>
                </a:cubicBezTo>
                <a:cubicBezTo>
                  <a:pt x="118345" y="158941"/>
                  <a:pt x="116961" y="160555"/>
                  <a:pt x="116484" y="162515"/>
                </a:cubicBezTo>
                <a:cubicBezTo>
                  <a:pt x="110608" y="186744"/>
                  <a:pt x="76145" y="186744"/>
                  <a:pt x="70260" y="162515"/>
                </a:cubicBezTo>
                <a:cubicBezTo>
                  <a:pt x="69785" y="160554"/>
                  <a:pt x="68403" y="158938"/>
                  <a:pt x="66539" y="158164"/>
                </a:cubicBezTo>
                <a:cubicBezTo>
                  <a:pt x="64675" y="157391"/>
                  <a:pt x="62554" y="157554"/>
                  <a:pt x="60831" y="158603"/>
                </a:cubicBezTo>
                <a:cubicBezTo>
                  <a:pt x="39535" y="171569"/>
                  <a:pt x="15166" y="147209"/>
                  <a:pt x="28132" y="125913"/>
                </a:cubicBezTo>
                <a:cubicBezTo>
                  <a:pt x="29181" y="124191"/>
                  <a:pt x="29345" y="122071"/>
                  <a:pt x="28574" y="120208"/>
                </a:cubicBezTo>
                <a:cubicBezTo>
                  <a:pt x="27803" y="118345"/>
                  <a:pt x="26189" y="116961"/>
                  <a:pt x="24229" y="116484"/>
                </a:cubicBezTo>
                <a:cubicBezTo>
                  <a:pt x="0" y="110608"/>
                  <a:pt x="0" y="76145"/>
                  <a:pt x="24229" y="70260"/>
                </a:cubicBezTo>
                <a:cubicBezTo>
                  <a:pt x="26190" y="69785"/>
                  <a:pt x="27807" y="68403"/>
                  <a:pt x="28580" y="66539"/>
                </a:cubicBezTo>
                <a:cubicBezTo>
                  <a:pt x="29353" y="64675"/>
                  <a:pt x="29190" y="62554"/>
                  <a:pt x="28141" y="60831"/>
                </a:cubicBezTo>
                <a:cubicBezTo>
                  <a:pt x="15175" y="39535"/>
                  <a:pt x="39535" y="15166"/>
                  <a:pt x="60831" y="28132"/>
                </a:cubicBezTo>
                <a:cubicBezTo>
                  <a:pt x="62552" y="29189"/>
                  <a:pt x="64675" y="29358"/>
                  <a:pt x="66541" y="28585"/>
                </a:cubicBezTo>
                <a:cubicBezTo>
                  <a:pt x="68407" y="27813"/>
                  <a:pt x="69790" y="26193"/>
                  <a:pt x="70260" y="24229"/>
                </a:cubicBezTo>
                <a:cubicBezTo>
                  <a:pt x="76137" y="0"/>
                  <a:pt x="110599" y="0"/>
                  <a:pt x="116484" y="24229"/>
                </a:cubicBezTo>
                <a:close/>
                <a:moveTo>
                  <a:pt x="93372" y="67178"/>
                </a:moveTo>
                <a:cubicBezTo>
                  <a:pt x="78906" y="67178"/>
                  <a:pt x="67178" y="78906"/>
                  <a:pt x="67178" y="93372"/>
                </a:cubicBezTo>
                <a:cubicBezTo>
                  <a:pt x="67178" y="107838"/>
                  <a:pt x="78906" y="119566"/>
                  <a:pt x="93372" y="119566"/>
                </a:cubicBezTo>
                <a:cubicBezTo>
                  <a:pt x="107838" y="119566"/>
                  <a:pt x="119566" y="107838"/>
                  <a:pt x="119566" y="93372"/>
                </a:cubicBezTo>
                <a:cubicBezTo>
                  <a:pt x="119566" y="78906"/>
                  <a:pt x="107838" y="67178"/>
                  <a:pt x="93372" y="67178"/>
                </a:cubicBezTo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74267" y="246411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插件化架构：工具、模型、文件访问、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4267" y="2711768"/>
            <a:ext cx="16770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Agent 循环都可扩展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65210" y="3113087"/>
            <a:ext cx="175058" cy="174629"/>
          </a:xfrm>
          <a:custGeom>
            <a:avLst/>
            <a:gdLst/>
            <a:ahLst/>
            <a:cxnLst/>
            <a:rect l="l" t="t" r="r" b="b"/>
            <a:pathLst>
              <a:path w="175058" h="174629">
                <a:moveTo>
                  <a:pt x="69853" y="1"/>
                </a:moveTo>
                <a:cubicBezTo>
                  <a:pt x="83723" y="0"/>
                  <a:pt x="95189" y="10812"/>
                  <a:pt x="96003" y="24658"/>
                </a:cubicBezTo>
                <a:lnTo>
                  <a:pt x="96047" y="26195"/>
                </a:lnTo>
                <a:lnTo>
                  <a:pt x="96047" y="34926"/>
                </a:lnTo>
                <a:lnTo>
                  <a:pt x="122240" y="34926"/>
                </a:lnTo>
                <a:cubicBezTo>
                  <a:pt x="131379" y="34923"/>
                  <a:pt x="138974" y="41966"/>
                  <a:pt x="139659" y="51079"/>
                </a:cubicBezTo>
                <a:lnTo>
                  <a:pt x="139703" y="52388"/>
                </a:lnTo>
                <a:lnTo>
                  <a:pt x="139703" y="78582"/>
                </a:lnTo>
                <a:lnTo>
                  <a:pt x="148434" y="78582"/>
                </a:lnTo>
                <a:cubicBezTo>
                  <a:pt x="162611" y="78568"/>
                  <a:pt x="174226" y="89836"/>
                  <a:pt x="174642" y="104007"/>
                </a:cubicBezTo>
                <a:cubicBezTo>
                  <a:pt x="175058" y="118178"/>
                  <a:pt x="164124" y="130108"/>
                  <a:pt x="149971" y="130926"/>
                </a:cubicBezTo>
                <a:lnTo>
                  <a:pt x="148434" y="130970"/>
                </a:lnTo>
                <a:lnTo>
                  <a:pt x="139703" y="130970"/>
                </a:lnTo>
                <a:lnTo>
                  <a:pt x="139703" y="157163"/>
                </a:lnTo>
                <a:cubicBezTo>
                  <a:pt x="139706" y="166302"/>
                  <a:pt x="132663" y="173897"/>
                  <a:pt x="123550" y="174582"/>
                </a:cubicBezTo>
                <a:lnTo>
                  <a:pt x="122240" y="174626"/>
                </a:lnTo>
                <a:lnTo>
                  <a:pt x="96047" y="174626"/>
                </a:lnTo>
                <a:cubicBezTo>
                  <a:pt x="86908" y="174629"/>
                  <a:pt x="79313" y="167586"/>
                  <a:pt x="78628" y="158473"/>
                </a:cubicBezTo>
                <a:lnTo>
                  <a:pt x="78584" y="157163"/>
                </a:lnTo>
                <a:lnTo>
                  <a:pt x="78584" y="148432"/>
                </a:lnTo>
                <a:cubicBezTo>
                  <a:pt x="78579" y="143812"/>
                  <a:pt x="74976" y="139996"/>
                  <a:pt x="70365" y="139726"/>
                </a:cubicBezTo>
                <a:cubicBezTo>
                  <a:pt x="65753" y="139455"/>
                  <a:pt x="61728" y="142823"/>
                  <a:pt x="61183" y="147411"/>
                </a:cubicBezTo>
                <a:lnTo>
                  <a:pt x="61122" y="148432"/>
                </a:lnTo>
                <a:lnTo>
                  <a:pt x="61122" y="157163"/>
                </a:lnTo>
                <a:cubicBezTo>
                  <a:pt x="61125" y="166302"/>
                  <a:pt x="54081" y="173897"/>
                  <a:pt x="44969" y="174582"/>
                </a:cubicBezTo>
                <a:lnTo>
                  <a:pt x="43659" y="174626"/>
                </a:lnTo>
                <a:lnTo>
                  <a:pt x="17465" y="174626"/>
                </a:lnTo>
                <a:cubicBezTo>
                  <a:pt x="8327" y="174629"/>
                  <a:pt x="732" y="167586"/>
                  <a:pt x="47" y="158473"/>
                </a:cubicBezTo>
                <a:lnTo>
                  <a:pt x="3" y="157163"/>
                </a:lnTo>
                <a:lnTo>
                  <a:pt x="3" y="130970"/>
                </a:lnTo>
                <a:cubicBezTo>
                  <a:pt x="0" y="121831"/>
                  <a:pt x="7043" y="114236"/>
                  <a:pt x="16156" y="113551"/>
                </a:cubicBezTo>
                <a:lnTo>
                  <a:pt x="17465" y="113507"/>
                </a:lnTo>
                <a:lnTo>
                  <a:pt x="26197" y="113507"/>
                </a:lnTo>
                <a:cubicBezTo>
                  <a:pt x="30816" y="113502"/>
                  <a:pt x="34632" y="109899"/>
                  <a:pt x="34903" y="105288"/>
                </a:cubicBezTo>
                <a:cubicBezTo>
                  <a:pt x="35174" y="100676"/>
                  <a:pt x="31806" y="96651"/>
                  <a:pt x="27218" y="96106"/>
                </a:cubicBezTo>
                <a:lnTo>
                  <a:pt x="26197" y="96045"/>
                </a:lnTo>
                <a:lnTo>
                  <a:pt x="17465" y="96045"/>
                </a:lnTo>
                <a:cubicBezTo>
                  <a:pt x="8327" y="96047"/>
                  <a:pt x="732" y="89004"/>
                  <a:pt x="47" y="79892"/>
                </a:cubicBezTo>
                <a:lnTo>
                  <a:pt x="3" y="78582"/>
                </a:lnTo>
                <a:lnTo>
                  <a:pt x="3" y="52388"/>
                </a:lnTo>
                <a:cubicBezTo>
                  <a:pt x="0" y="43250"/>
                  <a:pt x="7043" y="35655"/>
                  <a:pt x="16156" y="34969"/>
                </a:cubicBezTo>
                <a:lnTo>
                  <a:pt x="17465" y="34926"/>
                </a:lnTo>
                <a:lnTo>
                  <a:pt x="43659" y="34926"/>
                </a:lnTo>
                <a:lnTo>
                  <a:pt x="43659" y="26195"/>
                </a:lnTo>
                <a:cubicBezTo>
                  <a:pt x="43659" y="11728"/>
                  <a:pt x="55387" y="1"/>
                  <a:pt x="69853" y="1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74267" y="3130868"/>
            <a:ext cx="41185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 MCP、hooks、子 Agent、Web UI / 无头模式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82674" y="3494088"/>
            <a:ext cx="139702" cy="174626"/>
            <a:chOff x="1082674" y="3494088"/>
            <a:chExt cx="139702" cy="174626"/>
          </a:xfrm>
        </p:grpSpPr>
        <p:sp>
          <p:nvSpPr>
            <p:cNvPr id="22" name="Freeform 22"/>
            <p:cNvSpPr/>
            <p:nvPr/>
          </p:nvSpPr>
          <p:spPr>
            <a:xfrm>
              <a:off x="1082674" y="3494088"/>
              <a:ext cx="139702" cy="174626"/>
            </a:xfrm>
            <a:custGeom>
              <a:avLst/>
              <a:gdLst/>
              <a:ahLst/>
              <a:cxnLst/>
              <a:rect l="l" t="t" r="r" b="b"/>
              <a:pathLst>
                <a:path w="139702" h="174626">
                  <a:moveTo>
                    <a:pt x="69851" y="0"/>
                  </a:moveTo>
                  <a:lnTo>
                    <a:pt x="70872" y="61"/>
                  </a:lnTo>
                  <a:cubicBezTo>
                    <a:pt x="74884" y="534"/>
                    <a:pt x="78048" y="3698"/>
                    <a:pt x="78521" y="7710"/>
                  </a:cubicBezTo>
                  <a:lnTo>
                    <a:pt x="78582" y="8731"/>
                  </a:lnTo>
                  <a:lnTo>
                    <a:pt x="78582" y="43656"/>
                  </a:lnTo>
                  <a:lnTo>
                    <a:pt x="78626" y="44966"/>
                  </a:lnTo>
                  <a:cubicBezTo>
                    <a:pt x="79271" y="53557"/>
                    <a:pt x="86085" y="60393"/>
                    <a:pt x="94674" y="61066"/>
                  </a:cubicBezTo>
                  <a:lnTo>
                    <a:pt x="96045" y="61119"/>
                  </a:lnTo>
                  <a:lnTo>
                    <a:pt x="130970" y="61119"/>
                  </a:lnTo>
                  <a:lnTo>
                    <a:pt x="131991" y="61180"/>
                  </a:lnTo>
                  <a:cubicBezTo>
                    <a:pt x="136003" y="61653"/>
                    <a:pt x="139167" y="64817"/>
                    <a:pt x="139640" y="68828"/>
                  </a:cubicBezTo>
                  <a:lnTo>
                    <a:pt x="139701" y="69850"/>
                  </a:lnTo>
                  <a:lnTo>
                    <a:pt x="139701" y="148431"/>
                  </a:lnTo>
                  <a:cubicBezTo>
                    <a:pt x="139702" y="162301"/>
                    <a:pt x="128890" y="173768"/>
                    <a:pt x="115044" y="174581"/>
                  </a:cubicBezTo>
                  <a:lnTo>
                    <a:pt x="113507" y="174625"/>
                  </a:lnTo>
                  <a:lnTo>
                    <a:pt x="26195" y="174625"/>
                  </a:lnTo>
                  <a:cubicBezTo>
                    <a:pt x="12324" y="174626"/>
                    <a:pt x="858" y="163814"/>
                    <a:pt x="44" y="149968"/>
                  </a:cubicBezTo>
                  <a:lnTo>
                    <a:pt x="1" y="148431"/>
                  </a:lnTo>
                  <a:lnTo>
                    <a:pt x="1" y="26194"/>
                  </a:lnTo>
                  <a:cubicBezTo>
                    <a:pt x="0" y="12324"/>
                    <a:pt x="10812" y="857"/>
                    <a:pt x="24658" y="44"/>
                  </a:cubicBezTo>
                  <a:lnTo>
                    <a:pt x="26195" y="0"/>
                  </a:lnTo>
                  <a:close/>
                  <a:moveTo>
                    <a:pt x="56291" y="96969"/>
                  </a:moveTo>
                  <a:cubicBezTo>
                    <a:pt x="51980" y="94816"/>
                    <a:pt x="46740" y="96563"/>
                    <a:pt x="44583" y="100872"/>
                  </a:cubicBezTo>
                  <a:lnTo>
                    <a:pt x="35851" y="118335"/>
                  </a:lnTo>
                  <a:cubicBezTo>
                    <a:pt x="34623" y="120792"/>
                    <a:pt x="34623" y="123683"/>
                    <a:pt x="35851" y="126140"/>
                  </a:cubicBezTo>
                  <a:lnTo>
                    <a:pt x="44583" y="143603"/>
                  </a:lnTo>
                  <a:cubicBezTo>
                    <a:pt x="46740" y="147912"/>
                    <a:pt x="51980" y="149659"/>
                    <a:pt x="56291" y="147506"/>
                  </a:cubicBezTo>
                  <a:lnTo>
                    <a:pt x="57182" y="146999"/>
                  </a:lnTo>
                  <a:cubicBezTo>
                    <a:pt x="60880" y="144568"/>
                    <a:pt x="62174" y="139755"/>
                    <a:pt x="60194" y="135797"/>
                  </a:cubicBezTo>
                  <a:lnTo>
                    <a:pt x="53419" y="122238"/>
                  </a:lnTo>
                  <a:lnTo>
                    <a:pt x="60194" y="108678"/>
                  </a:lnTo>
                  <a:cubicBezTo>
                    <a:pt x="62347" y="104367"/>
                    <a:pt x="60600" y="99126"/>
                    <a:pt x="56291" y="96969"/>
                  </a:cubicBezTo>
                  <a:moveTo>
                    <a:pt x="95119" y="100872"/>
                  </a:moveTo>
                  <a:cubicBezTo>
                    <a:pt x="92962" y="96563"/>
                    <a:pt x="87722" y="94816"/>
                    <a:pt x="83410" y="96969"/>
                  </a:cubicBezTo>
                  <a:lnTo>
                    <a:pt x="82520" y="97476"/>
                  </a:lnTo>
                  <a:cubicBezTo>
                    <a:pt x="78822" y="99907"/>
                    <a:pt x="77528" y="104720"/>
                    <a:pt x="79508" y="108678"/>
                  </a:cubicBezTo>
                  <a:lnTo>
                    <a:pt x="86266" y="122238"/>
                  </a:lnTo>
                  <a:lnTo>
                    <a:pt x="79499" y="135797"/>
                  </a:lnTo>
                  <a:cubicBezTo>
                    <a:pt x="77521" y="140079"/>
                    <a:pt x="79301" y="145159"/>
                    <a:pt x="83521" y="147268"/>
                  </a:cubicBezTo>
                  <a:cubicBezTo>
                    <a:pt x="87740" y="149378"/>
                    <a:pt x="92871" y="147755"/>
                    <a:pt x="95110" y="143603"/>
                  </a:cubicBezTo>
                  <a:lnTo>
                    <a:pt x="103842" y="126140"/>
                  </a:lnTo>
                  <a:cubicBezTo>
                    <a:pt x="105069" y="123683"/>
                    <a:pt x="105069" y="120792"/>
                    <a:pt x="103842" y="118335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78710" y="3502810"/>
              <a:ext cx="34934" cy="34934"/>
            </a:xfrm>
            <a:custGeom>
              <a:avLst/>
              <a:gdLst/>
              <a:ahLst/>
              <a:cxnLst/>
              <a:rect l="l" t="t" r="r" b="b"/>
              <a:pathLst>
                <a:path w="34934" h="34934">
                  <a:moveTo>
                    <a:pt x="34934" y="34934"/>
                  </a:moveTo>
                  <a:lnTo>
                    <a:pt x="9" y="34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374267" y="3511868"/>
            <a:ext cx="25942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提供 Python / TypeScript SDK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047750"/>
            <a:ext cx="51435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6520656" y="1160463"/>
            <a:ext cx="122238" cy="174625"/>
            <a:chOff x="6520656" y="1160463"/>
            <a:chExt cx="122238" cy="174625"/>
          </a:xfrm>
        </p:grpSpPr>
        <p:sp>
          <p:nvSpPr>
            <p:cNvPr id="29" name="Freeform 29"/>
            <p:cNvSpPr/>
            <p:nvPr/>
          </p:nvSpPr>
          <p:spPr>
            <a:xfrm>
              <a:off x="6538119" y="1160463"/>
              <a:ext cx="87313" cy="87313"/>
            </a:xfrm>
            <a:custGeom>
              <a:avLst/>
              <a:gdLst/>
              <a:ahLst/>
              <a:cxnLst/>
              <a:rect l="l" t="t" r="r" b="b"/>
              <a:pathLst>
                <a:path w="87313" h="87313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3"/>
                    <a:pt x="43656" y="87313"/>
                  </a:cubicBezTo>
                  <a:cubicBezTo>
                    <a:pt x="19546" y="87313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520656" y="1265238"/>
              <a:ext cx="122238" cy="69850"/>
            </a:xfrm>
            <a:custGeom>
              <a:avLst/>
              <a:gdLst/>
              <a:ahLst/>
              <a:cxnLst/>
              <a:rect l="l" t="t" r="r" b="b"/>
              <a:pathLst>
                <a:path w="122238" h="69850">
                  <a:moveTo>
                    <a:pt x="78581" y="0"/>
                  </a:moveTo>
                  <a:cubicBezTo>
                    <a:pt x="102692" y="0"/>
                    <a:pt x="122238" y="19546"/>
                    <a:pt x="122238" y="43656"/>
                  </a:cubicBezTo>
                  <a:lnTo>
                    <a:pt x="122238" y="52388"/>
                  </a:lnTo>
                  <a:cubicBezTo>
                    <a:pt x="122238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944598" y="1160621"/>
            <a:ext cx="18273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适合开发中心的用法</a:t>
            </a:r>
          </a:p>
        </p:txBody>
      </p:sp>
      <p:sp>
        <p:nvSpPr>
          <p:cNvPr id="33" name="Ellipse 33"/>
          <p:cNvSpPr/>
          <p:nvPr/>
        </p:nvSpPr>
        <p:spPr>
          <a:xfrm>
            <a:off x="6524625" y="1666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55892" y="1635442"/>
            <a:ext cx="22835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作为 Agent 框架的观察对象</a:t>
            </a:r>
          </a:p>
        </p:txBody>
      </p:sp>
      <p:sp>
        <p:nvSpPr>
          <p:cNvPr id="35" name="Ellipse 35"/>
          <p:cNvSpPr/>
          <p:nvPr/>
        </p:nvSpPr>
        <p:spPr>
          <a:xfrm>
            <a:off x="6524625" y="2047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55892" y="2016442"/>
            <a:ext cx="27982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体验"从零搭建一个 Agent"的过程</a:t>
            </a:r>
          </a:p>
        </p:txBody>
      </p:sp>
      <p:sp>
        <p:nvSpPr>
          <p:cNvPr id="37" name="Ellipse 37"/>
          <p:cNvSpPr/>
          <p:nvPr/>
        </p:nvSpPr>
        <p:spPr>
          <a:xfrm>
            <a:off x="6524625" y="2428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55892" y="2397442"/>
            <a:ext cx="34966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与 Cline、Codex 等对比，理解 Agent 框架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5892" y="26450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与现成工具的差异</a:t>
            </a:r>
          </a:p>
        </p:txBody>
      </p:sp>
      <p:sp>
        <p:nvSpPr>
          <p:cNvPr id="40" name="Ellipse 40"/>
          <p:cNvSpPr/>
          <p:nvPr/>
        </p:nvSpPr>
        <p:spPr>
          <a:xfrm>
            <a:off x="6524625" y="30480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55892" y="301656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适合高级层级或骨干人员研究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1910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40892" y="4388168"/>
            <a:ext cx="69335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与 Cline、Codex 这类"开箱即用"工具不同，它更偏"框架"，需自己搭配置和插件。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416074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团队知识库与 RAG 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923661" y="1160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代表工具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73943" y="1684338"/>
            <a:ext cx="157164" cy="174624"/>
            <a:chOff x="1073943" y="1684338"/>
            <a:chExt cx="157164" cy="174624"/>
          </a:xfrm>
        </p:grpSpPr>
        <p:sp>
          <p:nvSpPr>
            <p:cNvPr id="12" name="Freeform 12"/>
            <p:cNvSpPr/>
            <p:nvPr/>
          </p:nvSpPr>
          <p:spPr>
            <a:xfrm>
              <a:off x="1073944" y="1804226"/>
              <a:ext cx="157163" cy="54736"/>
            </a:xfrm>
            <a:custGeom>
              <a:avLst/>
              <a:gdLst/>
              <a:ahLst/>
              <a:cxnLst/>
              <a:rect l="l" t="t" r="r" b="b"/>
              <a:pathLst>
                <a:path w="157163" h="54736">
                  <a:moveTo>
                    <a:pt x="0" y="0"/>
                  </a:moveTo>
                  <a:cubicBezTo>
                    <a:pt x="17183" y="13158"/>
                    <a:pt x="45699" y="19811"/>
                    <a:pt x="78581" y="19811"/>
                  </a:cubicBezTo>
                  <a:cubicBezTo>
                    <a:pt x="111411" y="19811"/>
                    <a:pt x="139918" y="13175"/>
                    <a:pt x="157163" y="148"/>
                  </a:cubicBezTo>
                  <a:lnTo>
                    <a:pt x="157163" y="19811"/>
                  </a:lnTo>
                  <a:cubicBezTo>
                    <a:pt x="157163" y="40985"/>
                    <a:pt x="123154" y="54177"/>
                    <a:pt x="81262" y="54719"/>
                  </a:cubicBezTo>
                  <a:lnTo>
                    <a:pt x="78581" y="54736"/>
                  </a:lnTo>
                  <a:cubicBezTo>
                    <a:pt x="35466" y="54736"/>
                    <a:pt x="0" y="41439"/>
                    <a:pt x="0" y="19811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73944" y="1751839"/>
              <a:ext cx="157163" cy="54736"/>
            </a:xfrm>
            <a:custGeom>
              <a:avLst/>
              <a:gdLst/>
              <a:ahLst/>
              <a:cxnLst/>
              <a:rect l="l" t="t" r="r" b="b"/>
              <a:pathLst>
                <a:path w="157163" h="54736">
                  <a:moveTo>
                    <a:pt x="0" y="0"/>
                  </a:moveTo>
                  <a:cubicBezTo>
                    <a:pt x="17183" y="13158"/>
                    <a:pt x="45699" y="19811"/>
                    <a:pt x="78581" y="19811"/>
                  </a:cubicBezTo>
                  <a:cubicBezTo>
                    <a:pt x="111411" y="19811"/>
                    <a:pt x="139918" y="13175"/>
                    <a:pt x="157163" y="148"/>
                  </a:cubicBezTo>
                  <a:lnTo>
                    <a:pt x="157163" y="19811"/>
                  </a:lnTo>
                  <a:cubicBezTo>
                    <a:pt x="157163" y="41439"/>
                    <a:pt x="121696" y="54736"/>
                    <a:pt x="78581" y="54736"/>
                  </a:cubicBezTo>
                  <a:cubicBezTo>
                    <a:pt x="36689" y="54736"/>
                    <a:pt x="2008" y="42181"/>
                    <a:pt x="183" y="21601"/>
                  </a:cubicBezTo>
                  <a:lnTo>
                    <a:pt x="44" y="20719"/>
                  </a:lnTo>
                  <a:lnTo>
                    <a:pt x="0" y="19811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073943" y="1684338"/>
              <a:ext cx="157163" cy="69850"/>
            </a:xfrm>
            <a:custGeom>
              <a:avLst/>
              <a:gdLst/>
              <a:ahLst/>
              <a:cxnLst/>
              <a:rect l="l" t="t" r="r" b="b"/>
              <a:pathLst>
                <a:path w="157163" h="69850">
                  <a:moveTo>
                    <a:pt x="78582" y="0"/>
                  </a:moveTo>
                  <a:cubicBezTo>
                    <a:pt x="87671" y="0"/>
                    <a:pt x="96429" y="594"/>
                    <a:pt x="104575" y="1729"/>
                  </a:cubicBezTo>
                  <a:lnTo>
                    <a:pt x="108670" y="2349"/>
                  </a:lnTo>
                  <a:cubicBezTo>
                    <a:pt x="113559" y="3164"/>
                    <a:pt x="118175" y="4176"/>
                    <a:pt x="122518" y="5387"/>
                  </a:cubicBezTo>
                  <a:lnTo>
                    <a:pt x="126359" y="6531"/>
                  </a:lnTo>
                  <a:lnTo>
                    <a:pt x="127014" y="6741"/>
                  </a:lnTo>
                  <a:cubicBezTo>
                    <a:pt x="129390" y="7522"/>
                    <a:pt x="131735" y="8396"/>
                    <a:pt x="134043" y="9360"/>
                  </a:cubicBezTo>
                  <a:lnTo>
                    <a:pt x="135780" y="10111"/>
                  </a:lnTo>
                  <a:cubicBezTo>
                    <a:pt x="138895" y="11519"/>
                    <a:pt x="141709" y="13062"/>
                    <a:pt x="144224" y="14738"/>
                  </a:cubicBezTo>
                  <a:cubicBezTo>
                    <a:pt x="145184" y="15379"/>
                    <a:pt x="146095" y="16033"/>
                    <a:pt x="146956" y="16703"/>
                  </a:cubicBezTo>
                  <a:cubicBezTo>
                    <a:pt x="149139" y="18396"/>
                    <a:pt x="151101" y="20356"/>
                    <a:pt x="152798" y="22535"/>
                  </a:cubicBezTo>
                  <a:lnTo>
                    <a:pt x="153592" y="23653"/>
                  </a:lnTo>
                  <a:cubicBezTo>
                    <a:pt x="154000" y="24264"/>
                    <a:pt x="154375" y="24878"/>
                    <a:pt x="154718" y="25495"/>
                  </a:cubicBezTo>
                  <a:lnTo>
                    <a:pt x="155330" y="26709"/>
                  </a:lnTo>
                  <a:cubicBezTo>
                    <a:pt x="156278" y="28746"/>
                    <a:pt x="156861" y="30871"/>
                    <a:pt x="157076" y="33083"/>
                  </a:cubicBezTo>
                  <a:lnTo>
                    <a:pt x="157163" y="34925"/>
                  </a:lnTo>
                  <a:cubicBezTo>
                    <a:pt x="157163" y="56552"/>
                    <a:pt x="121697" y="69850"/>
                    <a:pt x="78582" y="69850"/>
                  </a:cubicBezTo>
                  <a:cubicBezTo>
                    <a:pt x="36689" y="69850"/>
                    <a:pt x="2009" y="57294"/>
                    <a:pt x="184" y="36715"/>
                  </a:cubicBezTo>
                  <a:cubicBezTo>
                    <a:pt x="61" y="36126"/>
                    <a:pt x="0" y="35526"/>
                    <a:pt x="1" y="34925"/>
                  </a:cubicBezTo>
                  <a:lnTo>
                    <a:pt x="44" y="34017"/>
                  </a:lnTo>
                  <a:lnTo>
                    <a:pt x="184" y="33144"/>
                  </a:lnTo>
                  <a:cubicBezTo>
                    <a:pt x="1974" y="13010"/>
                    <a:pt x="35196" y="550"/>
                    <a:pt x="75858" y="17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73505" y="1685925"/>
            <a:ext cx="4145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Dify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58258" y="2057142"/>
            <a:ext cx="182330" cy="183572"/>
          </a:xfrm>
          <a:custGeom>
            <a:avLst/>
            <a:gdLst/>
            <a:ahLst/>
            <a:cxnLst/>
            <a:rect l="l" t="t" r="r" b="b"/>
            <a:pathLst>
              <a:path w="182330" h="183572">
                <a:moveTo>
                  <a:pt x="111730" y="17556"/>
                </a:moveTo>
                <a:cubicBezTo>
                  <a:pt x="129210" y="27646"/>
                  <a:pt x="141471" y="44805"/>
                  <a:pt x="145354" y="64612"/>
                </a:cubicBezTo>
                <a:cubicBezTo>
                  <a:pt x="149237" y="84419"/>
                  <a:pt x="144363" y="104937"/>
                  <a:pt x="131986" y="120881"/>
                </a:cubicBezTo>
                <a:lnTo>
                  <a:pt x="179021" y="167917"/>
                </a:lnTo>
                <a:cubicBezTo>
                  <a:pt x="182330" y="171343"/>
                  <a:pt x="182283" y="176788"/>
                  <a:pt x="178915" y="180156"/>
                </a:cubicBezTo>
                <a:cubicBezTo>
                  <a:pt x="175547" y="183524"/>
                  <a:pt x="170101" y="183572"/>
                  <a:pt x="166675" y="180263"/>
                </a:cubicBezTo>
                <a:lnTo>
                  <a:pt x="119631" y="133227"/>
                </a:lnTo>
                <a:cubicBezTo>
                  <a:pt x="91901" y="154745"/>
                  <a:pt x="52508" y="152342"/>
                  <a:pt x="27599" y="127613"/>
                </a:cubicBezTo>
                <a:cubicBezTo>
                  <a:pt x="2689" y="102884"/>
                  <a:pt x="0" y="63510"/>
                  <a:pt x="21315" y="35624"/>
                </a:cubicBezTo>
                <a:cubicBezTo>
                  <a:pt x="42631" y="7737"/>
                  <a:pt x="81330" y="0"/>
                  <a:pt x="111730" y="17547"/>
                </a:cubicBezTo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73505" y="2066925"/>
            <a:ext cx="8073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RAGFlow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88199" y="2436367"/>
            <a:ext cx="136075" cy="184842"/>
            <a:chOff x="1088199" y="2436367"/>
            <a:chExt cx="136075" cy="184842"/>
          </a:xfrm>
        </p:grpSpPr>
        <p:sp>
          <p:nvSpPr>
            <p:cNvPr id="19" name="Freeform 19"/>
            <p:cNvSpPr/>
            <p:nvPr/>
          </p:nvSpPr>
          <p:spPr>
            <a:xfrm>
              <a:off x="1100138" y="2463799"/>
              <a:ext cx="87657" cy="87987"/>
            </a:xfrm>
            <a:custGeom>
              <a:avLst/>
              <a:gdLst/>
              <a:ahLst/>
              <a:cxnLst/>
              <a:rect l="l" t="t" r="r" b="b"/>
              <a:pathLst>
                <a:path w="87657" h="87987">
                  <a:moveTo>
                    <a:pt x="43656" y="1"/>
                  </a:moveTo>
                  <a:cubicBezTo>
                    <a:pt x="67521" y="0"/>
                    <a:pt x="86964" y="19162"/>
                    <a:pt x="87310" y="43024"/>
                  </a:cubicBezTo>
                  <a:cubicBezTo>
                    <a:pt x="87657" y="66886"/>
                    <a:pt x="68778" y="86605"/>
                    <a:pt x="44923" y="87296"/>
                  </a:cubicBezTo>
                  <a:cubicBezTo>
                    <a:pt x="21068" y="87987"/>
                    <a:pt x="1079" y="69395"/>
                    <a:pt x="44" y="45552"/>
                  </a:cubicBezTo>
                  <a:lnTo>
                    <a:pt x="0" y="43658"/>
                  </a:lnTo>
                  <a:lnTo>
                    <a:pt x="44" y="41763"/>
                  </a:lnTo>
                  <a:cubicBezTo>
                    <a:pt x="1058" y="18412"/>
                    <a:pt x="20283" y="3"/>
                    <a:pt x="43656" y="1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088199" y="2436367"/>
              <a:ext cx="136075" cy="154813"/>
            </a:xfrm>
            <a:custGeom>
              <a:avLst/>
              <a:gdLst/>
              <a:ahLst/>
              <a:cxnLst/>
              <a:rect l="l" t="t" r="r" b="b"/>
              <a:pathLst>
                <a:path w="136075" h="154813">
                  <a:moveTo>
                    <a:pt x="82950" y="5622"/>
                  </a:moveTo>
                  <a:cubicBezTo>
                    <a:pt x="85351" y="1442"/>
                    <a:pt x="90687" y="0"/>
                    <a:pt x="94868" y="2401"/>
                  </a:cubicBezTo>
                  <a:cubicBezTo>
                    <a:pt x="120829" y="17322"/>
                    <a:pt x="136075" y="45681"/>
                    <a:pt x="134203" y="75566"/>
                  </a:cubicBezTo>
                  <a:cubicBezTo>
                    <a:pt x="132330" y="105450"/>
                    <a:pt x="113664" y="131685"/>
                    <a:pt x="86044" y="143249"/>
                  </a:cubicBezTo>
                  <a:cubicBezTo>
                    <a:pt x="58424" y="154813"/>
                    <a:pt x="26634" y="149705"/>
                    <a:pt x="4028" y="130069"/>
                  </a:cubicBezTo>
                  <a:cubicBezTo>
                    <a:pt x="387" y="126906"/>
                    <a:pt x="0" y="121390"/>
                    <a:pt x="3163" y="117749"/>
                  </a:cubicBezTo>
                  <a:cubicBezTo>
                    <a:pt x="6327" y="114109"/>
                    <a:pt x="11842" y="113721"/>
                    <a:pt x="15483" y="116885"/>
                  </a:cubicBezTo>
                  <a:cubicBezTo>
                    <a:pt x="33074" y="132164"/>
                    <a:pt x="57811" y="136139"/>
                    <a:pt x="79303" y="127141"/>
                  </a:cubicBezTo>
                  <a:cubicBezTo>
                    <a:pt x="100795" y="118142"/>
                    <a:pt x="115321" y="97728"/>
                    <a:pt x="116778" y="74474"/>
                  </a:cubicBezTo>
                  <a:cubicBezTo>
                    <a:pt x="118235" y="51219"/>
                    <a:pt x="106372" y="29152"/>
                    <a:pt x="86171" y="17541"/>
                  </a:cubicBezTo>
                  <a:cubicBezTo>
                    <a:pt x="81991" y="15139"/>
                    <a:pt x="80549" y="9803"/>
                    <a:pt x="82950" y="562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135063" y="2568575"/>
              <a:ext cx="17463" cy="52634"/>
            </a:xfrm>
            <a:custGeom>
              <a:avLst/>
              <a:gdLst/>
              <a:ahLst/>
              <a:cxnLst/>
              <a:rect l="l" t="t" r="r" b="b"/>
              <a:pathLst>
                <a:path w="17463" h="52634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3" y="8731"/>
                  </a:lnTo>
                  <a:lnTo>
                    <a:pt x="17463" y="43656"/>
                  </a:lnTo>
                  <a:cubicBezTo>
                    <a:pt x="17457" y="48276"/>
                    <a:pt x="13855" y="52092"/>
                    <a:pt x="9243" y="52363"/>
                  </a:cubicBezTo>
                  <a:cubicBezTo>
                    <a:pt x="4631" y="52634"/>
                    <a:pt x="607" y="49265"/>
                    <a:pt x="61" y="44678"/>
                  </a:cubicBezTo>
                  <a:lnTo>
                    <a:pt x="0" y="43656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99891" y="2603500"/>
              <a:ext cx="87805" cy="17463"/>
            </a:xfrm>
            <a:custGeom>
              <a:avLst/>
              <a:gdLst/>
              <a:ahLst/>
              <a:cxnLst/>
              <a:rect l="l" t="t" r="r" b="b"/>
              <a:pathLst>
                <a:path w="87805" h="17463">
                  <a:moveTo>
                    <a:pt x="78827" y="0"/>
                  </a:moveTo>
                  <a:cubicBezTo>
                    <a:pt x="83447" y="5"/>
                    <a:pt x="87263" y="3608"/>
                    <a:pt x="87534" y="8220"/>
                  </a:cubicBezTo>
                  <a:cubicBezTo>
                    <a:pt x="87805" y="12831"/>
                    <a:pt x="84436" y="16856"/>
                    <a:pt x="79849" y="17401"/>
                  </a:cubicBezTo>
                  <a:lnTo>
                    <a:pt x="78827" y="17463"/>
                  </a:lnTo>
                  <a:lnTo>
                    <a:pt x="8977" y="17463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78827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73505" y="2447925"/>
            <a:ext cx="11330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 WebUI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104775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2865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48161" y="1160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29" name="Ellipse 29"/>
          <p:cNvSpPr/>
          <p:nvPr/>
        </p:nvSpPr>
        <p:spPr>
          <a:xfrm>
            <a:off x="6524625" y="1666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55892" y="16354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项目文档问答</a:t>
            </a:r>
          </a:p>
        </p:txBody>
      </p:sp>
      <p:sp>
        <p:nvSpPr>
          <p:cNvPr id="31" name="Ellipse 31"/>
          <p:cNvSpPr/>
          <p:nvPr/>
        </p:nvSpPr>
        <p:spPr>
          <a:xfrm>
            <a:off x="6524625" y="19526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55892" y="192119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需求知识库</a:t>
            </a:r>
          </a:p>
        </p:txBody>
      </p:sp>
      <p:sp>
        <p:nvSpPr>
          <p:cNvPr id="33" name="Ellipse 33"/>
          <p:cNvSpPr/>
          <p:nvPr/>
        </p:nvSpPr>
        <p:spPr>
          <a:xfrm>
            <a:off x="6524625" y="22383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55892" y="22069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新人入门问答</a:t>
            </a:r>
          </a:p>
        </p:txBody>
      </p:sp>
      <p:sp>
        <p:nvSpPr>
          <p:cNvPr id="35" name="Ellipse 35"/>
          <p:cNvSpPr/>
          <p:nvPr/>
        </p:nvSpPr>
        <p:spPr>
          <a:xfrm>
            <a:off x="6524625" y="25241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55892" y="249269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测试规范查询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3238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40892" y="3435668"/>
            <a:ext cx="80403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RAG 工具的价值：让文档、需求、规范、历史问题变成可问答、可检索、可复用的知识资产。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4095750"/>
            <a:ext cx="5143500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762000" y="4095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762000" y="4343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127342" y="4208621"/>
            <a:ext cx="412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1273" y="4577239"/>
            <a:ext cx="19081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开源 LLM 应用开发平台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1273" y="4862989"/>
            <a:ext cx="32008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支持 Workflow、RAG、Agent、模型管理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1273" y="5148739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适合从原型走向团队应用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1273" y="5434489"/>
            <a:ext cx="20078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可通过 API 接入内部系统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286500" y="4095750"/>
            <a:ext cx="5143500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286500" y="4095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286500" y="4343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455924" y="4208621"/>
            <a:ext cx="8046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RAGFlow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5773" y="4577239"/>
            <a:ext cx="205320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偏 RAG 引擎和知识库问答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5773" y="4862989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适合处理文档检索、问答和上下文层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5773" y="5291614"/>
            <a:ext cx="14700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配合 MarkItDown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65773" y="5577364"/>
            <a:ext cx="30919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把 PDF/Word/PPT/Excel 转 Markdown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80992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Excel 与表格分析工具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430207" y="1160621"/>
            <a:ext cx="18070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为什么单独讲 Excel</a:t>
            </a:r>
          </a:p>
        </p:txBody>
      </p:sp>
      <p:sp>
        <p:nvSpPr>
          <p:cNvPr id="12" name="Ellipse 12"/>
          <p:cNvSpPr/>
          <p:nvPr/>
        </p:nvSpPr>
        <p:spPr>
          <a:xfrm>
            <a:off x="1000125" y="1666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31773" y="1643539"/>
            <a:ext cx="36234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开发中心很多管理、测试、统计工作依赖 Excel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0125" y="19526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1773" y="1929289"/>
            <a:ext cx="18876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Excel 中常见重复劳动多</a:t>
            </a:r>
          </a:p>
        </p:txBody>
      </p:sp>
      <p:sp>
        <p:nvSpPr>
          <p:cNvPr id="16" name="Ellipse 16"/>
          <p:cNvSpPr/>
          <p:nvPr/>
        </p:nvSpPr>
        <p:spPr>
          <a:xfrm>
            <a:off x="1000125" y="22383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31773" y="2215039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公式、透视表、数据清洗容易出错</a:t>
            </a:r>
          </a:p>
        </p:txBody>
      </p:sp>
      <p:sp>
        <p:nvSpPr>
          <p:cNvPr id="18" name="Ellipse 18"/>
          <p:cNvSpPr/>
          <p:nvPr/>
        </p:nvSpPr>
        <p:spPr>
          <a:xfrm>
            <a:off x="1000125" y="25241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31773" y="2500789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报表和分析结果经常需要反复整理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04775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04775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29540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48161" y="1160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常见需求</a:t>
            </a:r>
          </a:p>
        </p:txBody>
      </p:sp>
      <p:sp>
        <p:nvSpPr>
          <p:cNvPr id="24" name="Ellipse 24"/>
          <p:cNvSpPr/>
          <p:nvPr/>
        </p:nvSpPr>
        <p:spPr>
          <a:xfrm>
            <a:off x="6524625" y="1666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56273" y="1643539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生成公式</a:t>
            </a:r>
          </a:p>
        </p:txBody>
      </p:sp>
      <p:sp>
        <p:nvSpPr>
          <p:cNvPr id="26" name="Ellipse 26"/>
          <p:cNvSpPr/>
          <p:nvPr/>
        </p:nvSpPr>
        <p:spPr>
          <a:xfrm>
            <a:off x="6524625" y="19526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56273" y="1929289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检查数据异常</a:t>
            </a:r>
          </a:p>
        </p:txBody>
      </p:sp>
      <p:sp>
        <p:nvSpPr>
          <p:cNvPr id="28" name="Ellipse 28"/>
          <p:cNvSpPr/>
          <p:nvPr/>
        </p:nvSpPr>
        <p:spPr>
          <a:xfrm>
            <a:off x="6524625" y="22383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56273" y="2215039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汇总测试结果</a:t>
            </a:r>
          </a:p>
        </p:txBody>
      </p:sp>
      <p:sp>
        <p:nvSpPr>
          <p:cNvPr id="30" name="Ellipse 30"/>
          <p:cNvSpPr/>
          <p:nvPr/>
        </p:nvSpPr>
        <p:spPr>
          <a:xfrm>
            <a:off x="6524625" y="25241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56273" y="2500789"/>
            <a:ext cx="261630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清洗 CSV / Excel / 生成统计图表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238500"/>
            <a:ext cx="3429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238500"/>
            <a:ext cx="34290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3486150"/>
            <a:ext cx="34290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884231" y="3359468"/>
            <a:ext cx="1184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M365 Copilot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1273" y="3767614"/>
            <a:ext cx="11933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直接嵌入 Excel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1273" y="40533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自然语言生成公式、分析数据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1273" y="433911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适合业务报表、统计分析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381500" y="3238500"/>
            <a:ext cx="3429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4381500" y="3238500"/>
            <a:ext cx="34290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381500" y="3486150"/>
            <a:ext cx="34290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904310" y="3359468"/>
            <a:ext cx="23833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ChatGPT / Claude / Gemini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60773" y="37676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上传表格进行分析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60773" y="4053364"/>
            <a:ext cx="234440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生成公式、VBA、Python 脚本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60773" y="43391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适合小规模数据分析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01000" y="3238500"/>
            <a:ext cx="34290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001000" y="3238500"/>
            <a:ext cx="34290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01000" y="3486150"/>
            <a:ext cx="34290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231582" y="33594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自动化脚本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80273" y="3767614"/>
            <a:ext cx="21559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Python: pandas, openpyxl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80273" y="4053364"/>
            <a:ext cx="24242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JS: Office Scripts, SheetJS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80273" y="4339114"/>
            <a:ext cx="15913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VBA / Power Query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62000" y="495300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40892" y="5140642"/>
            <a:ext cx="78504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即使没有 Excel 内置 AI，也可以用通用模型处理表格问题。关键是提供字段说明和样例数据。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419588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Excel 场景推荐落地路径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1430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Ellipse 9"/>
          <p:cNvSpPr/>
          <p:nvPr/>
        </p:nvSpPr>
        <p:spPr>
          <a:xfrm>
            <a:off x="952500" y="13335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36040" y="14449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755" y="1428750"/>
            <a:ext cx="26715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先用 AI 生成公式和解释公式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0955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952500" y="22860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36040" y="23974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8755" y="2381250"/>
            <a:ext cx="47458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再用 AI 生成 Python / Office Script 处理重复表格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0480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952500" y="32385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36040" y="33499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8755" y="3333750"/>
            <a:ext cx="30989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把高频 Excel 任务做成脚本或模板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0005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52500" y="41910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36040" y="43024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8755" y="4286250"/>
            <a:ext cx="31441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 n8n / Dify 串接数据来源和输出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952500" y="51435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6040" y="52549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8755" y="5238750"/>
            <a:ext cx="4249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对复杂报表再评估 M365 Copilot 或专用 Agent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59055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41273" y="6015514"/>
            <a:ext cx="54808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最现实的路径：公式辅助 → 脚本自动化 → 模板化 → 流程化 → Agent 化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自动化工作流工具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151208" y="1171575"/>
            <a:ext cx="365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n8n</a:t>
            </a:r>
          </a:p>
        </p:txBody>
      </p:sp>
      <p:sp>
        <p:nvSpPr>
          <p:cNvPr id="12" name="Ellipse 12"/>
          <p:cNvSpPr/>
          <p:nvPr/>
        </p:nvSpPr>
        <p:spPr>
          <a:xfrm>
            <a:off x="10001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31392" y="16830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可视化工作流自动化平台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0125" y="2047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1392" y="201644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支持大量系统集成</a:t>
            </a:r>
          </a:p>
        </p:txBody>
      </p:sp>
      <p:sp>
        <p:nvSpPr>
          <p:cNvPr id="16" name="Ellipse 16"/>
          <p:cNvSpPr/>
          <p:nvPr/>
        </p:nvSpPr>
        <p:spPr>
          <a:xfrm>
            <a:off x="1000125" y="23812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31392" y="234981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可自托管或使用云服务</a:t>
            </a:r>
          </a:p>
        </p:txBody>
      </p:sp>
      <p:sp>
        <p:nvSpPr>
          <p:cNvPr id="18" name="Ellipse 18"/>
          <p:cNvSpPr/>
          <p:nvPr/>
        </p:nvSpPr>
        <p:spPr>
          <a:xfrm>
            <a:off x="1000125" y="27146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31392" y="2683192"/>
            <a:ext cx="1770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支持在流程中调用 AI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619500"/>
            <a:ext cx="5143500" cy="142875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4288">
            <a:solidFill>
              <a:srgbClr val="FEF3C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41273" y="3767614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适合开发中心的用法</a:t>
            </a:r>
          </a:p>
        </p:txBody>
      </p:sp>
      <p:sp>
        <p:nvSpPr>
          <p:cNvPr id="22" name="Ellipse 22"/>
          <p:cNvSpPr/>
          <p:nvPr/>
        </p:nvSpPr>
        <p:spPr>
          <a:xfrm>
            <a:off x="1009650" y="4105275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32154" y="4080510"/>
            <a:ext cx="17421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Redmine/Jira 缺陷摘要</a:t>
            </a:r>
          </a:p>
        </p:txBody>
      </p:sp>
      <p:sp>
        <p:nvSpPr>
          <p:cNvPr id="24" name="Ellipse 24"/>
          <p:cNvSpPr/>
          <p:nvPr/>
        </p:nvSpPr>
        <p:spPr>
          <a:xfrm>
            <a:off x="1009650" y="4343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232154" y="4318635"/>
            <a:ext cx="16650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GitLab MR 通知和总结</a:t>
            </a:r>
          </a:p>
        </p:txBody>
      </p:sp>
      <p:sp>
        <p:nvSpPr>
          <p:cNvPr id="26" name="Ellipse 26"/>
          <p:cNvSpPr/>
          <p:nvPr/>
        </p:nvSpPr>
        <p:spPr>
          <a:xfrm>
            <a:off x="1009650" y="4581525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32154" y="4556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测试报告自动汇总</a:t>
            </a:r>
          </a:p>
        </p:txBody>
      </p:sp>
      <p:sp>
        <p:nvSpPr>
          <p:cNvPr id="28" name="Ellipse 28"/>
          <p:cNvSpPr/>
          <p:nvPr/>
        </p:nvSpPr>
        <p:spPr>
          <a:xfrm>
            <a:off x="1009650" y="48196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32154" y="479488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定时生成项目风险清单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1047750"/>
            <a:ext cx="51435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2865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2865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188047" y="1171575"/>
            <a:ext cx="13404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browser-use</a:t>
            </a:r>
          </a:p>
        </p:txBody>
      </p:sp>
      <p:sp>
        <p:nvSpPr>
          <p:cNvPr id="34" name="Ellipse 34"/>
          <p:cNvSpPr/>
          <p:nvPr/>
        </p:nvSpPr>
        <p:spPr>
          <a:xfrm>
            <a:off x="6524625" y="1714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55892" y="1683068"/>
            <a:ext cx="14442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 AI 操作浏览器</a:t>
            </a:r>
          </a:p>
        </p:txBody>
      </p:sp>
      <p:sp>
        <p:nvSpPr>
          <p:cNvPr id="36" name="Ellipse 36"/>
          <p:cNvSpPr/>
          <p:nvPr/>
        </p:nvSpPr>
        <p:spPr>
          <a:xfrm>
            <a:off x="6524625" y="2047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55892" y="2016442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适合网页表单、后台系统、信息收集</a:t>
            </a:r>
          </a:p>
        </p:txBody>
      </p:sp>
      <p:sp>
        <p:nvSpPr>
          <p:cNvPr id="38" name="Ellipse 38"/>
          <p:cNvSpPr/>
          <p:nvPr/>
        </p:nvSpPr>
        <p:spPr>
          <a:xfrm>
            <a:off x="6524625" y="238125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55892" y="2349818"/>
            <a:ext cx="19468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可作为自动化 PoC 工具</a:t>
            </a:r>
          </a:p>
        </p:txBody>
      </p:sp>
      <p:sp>
        <p:nvSpPr>
          <p:cNvPr id="40" name="Ellipse 40"/>
          <p:cNvSpPr/>
          <p:nvPr/>
        </p:nvSpPr>
        <p:spPr>
          <a:xfrm>
            <a:off x="6524625" y="27146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55892" y="2683192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需严格控制账号和权限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286500" y="3619500"/>
            <a:ext cx="5143500" cy="142875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4288">
            <a:solidFill>
              <a:srgbClr val="FEF3C7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565773" y="3767614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适合开发中心的用法</a:t>
            </a:r>
          </a:p>
        </p:txBody>
      </p:sp>
      <p:sp>
        <p:nvSpPr>
          <p:cNvPr id="44" name="Ellipse 44"/>
          <p:cNvSpPr/>
          <p:nvPr/>
        </p:nvSpPr>
        <p:spPr>
          <a:xfrm>
            <a:off x="6534150" y="4105275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56654" y="4080510"/>
            <a:ext cx="1344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后台系统巡检 PoC</a:t>
            </a:r>
          </a:p>
        </p:txBody>
      </p:sp>
      <p:sp>
        <p:nvSpPr>
          <p:cNvPr id="46" name="Ellipse 46"/>
          <p:cNvSpPr/>
          <p:nvPr/>
        </p:nvSpPr>
        <p:spPr>
          <a:xfrm>
            <a:off x="6534150" y="4343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756654" y="43186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网页数据收集</a:t>
            </a:r>
          </a:p>
        </p:txBody>
      </p:sp>
      <p:sp>
        <p:nvSpPr>
          <p:cNvPr id="48" name="Ellipse 48"/>
          <p:cNvSpPr/>
          <p:nvPr/>
        </p:nvSpPr>
        <p:spPr>
          <a:xfrm>
            <a:off x="6534150" y="4581525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756654" y="45567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重复表单操作验证</a:t>
            </a:r>
          </a:p>
        </p:txBody>
      </p:sp>
      <p:sp>
        <p:nvSpPr>
          <p:cNvPr id="50" name="Ellipse 50"/>
          <p:cNvSpPr/>
          <p:nvPr/>
        </p:nvSpPr>
        <p:spPr>
          <a:xfrm>
            <a:off x="6534150" y="48196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756654" y="47948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简单端到端流程探索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533400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41273" y="5501164"/>
            <a:ext cx="7814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n8n 的价值是"把系统串起来"。browser-use 有想象空间，但权限风险更高，建议低风险环境试用。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87000" y="-3810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238750"/>
            <a:ext cx="1905000" cy="1905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572000" y="1905000"/>
            <a:ext cx="3048000" cy="30480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模型网关与治理工具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43961" y="117014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1047750"/>
            <a:ext cx="476250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09661" y="1170146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主要作用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96250" y="1047750"/>
            <a:ext cx="3333750" cy="428625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252323" y="1170146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适合谁关注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2381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5261" y="1846421"/>
            <a:ext cx="8046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0" y="1571625"/>
            <a:ext cx="476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422142" y="1854518"/>
            <a:ext cx="34299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模型网关，统一 OpenAI-compatible 调用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0" y="1571625"/>
            <a:ext cx="3333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279892" y="185451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平台负责人、工具负责人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619375"/>
            <a:ext cx="238125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5261" y="2894171"/>
            <a:ext cx="9070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Langfuse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238500" y="2619375"/>
            <a:ext cx="476250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422142" y="2902268"/>
            <a:ext cx="29853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LLM 调用观测、Prompt 管理、评估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2619375"/>
            <a:ext cx="3333750" cy="952500"/>
          </a:xfrm>
          <a:prstGeom prst="rect">
            <a:avLst/>
          </a:prstGeom>
          <a:solidFill>
            <a:srgbClr val="FFFBEB"/>
          </a:solidFill>
          <a:ln w="9525">
            <a:solidFill>
              <a:srgbClr val="FEF3C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279892" y="2902268"/>
            <a:ext cx="13866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AI 应用建设人员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667125"/>
            <a:ext cx="2381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5261" y="3941921"/>
            <a:ext cx="66511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238500" y="3667125"/>
            <a:ext cx="476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422142" y="39500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本地模型运行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3667125"/>
            <a:ext cx="3333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279892" y="3950018"/>
            <a:ext cx="22108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个人体验、PoC、内网探索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9530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40892" y="5073968"/>
            <a:ext cx="817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当团队 AI 使用变多后，问题会从"能不能用"变成"谁在用、花了多少、效果怎样、怎么治理"。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1654" y="5299710"/>
            <a:ext cx="46975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如果开发中心要建设统一 AI 平台，这三类能力会越来越重要。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文档与交付物生成工具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106680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106680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295400"/>
            <a:ext cx="106680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85911" y="116062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代表工具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2674" y="1636713"/>
            <a:ext cx="139702" cy="174626"/>
            <a:chOff x="1082674" y="1636713"/>
            <a:chExt cx="139702" cy="174626"/>
          </a:xfrm>
        </p:grpSpPr>
        <p:sp>
          <p:nvSpPr>
            <p:cNvPr id="12" name="Freeform 12"/>
            <p:cNvSpPr/>
            <p:nvPr/>
          </p:nvSpPr>
          <p:spPr>
            <a:xfrm>
              <a:off x="1082674" y="1636713"/>
              <a:ext cx="139702" cy="174626"/>
            </a:xfrm>
            <a:custGeom>
              <a:avLst/>
              <a:gdLst/>
              <a:ahLst/>
              <a:cxnLst/>
              <a:rect l="l" t="t" r="r" b="b"/>
              <a:pathLst>
                <a:path w="139702" h="174626">
                  <a:moveTo>
                    <a:pt x="69851" y="0"/>
                  </a:moveTo>
                  <a:lnTo>
                    <a:pt x="70872" y="61"/>
                  </a:lnTo>
                  <a:cubicBezTo>
                    <a:pt x="74884" y="534"/>
                    <a:pt x="78048" y="3698"/>
                    <a:pt x="78521" y="7710"/>
                  </a:cubicBezTo>
                  <a:lnTo>
                    <a:pt x="78582" y="8731"/>
                  </a:lnTo>
                  <a:lnTo>
                    <a:pt x="78582" y="43656"/>
                  </a:lnTo>
                  <a:lnTo>
                    <a:pt x="78626" y="44966"/>
                  </a:lnTo>
                  <a:cubicBezTo>
                    <a:pt x="79271" y="53557"/>
                    <a:pt x="86085" y="60393"/>
                    <a:pt x="94674" y="61066"/>
                  </a:cubicBezTo>
                  <a:lnTo>
                    <a:pt x="96045" y="61119"/>
                  </a:lnTo>
                  <a:lnTo>
                    <a:pt x="130970" y="61119"/>
                  </a:lnTo>
                  <a:lnTo>
                    <a:pt x="131991" y="61180"/>
                  </a:lnTo>
                  <a:cubicBezTo>
                    <a:pt x="136003" y="61653"/>
                    <a:pt x="139167" y="64817"/>
                    <a:pt x="139640" y="68828"/>
                  </a:cubicBezTo>
                  <a:lnTo>
                    <a:pt x="139701" y="69850"/>
                  </a:lnTo>
                  <a:lnTo>
                    <a:pt x="139701" y="148431"/>
                  </a:lnTo>
                  <a:cubicBezTo>
                    <a:pt x="139702" y="162301"/>
                    <a:pt x="128890" y="173768"/>
                    <a:pt x="115044" y="174581"/>
                  </a:cubicBezTo>
                  <a:lnTo>
                    <a:pt x="113507" y="174625"/>
                  </a:lnTo>
                  <a:lnTo>
                    <a:pt x="26195" y="174625"/>
                  </a:lnTo>
                  <a:cubicBezTo>
                    <a:pt x="12324" y="174626"/>
                    <a:pt x="858" y="163814"/>
                    <a:pt x="44" y="149968"/>
                  </a:cubicBezTo>
                  <a:lnTo>
                    <a:pt x="1" y="148431"/>
                  </a:lnTo>
                  <a:lnTo>
                    <a:pt x="1" y="26194"/>
                  </a:lnTo>
                  <a:cubicBezTo>
                    <a:pt x="0" y="12324"/>
                    <a:pt x="10812" y="857"/>
                    <a:pt x="24658" y="44"/>
                  </a:cubicBezTo>
                  <a:lnTo>
                    <a:pt x="26195" y="0"/>
                  </a:lnTo>
                  <a:close/>
                  <a:moveTo>
                    <a:pt x="96045" y="122238"/>
                  </a:moveTo>
                  <a:lnTo>
                    <a:pt x="43657" y="122238"/>
                  </a:lnTo>
                  <a:cubicBezTo>
                    <a:pt x="38835" y="122238"/>
                    <a:pt x="34926" y="126147"/>
                    <a:pt x="34926" y="130969"/>
                  </a:cubicBezTo>
                  <a:cubicBezTo>
                    <a:pt x="34926" y="135791"/>
                    <a:pt x="38835" y="139700"/>
                    <a:pt x="43657" y="139700"/>
                  </a:cubicBezTo>
                  <a:lnTo>
                    <a:pt x="96045" y="139700"/>
                  </a:lnTo>
                  <a:cubicBezTo>
                    <a:pt x="100867" y="139700"/>
                    <a:pt x="104776" y="135791"/>
                    <a:pt x="104776" y="130969"/>
                  </a:cubicBezTo>
                  <a:cubicBezTo>
                    <a:pt x="104776" y="126147"/>
                    <a:pt x="100867" y="122238"/>
                    <a:pt x="96045" y="122238"/>
                  </a:cubicBezTo>
                  <a:moveTo>
                    <a:pt x="96045" y="87313"/>
                  </a:moveTo>
                  <a:lnTo>
                    <a:pt x="43657" y="87313"/>
                  </a:lnTo>
                  <a:cubicBezTo>
                    <a:pt x="38835" y="87313"/>
                    <a:pt x="34926" y="91222"/>
                    <a:pt x="34926" y="96044"/>
                  </a:cubicBezTo>
                  <a:cubicBezTo>
                    <a:pt x="34926" y="100866"/>
                    <a:pt x="38835" y="104775"/>
                    <a:pt x="43657" y="104775"/>
                  </a:cubicBezTo>
                  <a:lnTo>
                    <a:pt x="96045" y="104775"/>
                  </a:lnTo>
                  <a:cubicBezTo>
                    <a:pt x="100867" y="104775"/>
                    <a:pt x="104776" y="100866"/>
                    <a:pt x="104776" y="96044"/>
                  </a:cubicBezTo>
                  <a:cubicBezTo>
                    <a:pt x="104776" y="91222"/>
                    <a:pt x="100867" y="87313"/>
                    <a:pt x="96045" y="87313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78710" y="1645435"/>
              <a:ext cx="34934" cy="34934"/>
            </a:xfrm>
            <a:custGeom>
              <a:avLst/>
              <a:gdLst/>
              <a:ahLst/>
              <a:cxnLst/>
              <a:rect l="l" t="t" r="r" b="b"/>
              <a:pathLst>
                <a:path w="34934" h="34934">
                  <a:moveTo>
                    <a:pt x="34934" y="34934"/>
                  </a:moveTo>
                  <a:lnTo>
                    <a:pt x="9" y="34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326642" y="1664018"/>
            <a:ext cx="10496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ppt-master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84463" y="1648772"/>
            <a:ext cx="174625" cy="145492"/>
          </a:xfrm>
          <a:custGeom>
            <a:avLst/>
            <a:gdLst/>
            <a:ahLst/>
            <a:cxnLst/>
            <a:rect l="l" t="t" r="r" b="b"/>
            <a:pathLst>
              <a:path w="174625" h="145492">
                <a:moveTo>
                  <a:pt x="170259" y="15304"/>
                </a:moveTo>
                <a:cubicBezTo>
                  <a:pt x="172644" y="16680"/>
                  <a:pt x="174239" y="19101"/>
                  <a:pt x="174564" y="21835"/>
                </a:cubicBezTo>
                <a:lnTo>
                  <a:pt x="174625" y="22865"/>
                </a:lnTo>
                <a:lnTo>
                  <a:pt x="174625" y="136371"/>
                </a:lnTo>
                <a:cubicBezTo>
                  <a:pt x="174625" y="139491"/>
                  <a:pt x="172961" y="142373"/>
                  <a:pt x="170259" y="143933"/>
                </a:cubicBezTo>
                <a:cubicBezTo>
                  <a:pt x="167558" y="145492"/>
                  <a:pt x="164230" y="145492"/>
                  <a:pt x="161528" y="143933"/>
                </a:cubicBezTo>
                <a:cubicBezTo>
                  <a:pt x="141440" y="132333"/>
                  <a:pt x="116903" y="131463"/>
                  <a:pt x="96044" y="141610"/>
                </a:cubicBezTo>
                <a:lnTo>
                  <a:pt x="96044" y="9122"/>
                </a:lnTo>
                <a:cubicBezTo>
                  <a:pt x="120465" y="0"/>
                  <a:pt x="147684" y="2267"/>
                  <a:pt x="170259" y="15304"/>
                </a:cubicBezTo>
                <a:moveTo>
                  <a:pt x="78581" y="9131"/>
                </a:moveTo>
                <a:lnTo>
                  <a:pt x="78590" y="141619"/>
                </a:lnTo>
                <a:cubicBezTo>
                  <a:pt x="58576" y="131876"/>
                  <a:pt x="35117" y="132255"/>
                  <a:pt x="15428" y="142640"/>
                </a:cubicBezTo>
                <a:lnTo>
                  <a:pt x="12573" y="144212"/>
                </a:lnTo>
                <a:lnTo>
                  <a:pt x="11674" y="144596"/>
                </a:lnTo>
                <a:lnTo>
                  <a:pt x="11246" y="144736"/>
                </a:lnTo>
                <a:lnTo>
                  <a:pt x="10285" y="144963"/>
                </a:lnTo>
                <a:lnTo>
                  <a:pt x="9753" y="145050"/>
                </a:lnTo>
                <a:lnTo>
                  <a:pt x="8731" y="145103"/>
                </a:lnTo>
                <a:lnTo>
                  <a:pt x="8365" y="145103"/>
                </a:lnTo>
                <a:lnTo>
                  <a:pt x="7404" y="144998"/>
                </a:lnTo>
                <a:lnTo>
                  <a:pt x="6732" y="144876"/>
                </a:lnTo>
                <a:lnTo>
                  <a:pt x="5789" y="144596"/>
                </a:lnTo>
                <a:lnTo>
                  <a:pt x="4689" y="144107"/>
                </a:lnTo>
                <a:lnTo>
                  <a:pt x="3859" y="143618"/>
                </a:lnTo>
                <a:lnTo>
                  <a:pt x="3082" y="143033"/>
                </a:lnTo>
                <a:lnTo>
                  <a:pt x="2558" y="142544"/>
                </a:lnTo>
                <a:lnTo>
                  <a:pt x="1921" y="141828"/>
                </a:lnTo>
                <a:lnTo>
                  <a:pt x="1362" y="141051"/>
                </a:lnTo>
                <a:lnTo>
                  <a:pt x="1170" y="140737"/>
                </a:lnTo>
                <a:lnTo>
                  <a:pt x="891" y="140213"/>
                </a:lnTo>
                <a:lnTo>
                  <a:pt x="506" y="139314"/>
                </a:lnTo>
                <a:lnTo>
                  <a:pt x="367" y="138886"/>
                </a:lnTo>
                <a:lnTo>
                  <a:pt x="140" y="137926"/>
                </a:lnTo>
                <a:lnTo>
                  <a:pt x="52" y="137393"/>
                </a:lnTo>
                <a:lnTo>
                  <a:pt x="17" y="136965"/>
                </a:lnTo>
                <a:lnTo>
                  <a:pt x="0" y="22865"/>
                </a:lnTo>
                <a:cubicBezTo>
                  <a:pt x="0" y="19746"/>
                  <a:pt x="1664" y="16863"/>
                  <a:pt x="4366" y="15304"/>
                </a:cubicBezTo>
                <a:cubicBezTo>
                  <a:pt x="26942" y="2270"/>
                  <a:pt x="54162" y="6"/>
                  <a:pt x="78581" y="9131"/>
                </a:cubicBezTo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945892" y="1664018"/>
            <a:ext cx="1378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ResearchStudio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02944" y="1645444"/>
            <a:ext cx="157162" cy="157163"/>
            <a:chOff x="4502944" y="1645444"/>
            <a:chExt cx="157162" cy="157163"/>
          </a:xfrm>
        </p:grpSpPr>
        <p:sp>
          <p:nvSpPr>
            <p:cNvPr id="18" name="Freeform 18"/>
            <p:cNvSpPr/>
            <p:nvPr/>
          </p:nvSpPr>
          <p:spPr>
            <a:xfrm>
              <a:off x="4502944" y="1645444"/>
              <a:ext cx="69850" cy="61119"/>
            </a:xfrm>
            <a:custGeom>
              <a:avLst/>
              <a:gdLst/>
              <a:ahLst/>
              <a:cxnLst/>
              <a:rect l="l" t="t" r="r" b="b"/>
              <a:pathLst>
                <a:path w="69850" h="61119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34925"/>
                  </a:lnTo>
                  <a:cubicBezTo>
                    <a:pt x="69850" y="49391"/>
                    <a:pt x="58123" y="61119"/>
                    <a:pt x="43656" y="61119"/>
                  </a:cubicBezTo>
                  <a:lnTo>
                    <a:pt x="26194" y="61119"/>
                  </a:lnTo>
                  <a:cubicBezTo>
                    <a:pt x="11727" y="61119"/>
                    <a:pt x="0" y="49391"/>
                    <a:pt x="0" y="3492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502944" y="1724025"/>
              <a:ext cx="69850" cy="78581"/>
            </a:xfrm>
            <a:custGeom>
              <a:avLst/>
              <a:gdLst/>
              <a:ahLst/>
              <a:cxnLst/>
              <a:rect l="l" t="t" r="r" b="b"/>
              <a:pathLst>
                <a:path w="69850" h="78581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52388"/>
                  </a:lnTo>
                  <a:cubicBezTo>
                    <a:pt x="69850" y="66854"/>
                    <a:pt x="58123" y="78581"/>
                    <a:pt x="43656" y="78581"/>
                  </a:cubicBezTo>
                  <a:lnTo>
                    <a:pt x="26194" y="78581"/>
                  </a:lnTo>
                  <a:cubicBezTo>
                    <a:pt x="11727" y="78581"/>
                    <a:pt x="0" y="66854"/>
                    <a:pt x="0" y="52388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590256" y="1645444"/>
              <a:ext cx="69850" cy="157163"/>
            </a:xfrm>
            <a:custGeom>
              <a:avLst/>
              <a:gdLst/>
              <a:ahLst/>
              <a:cxnLst/>
              <a:rect l="l" t="t" r="r" b="b"/>
              <a:pathLst>
                <a:path w="69850" h="157163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130969"/>
                  </a:lnTo>
                  <a:cubicBezTo>
                    <a:pt x="69850" y="145435"/>
                    <a:pt x="58123" y="157163"/>
                    <a:pt x="43656" y="157163"/>
                  </a:cubicBezTo>
                  <a:lnTo>
                    <a:pt x="26194" y="157163"/>
                  </a:lnTo>
                  <a:cubicBezTo>
                    <a:pt x="11727" y="157163"/>
                    <a:pt x="0" y="145435"/>
                    <a:pt x="0" y="130969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4755642" y="1664018"/>
            <a:ext cx="4560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Marp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836444" y="1645444"/>
            <a:ext cx="157162" cy="157163"/>
            <a:chOff x="5836444" y="1645444"/>
            <a:chExt cx="157162" cy="157163"/>
          </a:xfrm>
        </p:grpSpPr>
        <p:sp>
          <p:nvSpPr>
            <p:cNvPr id="23" name="Freeform 23"/>
            <p:cNvSpPr/>
            <p:nvPr/>
          </p:nvSpPr>
          <p:spPr>
            <a:xfrm>
              <a:off x="5836444" y="1645444"/>
              <a:ext cx="69850" cy="61119"/>
            </a:xfrm>
            <a:custGeom>
              <a:avLst/>
              <a:gdLst/>
              <a:ahLst/>
              <a:cxnLst/>
              <a:rect l="l" t="t" r="r" b="b"/>
              <a:pathLst>
                <a:path w="69850" h="61119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34925"/>
                  </a:lnTo>
                  <a:cubicBezTo>
                    <a:pt x="69850" y="49391"/>
                    <a:pt x="58123" y="61119"/>
                    <a:pt x="43656" y="61119"/>
                  </a:cubicBezTo>
                  <a:lnTo>
                    <a:pt x="26194" y="61119"/>
                  </a:lnTo>
                  <a:cubicBezTo>
                    <a:pt x="11727" y="61119"/>
                    <a:pt x="0" y="49391"/>
                    <a:pt x="0" y="3492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36444" y="1724025"/>
              <a:ext cx="69850" cy="78581"/>
            </a:xfrm>
            <a:custGeom>
              <a:avLst/>
              <a:gdLst/>
              <a:ahLst/>
              <a:cxnLst/>
              <a:rect l="l" t="t" r="r" b="b"/>
              <a:pathLst>
                <a:path w="69850" h="78581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52388"/>
                  </a:lnTo>
                  <a:cubicBezTo>
                    <a:pt x="69850" y="66854"/>
                    <a:pt x="58123" y="78581"/>
                    <a:pt x="43656" y="78581"/>
                  </a:cubicBezTo>
                  <a:lnTo>
                    <a:pt x="26194" y="78581"/>
                  </a:lnTo>
                  <a:cubicBezTo>
                    <a:pt x="11727" y="78581"/>
                    <a:pt x="0" y="66854"/>
                    <a:pt x="0" y="52388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923756" y="1645444"/>
              <a:ext cx="69850" cy="157163"/>
            </a:xfrm>
            <a:custGeom>
              <a:avLst/>
              <a:gdLst/>
              <a:ahLst/>
              <a:cxnLst/>
              <a:rect l="l" t="t" r="r" b="b"/>
              <a:pathLst>
                <a:path w="69850" h="157163">
                  <a:moveTo>
                    <a:pt x="43656" y="0"/>
                  </a:moveTo>
                  <a:cubicBezTo>
                    <a:pt x="58123" y="0"/>
                    <a:pt x="69850" y="11727"/>
                    <a:pt x="69850" y="26194"/>
                  </a:cubicBezTo>
                  <a:lnTo>
                    <a:pt x="69850" y="130969"/>
                  </a:lnTo>
                  <a:cubicBezTo>
                    <a:pt x="69850" y="145435"/>
                    <a:pt x="58123" y="157163"/>
                    <a:pt x="43656" y="157163"/>
                  </a:cubicBezTo>
                  <a:lnTo>
                    <a:pt x="26194" y="157163"/>
                  </a:lnTo>
                  <a:cubicBezTo>
                    <a:pt x="11727" y="157163"/>
                    <a:pt x="0" y="145435"/>
                    <a:pt x="0" y="130969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6089142" y="1664018"/>
            <a:ext cx="5273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Slidev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161213" y="1636713"/>
            <a:ext cx="174625" cy="174624"/>
            <a:chOff x="7161213" y="1636713"/>
            <a:chExt cx="174625" cy="174624"/>
          </a:xfrm>
        </p:grpSpPr>
        <p:sp>
          <p:nvSpPr>
            <p:cNvPr id="28" name="Freeform 28"/>
            <p:cNvSpPr/>
            <p:nvPr/>
          </p:nvSpPr>
          <p:spPr>
            <a:xfrm>
              <a:off x="7196138" y="1671622"/>
              <a:ext cx="139700" cy="139715"/>
            </a:xfrm>
            <a:custGeom>
              <a:avLst/>
              <a:gdLst/>
              <a:ahLst/>
              <a:cxnLst/>
              <a:rect l="l" t="t" r="r" b="b"/>
              <a:pathLst>
                <a:path w="139700" h="139715">
                  <a:moveTo>
                    <a:pt x="130323" y="9393"/>
                  </a:moveTo>
                  <a:cubicBezTo>
                    <a:pt x="136325" y="15399"/>
                    <a:pt x="139697" y="23542"/>
                    <a:pt x="139700" y="32033"/>
                  </a:cubicBezTo>
                  <a:lnTo>
                    <a:pt x="139700" y="107698"/>
                  </a:lnTo>
                  <a:cubicBezTo>
                    <a:pt x="139700" y="116189"/>
                    <a:pt x="136327" y="124333"/>
                    <a:pt x="130322" y="130338"/>
                  </a:cubicBezTo>
                  <a:cubicBezTo>
                    <a:pt x="124318" y="136342"/>
                    <a:pt x="116174" y="139715"/>
                    <a:pt x="107683" y="139715"/>
                  </a:cubicBezTo>
                  <a:lnTo>
                    <a:pt x="32018" y="139715"/>
                  </a:lnTo>
                  <a:cubicBezTo>
                    <a:pt x="23526" y="139715"/>
                    <a:pt x="15382" y="136342"/>
                    <a:pt x="9378" y="130338"/>
                  </a:cubicBezTo>
                  <a:cubicBezTo>
                    <a:pt x="3373" y="124333"/>
                    <a:pt x="0" y="116189"/>
                    <a:pt x="0" y="107698"/>
                  </a:cubicBezTo>
                  <a:lnTo>
                    <a:pt x="0" y="32033"/>
                  </a:lnTo>
                  <a:cubicBezTo>
                    <a:pt x="0" y="31724"/>
                    <a:pt x="15" y="31427"/>
                    <a:pt x="44" y="31142"/>
                  </a:cubicBezTo>
                  <a:cubicBezTo>
                    <a:pt x="494" y="13811"/>
                    <a:pt x="14681" y="0"/>
                    <a:pt x="32018" y="15"/>
                  </a:cubicBezTo>
                  <a:lnTo>
                    <a:pt x="107683" y="15"/>
                  </a:lnTo>
                  <a:cubicBezTo>
                    <a:pt x="116178" y="15"/>
                    <a:pt x="124316" y="3386"/>
                    <a:pt x="130323" y="9393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161213" y="1636713"/>
              <a:ext cx="136578" cy="138647"/>
            </a:xfrm>
            <a:custGeom>
              <a:avLst/>
              <a:gdLst/>
              <a:ahLst/>
              <a:cxnLst/>
              <a:rect l="l" t="t" r="r" b="b"/>
              <a:pathLst>
                <a:path w="136578" h="138647">
                  <a:moveTo>
                    <a:pt x="134234" y="13219"/>
                  </a:moveTo>
                  <a:cubicBezTo>
                    <a:pt x="136578" y="17434"/>
                    <a:pt x="135061" y="22750"/>
                    <a:pt x="130847" y="25094"/>
                  </a:cubicBezTo>
                  <a:cubicBezTo>
                    <a:pt x="126632" y="27437"/>
                    <a:pt x="121316" y="25920"/>
                    <a:pt x="118972" y="21706"/>
                  </a:cubicBezTo>
                  <a:cubicBezTo>
                    <a:pt x="117042" y="18231"/>
                    <a:pt x="115986" y="17463"/>
                    <a:pt x="113506" y="17463"/>
                  </a:cubicBezTo>
                  <a:lnTo>
                    <a:pt x="26194" y="17463"/>
                  </a:lnTo>
                  <a:cubicBezTo>
                    <a:pt x="21409" y="17463"/>
                    <a:pt x="17463" y="21409"/>
                    <a:pt x="17463" y="26194"/>
                  </a:cubicBezTo>
                  <a:lnTo>
                    <a:pt x="17463" y="113489"/>
                  </a:lnTo>
                  <a:cubicBezTo>
                    <a:pt x="17463" y="116632"/>
                    <a:pt x="19156" y="119531"/>
                    <a:pt x="21889" y="121085"/>
                  </a:cubicBezTo>
                  <a:cubicBezTo>
                    <a:pt x="26080" y="123472"/>
                    <a:pt x="27542" y="128804"/>
                    <a:pt x="25155" y="132994"/>
                  </a:cubicBezTo>
                  <a:cubicBezTo>
                    <a:pt x="22768" y="137185"/>
                    <a:pt x="17436" y="138647"/>
                    <a:pt x="13245" y="136260"/>
                  </a:cubicBezTo>
                  <a:cubicBezTo>
                    <a:pt x="5062" y="131606"/>
                    <a:pt x="6" y="122920"/>
                    <a:pt x="0" y="113506"/>
                  </a:cubicBezTo>
                  <a:lnTo>
                    <a:pt x="0" y="26194"/>
                  </a:lnTo>
                  <a:cubicBezTo>
                    <a:pt x="0" y="11770"/>
                    <a:pt x="11770" y="0"/>
                    <a:pt x="26194" y="0"/>
                  </a:cubicBezTo>
                  <a:lnTo>
                    <a:pt x="113506" y="0"/>
                  </a:lnTo>
                  <a:cubicBezTo>
                    <a:pt x="123058" y="0"/>
                    <a:pt x="129467" y="4654"/>
                    <a:pt x="134234" y="13219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7422642" y="1664018"/>
            <a:ext cx="10579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MarkItDown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702674" y="1636713"/>
            <a:ext cx="139702" cy="174626"/>
            <a:chOff x="8702674" y="1636713"/>
            <a:chExt cx="139702" cy="174626"/>
          </a:xfrm>
        </p:grpSpPr>
        <p:sp>
          <p:nvSpPr>
            <p:cNvPr id="32" name="Freeform 32"/>
            <p:cNvSpPr/>
            <p:nvPr/>
          </p:nvSpPr>
          <p:spPr>
            <a:xfrm>
              <a:off x="8702674" y="1636713"/>
              <a:ext cx="139702" cy="174626"/>
            </a:xfrm>
            <a:custGeom>
              <a:avLst/>
              <a:gdLst/>
              <a:ahLst/>
              <a:cxnLst/>
              <a:rect l="l" t="t" r="r" b="b"/>
              <a:pathLst>
                <a:path w="139702" h="174626">
                  <a:moveTo>
                    <a:pt x="69851" y="0"/>
                  </a:moveTo>
                  <a:lnTo>
                    <a:pt x="70872" y="61"/>
                  </a:lnTo>
                  <a:cubicBezTo>
                    <a:pt x="74884" y="534"/>
                    <a:pt x="78048" y="3698"/>
                    <a:pt x="78521" y="7710"/>
                  </a:cubicBezTo>
                  <a:lnTo>
                    <a:pt x="78582" y="8731"/>
                  </a:lnTo>
                  <a:lnTo>
                    <a:pt x="78582" y="43656"/>
                  </a:lnTo>
                  <a:lnTo>
                    <a:pt x="78626" y="44966"/>
                  </a:lnTo>
                  <a:cubicBezTo>
                    <a:pt x="79271" y="53557"/>
                    <a:pt x="86085" y="60393"/>
                    <a:pt x="94674" y="61066"/>
                  </a:cubicBezTo>
                  <a:lnTo>
                    <a:pt x="96045" y="61119"/>
                  </a:lnTo>
                  <a:lnTo>
                    <a:pt x="130970" y="61119"/>
                  </a:lnTo>
                  <a:lnTo>
                    <a:pt x="131991" y="61180"/>
                  </a:lnTo>
                  <a:cubicBezTo>
                    <a:pt x="136003" y="61653"/>
                    <a:pt x="139167" y="64817"/>
                    <a:pt x="139640" y="68828"/>
                  </a:cubicBezTo>
                  <a:lnTo>
                    <a:pt x="139701" y="69850"/>
                  </a:lnTo>
                  <a:lnTo>
                    <a:pt x="139701" y="148431"/>
                  </a:lnTo>
                  <a:cubicBezTo>
                    <a:pt x="139702" y="162301"/>
                    <a:pt x="128890" y="173768"/>
                    <a:pt x="115044" y="174581"/>
                  </a:cubicBezTo>
                  <a:lnTo>
                    <a:pt x="113507" y="174625"/>
                  </a:lnTo>
                  <a:lnTo>
                    <a:pt x="26195" y="174625"/>
                  </a:lnTo>
                  <a:cubicBezTo>
                    <a:pt x="12324" y="174626"/>
                    <a:pt x="858" y="163814"/>
                    <a:pt x="44" y="149968"/>
                  </a:cubicBezTo>
                  <a:lnTo>
                    <a:pt x="1" y="148431"/>
                  </a:lnTo>
                  <a:lnTo>
                    <a:pt x="1" y="26194"/>
                  </a:lnTo>
                  <a:cubicBezTo>
                    <a:pt x="0" y="12324"/>
                    <a:pt x="10812" y="857"/>
                    <a:pt x="24658" y="44"/>
                  </a:cubicBezTo>
                  <a:lnTo>
                    <a:pt x="26195" y="0"/>
                  </a:lnTo>
                  <a:close/>
                  <a:moveTo>
                    <a:pt x="56291" y="96969"/>
                  </a:moveTo>
                  <a:cubicBezTo>
                    <a:pt x="51980" y="94816"/>
                    <a:pt x="46740" y="96563"/>
                    <a:pt x="44583" y="100872"/>
                  </a:cubicBezTo>
                  <a:lnTo>
                    <a:pt x="35851" y="118335"/>
                  </a:lnTo>
                  <a:cubicBezTo>
                    <a:pt x="34623" y="120792"/>
                    <a:pt x="34623" y="123683"/>
                    <a:pt x="35851" y="126140"/>
                  </a:cubicBezTo>
                  <a:lnTo>
                    <a:pt x="44583" y="143603"/>
                  </a:lnTo>
                  <a:cubicBezTo>
                    <a:pt x="46740" y="147912"/>
                    <a:pt x="51980" y="149659"/>
                    <a:pt x="56291" y="147506"/>
                  </a:cubicBezTo>
                  <a:lnTo>
                    <a:pt x="57182" y="146999"/>
                  </a:lnTo>
                  <a:cubicBezTo>
                    <a:pt x="60880" y="144568"/>
                    <a:pt x="62174" y="139755"/>
                    <a:pt x="60194" y="135797"/>
                  </a:cubicBezTo>
                  <a:lnTo>
                    <a:pt x="53419" y="122238"/>
                  </a:lnTo>
                  <a:lnTo>
                    <a:pt x="60194" y="108678"/>
                  </a:lnTo>
                  <a:cubicBezTo>
                    <a:pt x="62347" y="104367"/>
                    <a:pt x="60600" y="99126"/>
                    <a:pt x="56291" y="96969"/>
                  </a:cubicBezTo>
                  <a:moveTo>
                    <a:pt x="95119" y="100872"/>
                  </a:moveTo>
                  <a:cubicBezTo>
                    <a:pt x="92962" y="96563"/>
                    <a:pt x="87722" y="94816"/>
                    <a:pt x="83410" y="96969"/>
                  </a:cubicBezTo>
                  <a:lnTo>
                    <a:pt x="82520" y="97476"/>
                  </a:lnTo>
                  <a:cubicBezTo>
                    <a:pt x="78822" y="99907"/>
                    <a:pt x="77528" y="104720"/>
                    <a:pt x="79508" y="108678"/>
                  </a:cubicBezTo>
                  <a:lnTo>
                    <a:pt x="86266" y="122238"/>
                  </a:lnTo>
                  <a:lnTo>
                    <a:pt x="79499" y="135797"/>
                  </a:lnTo>
                  <a:cubicBezTo>
                    <a:pt x="77521" y="140079"/>
                    <a:pt x="79301" y="145159"/>
                    <a:pt x="83521" y="147268"/>
                  </a:cubicBezTo>
                  <a:cubicBezTo>
                    <a:pt x="87740" y="149378"/>
                    <a:pt x="92871" y="147755"/>
                    <a:pt x="95110" y="143603"/>
                  </a:cubicBezTo>
                  <a:lnTo>
                    <a:pt x="103842" y="126140"/>
                  </a:lnTo>
                  <a:cubicBezTo>
                    <a:pt x="105069" y="123683"/>
                    <a:pt x="105069" y="120792"/>
                    <a:pt x="103842" y="118335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798710" y="1645435"/>
              <a:ext cx="34934" cy="34934"/>
            </a:xfrm>
            <a:custGeom>
              <a:avLst/>
              <a:gdLst/>
              <a:ahLst/>
              <a:cxnLst/>
              <a:rect l="l" t="t" r="r" b="b"/>
              <a:pathLst>
                <a:path w="34934" h="34934">
                  <a:moveTo>
                    <a:pt x="34934" y="34934"/>
                  </a:moveTo>
                  <a:lnTo>
                    <a:pt x="9" y="34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8946642" y="1664018"/>
            <a:ext cx="935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PptxGenJS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226674" y="1636713"/>
            <a:ext cx="139702" cy="174626"/>
            <a:chOff x="10226674" y="1636713"/>
            <a:chExt cx="139702" cy="174626"/>
          </a:xfrm>
        </p:grpSpPr>
        <p:sp>
          <p:nvSpPr>
            <p:cNvPr id="36" name="Freeform 36"/>
            <p:cNvSpPr/>
            <p:nvPr/>
          </p:nvSpPr>
          <p:spPr>
            <a:xfrm>
              <a:off x="10226674" y="1636713"/>
              <a:ext cx="139702" cy="174626"/>
            </a:xfrm>
            <a:custGeom>
              <a:avLst/>
              <a:gdLst/>
              <a:ahLst/>
              <a:cxnLst/>
              <a:rect l="l" t="t" r="r" b="b"/>
              <a:pathLst>
                <a:path w="139702" h="174626">
                  <a:moveTo>
                    <a:pt x="69851" y="0"/>
                  </a:moveTo>
                  <a:lnTo>
                    <a:pt x="70872" y="61"/>
                  </a:lnTo>
                  <a:cubicBezTo>
                    <a:pt x="74884" y="534"/>
                    <a:pt x="78048" y="3698"/>
                    <a:pt x="78521" y="7710"/>
                  </a:cubicBezTo>
                  <a:lnTo>
                    <a:pt x="78582" y="8731"/>
                  </a:lnTo>
                  <a:lnTo>
                    <a:pt x="78582" y="43656"/>
                  </a:lnTo>
                  <a:lnTo>
                    <a:pt x="78626" y="44966"/>
                  </a:lnTo>
                  <a:cubicBezTo>
                    <a:pt x="79271" y="53557"/>
                    <a:pt x="86085" y="60393"/>
                    <a:pt x="94674" y="61066"/>
                  </a:cubicBezTo>
                  <a:lnTo>
                    <a:pt x="96045" y="61119"/>
                  </a:lnTo>
                  <a:lnTo>
                    <a:pt x="130970" y="61119"/>
                  </a:lnTo>
                  <a:lnTo>
                    <a:pt x="131991" y="61180"/>
                  </a:lnTo>
                  <a:cubicBezTo>
                    <a:pt x="136003" y="61653"/>
                    <a:pt x="139167" y="64817"/>
                    <a:pt x="139640" y="68828"/>
                  </a:cubicBezTo>
                  <a:lnTo>
                    <a:pt x="139701" y="69850"/>
                  </a:lnTo>
                  <a:lnTo>
                    <a:pt x="139701" y="148431"/>
                  </a:lnTo>
                  <a:cubicBezTo>
                    <a:pt x="139702" y="162301"/>
                    <a:pt x="128890" y="173768"/>
                    <a:pt x="115044" y="174581"/>
                  </a:cubicBezTo>
                  <a:lnTo>
                    <a:pt x="113507" y="174625"/>
                  </a:lnTo>
                  <a:lnTo>
                    <a:pt x="26195" y="174625"/>
                  </a:lnTo>
                  <a:cubicBezTo>
                    <a:pt x="12324" y="174626"/>
                    <a:pt x="858" y="163814"/>
                    <a:pt x="44" y="149968"/>
                  </a:cubicBezTo>
                  <a:lnTo>
                    <a:pt x="1" y="148431"/>
                  </a:lnTo>
                  <a:lnTo>
                    <a:pt x="1" y="26194"/>
                  </a:lnTo>
                  <a:cubicBezTo>
                    <a:pt x="0" y="12324"/>
                    <a:pt x="10812" y="857"/>
                    <a:pt x="24658" y="44"/>
                  </a:cubicBezTo>
                  <a:lnTo>
                    <a:pt x="26195" y="0"/>
                  </a:lnTo>
                  <a:close/>
                  <a:moveTo>
                    <a:pt x="96045" y="122238"/>
                  </a:moveTo>
                  <a:lnTo>
                    <a:pt x="43657" y="122238"/>
                  </a:lnTo>
                  <a:cubicBezTo>
                    <a:pt x="38835" y="122238"/>
                    <a:pt x="34926" y="126147"/>
                    <a:pt x="34926" y="130969"/>
                  </a:cubicBezTo>
                  <a:cubicBezTo>
                    <a:pt x="34926" y="135791"/>
                    <a:pt x="38835" y="139700"/>
                    <a:pt x="43657" y="139700"/>
                  </a:cubicBezTo>
                  <a:lnTo>
                    <a:pt x="96045" y="139700"/>
                  </a:lnTo>
                  <a:cubicBezTo>
                    <a:pt x="100867" y="139700"/>
                    <a:pt x="104776" y="135791"/>
                    <a:pt x="104776" y="130969"/>
                  </a:cubicBezTo>
                  <a:cubicBezTo>
                    <a:pt x="104776" y="126147"/>
                    <a:pt x="100867" y="122238"/>
                    <a:pt x="96045" y="122238"/>
                  </a:cubicBezTo>
                  <a:moveTo>
                    <a:pt x="96045" y="87313"/>
                  </a:moveTo>
                  <a:lnTo>
                    <a:pt x="43657" y="87313"/>
                  </a:lnTo>
                  <a:cubicBezTo>
                    <a:pt x="38835" y="87313"/>
                    <a:pt x="34926" y="91222"/>
                    <a:pt x="34926" y="96044"/>
                  </a:cubicBezTo>
                  <a:cubicBezTo>
                    <a:pt x="34926" y="100866"/>
                    <a:pt x="38835" y="104775"/>
                    <a:pt x="43657" y="104775"/>
                  </a:cubicBezTo>
                  <a:lnTo>
                    <a:pt x="96045" y="104775"/>
                  </a:lnTo>
                  <a:cubicBezTo>
                    <a:pt x="100867" y="104775"/>
                    <a:pt x="104776" y="100866"/>
                    <a:pt x="104776" y="96044"/>
                  </a:cubicBezTo>
                  <a:cubicBezTo>
                    <a:pt x="104776" y="91222"/>
                    <a:pt x="100867" y="87313"/>
                    <a:pt x="96045" y="87313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322710" y="1645435"/>
              <a:ext cx="34934" cy="34934"/>
            </a:xfrm>
            <a:custGeom>
              <a:avLst/>
              <a:gdLst/>
              <a:ahLst/>
              <a:cxnLst/>
              <a:rect l="l" t="t" r="r" b="b"/>
              <a:pathLst>
                <a:path w="34934" h="34934">
                  <a:moveTo>
                    <a:pt x="34934" y="34934"/>
                  </a:moveTo>
                  <a:lnTo>
                    <a:pt x="9" y="34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0470642" y="1664018"/>
            <a:ext cx="11132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python-pptx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228600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762000" y="228600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762000" y="253365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923661" y="2398871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适合场景</a:t>
            </a:r>
          </a:p>
        </p:txBody>
      </p:sp>
      <p:sp>
        <p:nvSpPr>
          <p:cNvPr id="44" name="Ellipse 44"/>
          <p:cNvSpPr/>
          <p:nvPr/>
        </p:nvSpPr>
        <p:spPr>
          <a:xfrm>
            <a:off x="1000125" y="29051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231392" y="287369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培训课件</a:t>
            </a:r>
          </a:p>
        </p:txBody>
      </p:sp>
      <p:sp>
        <p:nvSpPr>
          <p:cNvPr id="46" name="Ellipse 46"/>
          <p:cNvSpPr/>
          <p:nvPr/>
        </p:nvSpPr>
        <p:spPr>
          <a:xfrm>
            <a:off x="1000125" y="3238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231392" y="32070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项目汇报</a:t>
            </a:r>
          </a:p>
        </p:txBody>
      </p:sp>
      <p:sp>
        <p:nvSpPr>
          <p:cNvPr id="48" name="Ellipse 48"/>
          <p:cNvSpPr/>
          <p:nvPr/>
        </p:nvSpPr>
        <p:spPr>
          <a:xfrm>
            <a:off x="1000125" y="357187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31392" y="35404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测试报告</a:t>
            </a:r>
          </a:p>
        </p:txBody>
      </p:sp>
      <p:sp>
        <p:nvSpPr>
          <p:cNvPr id="50" name="Ellipse 50"/>
          <p:cNvSpPr/>
          <p:nvPr/>
        </p:nvSpPr>
        <p:spPr>
          <a:xfrm>
            <a:off x="2809875" y="2905125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041142" y="287369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技术分享</a:t>
            </a:r>
          </a:p>
        </p:txBody>
      </p:sp>
      <p:sp>
        <p:nvSpPr>
          <p:cNvPr id="52" name="Ellipse 52"/>
          <p:cNvSpPr/>
          <p:nvPr/>
        </p:nvSpPr>
        <p:spPr>
          <a:xfrm>
            <a:off x="2809875" y="3238500"/>
            <a:ext cx="95250" cy="952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3041142" y="32070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论文或调研材料整理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286000"/>
            <a:ext cx="5143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6286500" y="2286000"/>
            <a:ext cx="5143500" cy="38100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6286500" y="2533650"/>
            <a:ext cx="5143500" cy="133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649586" y="2398871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价值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5392" y="2854642"/>
            <a:ext cx="23944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这类工具不是简单"文档转换"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65392" y="3188018"/>
            <a:ext cx="24044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而是把 AI 用在交付物生产上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565392" y="3521392"/>
            <a:ext cx="34667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汇报、培训、测试总结、方案说明都可受益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" y="4476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40892" y="4664392"/>
            <a:ext cx="63472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对开发中心来说，汇报、培训、测试总结、方案说明都可以受益于这类工具。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工具选型标准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618" y="1060132"/>
            <a:ext cx="338192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评估一个工具时，看这 8 个问题：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476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847725" y="1562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06351" y="1658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9779" y="163258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解决的是否是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9779" y="187071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真实高频问题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429000" y="1476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3514725" y="1562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573351" y="1658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46779" y="163258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是否容易上手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1476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6181725" y="1562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240351" y="1658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13779" y="16325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是否能接入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13779" y="1870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现有流程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763000" y="1476375"/>
            <a:ext cx="2667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848725" y="1562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07351" y="1658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0779" y="16325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是否支持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80779" y="1870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团队共享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2619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847725" y="2705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6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9779" y="27755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是否可控、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9779" y="30137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可审计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429000" y="2619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3514725" y="2705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73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946779" y="27755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数据和权限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46779" y="3013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是否可接受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096000" y="2619375"/>
            <a:ext cx="2476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6181725" y="2705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40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13779" y="277558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成本是否可控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0" y="2619375"/>
            <a:ext cx="2667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8848725" y="2705100"/>
            <a:ext cx="304800" cy="30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907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80779" y="27755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是否有人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80779" y="3013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维护和推广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62000" y="390525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40892" y="4102418"/>
            <a:ext cx="87098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工具选型不要只看演示效果。真正能推广的工具，必须解决高频问题，并有清晰的权限、成本和维护方案。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推荐试点组合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2476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2476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2476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96156" y="1160463"/>
            <a:ext cx="122238" cy="174625"/>
            <a:chOff x="996156" y="1160463"/>
            <a:chExt cx="122238" cy="174625"/>
          </a:xfrm>
        </p:grpSpPr>
        <p:sp>
          <p:nvSpPr>
            <p:cNvPr id="11" name="Freeform 11"/>
            <p:cNvSpPr/>
            <p:nvPr/>
          </p:nvSpPr>
          <p:spPr>
            <a:xfrm>
              <a:off x="1013619" y="1160463"/>
              <a:ext cx="87313" cy="87313"/>
            </a:xfrm>
            <a:custGeom>
              <a:avLst/>
              <a:gdLst/>
              <a:ahLst/>
              <a:cxnLst/>
              <a:rect l="l" t="t" r="r" b="b"/>
              <a:pathLst>
                <a:path w="87313" h="87313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3"/>
                    <a:pt x="43656" y="87313"/>
                  </a:cubicBezTo>
                  <a:cubicBezTo>
                    <a:pt x="19546" y="87313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96156" y="1265238"/>
              <a:ext cx="122238" cy="69850"/>
            </a:xfrm>
            <a:custGeom>
              <a:avLst/>
              <a:gdLst/>
              <a:ahLst/>
              <a:cxnLst/>
              <a:rect l="l" t="t" r="r" b="b"/>
              <a:pathLst>
                <a:path w="122238" h="69850">
                  <a:moveTo>
                    <a:pt x="78581" y="0"/>
                  </a:moveTo>
                  <a:cubicBezTo>
                    <a:pt x="102692" y="0"/>
                    <a:pt x="122238" y="19546"/>
                    <a:pt x="122238" y="43656"/>
                  </a:cubicBezTo>
                  <a:lnTo>
                    <a:pt x="122238" y="52388"/>
                  </a:lnTo>
                  <a:cubicBezTo>
                    <a:pt x="122238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633328" y="12053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个人提效</a:t>
            </a:r>
          </a:p>
        </p:txBody>
      </p:sp>
      <p:sp>
        <p:nvSpPr>
          <p:cNvPr id="15" name="Ellipse 15"/>
          <p:cNvSpPr/>
          <p:nvPr/>
        </p:nvSpPr>
        <p:spPr>
          <a:xfrm>
            <a:off x="962025" y="1676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6904" y="1651635"/>
            <a:ext cx="557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Copilot</a:t>
            </a:r>
          </a:p>
        </p:txBody>
      </p:sp>
      <p:sp>
        <p:nvSpPr>
          <p:cNvPr id="17" name="Ellipse 17"/>
          <p:cNvSpPr/>
          <p:nvPr/>
        </p:nvSpPr>
        <p:spPr>
          <a:xfrm>
            <a:off x="962025" y="19621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36904" y="1937385"/>
            <a:ext cx="10965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Cherry Studio</a:t>
            </a:r>
          </a:p>
        </p:txBody>
      </p:sp>
      <p:sp>
        <p:nvSpPr>
          <p:cNvPr id="19" name="Ellipse 19"/>
          <p:cNvSpPr/>
          <p:nvPr/>
        </p:nvSpPr>
        <p:spPr>
          <a:xfrm>
            <a:off x="962025" y="22479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36904" y="2223135"/>
            <a:ext cx="13214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Cline / OpenCode</a:t>
            </a:r>
          </a:p>
        </p:txBody>
      </p:sp>
      <p:sp>
        <p:nvSpPr>
          <p:cNvPr id="21" name="Ellipse 21"/>
          <p:cNvSpPr/>
          <p:nvPr/>
        </p:nvSpPr>
        <p:spPr>
          <a:xfrm>
            <a:off x="962025" y="25336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136904" y="2508885"/>
            <a:ext cx="4206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Aider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429000" y="1047750"/>
            <a:ext cx="2476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429000" y="1047750"/>
            <a:ext cx="2476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3429000" y="1333500"/>
            <a:ext cx="2476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645693" y="1160463"/>
            <a:ext cx="157164" cy="174624"/>
            <a:chOff x="3645693" y="1160463"/>
            <a:chExt cx="157164" cy="174624"/>
          </a:xfrm>
        </p:grpSpPr>
        <p:sp>
          <p:nvSpPr>
            <p:cNvPr id="26" name="Freeform 26"/>
            <p:cNvSpPr/>
            <p:nvPr/>
          </p:nvSpPr>
          <p:spPr>
            <a:xfrm>
              <a:off x="3645694" y="1280351"/>
              <a:ext cx="157163" cy="54736"/>
            </a:xfrm>
            <a:custGeom>
              <a:avLst/>
              <a:gdLst/>
              <a:ahLst/>
              <a:cxnLst/>
              <a:rect l="l" t="t" r="r" b="b"/>
              <a:pathLst>
                <a:path w="157163" h="54736">
                  <a:moveTo>
                    <a:pt x="0" y="0"/>
                  </a:moveTo>
                  <a:cubicBezTo>
                    <a:pt x="17183" y="13158"/>
                    <a:pt x="45699" y="19811"/>
                    <a:pt x="78581" y="19811"/>
                  </a:cubicBezTo>
                  <a:cubicBezTo>
                    <a:pt x="111411" y="19811"/>
                    <a:pt x="139918" y="13175"/>
                    <a:pt x="157163" y="148"/>
                  </a:cubicBezTo>
                  <a:lnTo>
                    <a:pt x="157163" y="19811"/>
                  </a:lnTo>
                  <a:cubicBezTo>
                    <a:pt x="157163" y="40985"/>
                    <a:pt x="123154" y="54177"/>
                    <a:pt x="81262" y="54719"/>
                  </a:cubicBezTo>
                  <a:lnTo>
                    <a:pt x="78581" y="54736"/>
                  </a:lnTo>
                  <a:cubicBezTo>
                    <a:pt x="35466" y="54736"/>
                    <a:pt x="0" y="41439"/>
                    <a:pt x="0" y="19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645694" y="1227964"/>
              <a:ext cx="157163" cy="54736"/>
            </a:xfrm>
            <a:custGeom>
              <a:avLst/>
              <a:gdLst/>
              <a:ahLst/>
              <a:cxnLst/>
              <a:rect l="l" t="t" r="r" b="b"/>
              <a:pathLst>
                <a:path w="157163" h="54736">
                  <a:moveTo>
                    <a:pt x="0" y="0"/>
                  </a:moveTo>
                  <a:cubicBezTo>
                    <a:pt x="17183" y="13158"/>
                    <a:pt x="45699" y="19811"/>
                    <a:pt x="78581" y="19811"/>
                  </a:cubicBezTo>
                  <a:cubicBezTo>
                    <a:pt x="111411" y="19811"/>
                    <a:pt x="139918" y="13175"/>
                    <a:pt x="157163" y="148"/>
                  </a:cubicBezTo>
                  <a:lnTo>
                    <a:pt x="157163" y="19811"/>
                  </a:lnTo>
                  <a:cubicBezTo>
                    <a:pt x="157163" y="41439"/>
                    <a:pt x="121696" y="54736"/>
                    <a:pt x="78581" y="54736"/>
                  </a:cubicBezTo>
                  <a:cubicBezTo>
                    <a:pt x="36689" y="54736"/>
                    <a:pt x="2008" y="42181"/>
                    <a:pt x="183" y="21601"/>
                  </a:cubicBezTo>
                  <a:lnTo>
                    <a:pt x="44" y="20719"/>
                  </a:lnTo>
                  <a:lnTo>
                    <a:pt x="0" y="198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3645693" y="1160463"/>
              <a:ext cx="157163" cy="69850"/>
            </a:xfrm>
            <a:custGeom>
              <a:avLst/>
              <a:gdLst/>
              <a:ahLst/>
              <a:cxnLst/>
              <a:rect l="l" t="t" r="r" b="b"/>
              <a:pathLst>
                <a:path w="157163" h="69850">
                  <a:moveTo>
                    <a:pt x="78582" y="0"/>
                  </a:moveTo>
                  <a:cubicBezTo>
                    <a:pt x="87671" y="0"/>
                    <a:pt x="96429" y="594"/>
                    <a:pt x="104575" y="1729"/>
                  </a:cubicBezTo>
                  <a:lnTo>
                    <a:pt x="108670" y="2349"/>
                  </a:lnTo>
                  <a:cubicBezTo>
                    <a:pt x="113559" y="3164"/>
                    <a:pt x="118175" y="4176"/>
                    <a:pt x="122518" y="5387"/>
                  </a:cubicBezTo>
                  <a:lnTo>
                    <a:pt x="126359" y="6531"/>
                  </a:lnTo>
                  <a:lnTo>
                    <a:pt x="127014" y="6741"/>
                  </a:lnTo>
                  <a:cubicBezTo>
                    <a:pt x="129390" y="7522"/>
                    <a:pt x="131735" y="8396"/>
                    <a:pt x="134043" y="9360"/>
                  </a:cubicBezTo>
                  <a:lnTo>
                    <a:pt x="135780" y="10111"/>
                  </a:lnTo>
                  <a:cubicBezTo>
                    <a:pt x="138895" y="11519"/>
                    <a:pt x="141709" y="13062"/>
                    <a:pt x="144224" y="14738"/>
                  </a:cubicBezTo>
                  <a:cubicBezTo>
                    <a:pt x="145184" y="15379"/>
                    <a:pt x="146095" y="16033"/>
                    <a:pt x="146956" y="16703"/>
                  </a:cubicBezTo>
                  <a:cubicBezTo>
                    <a:pt x="149139" y="18396"/>
                    <a:pt x="151101" y="20356"/>
                    <a:pt x="152798" y="22535"/>
                  </a:cubicBezTo>
                  <a:lnTo>
                    <a:pt x="153592" y="23653"/>
                  </a:lnTo>
                  <a:cubicBezTo>
                    <a:pt x="154000" y="24264"/>
                    <a:pt x="154375" y="24878"/>
                    <a:pt x="154718" y="25495"/>
                  </a:cubicBezTo>
                  <a:lnTo>
                    <a:pt x="155330" y="26709"/>
                  </a:lnTo>
                  <a:cubicBezTo>
                    <a:pt x="156278" y="28746"/>
                    <a:pt x="156861" y="30871"/>
                    <a:pt x="157076" y="33083"/>
                  </a:cubicBezTo>
                  <a:lnTo>
                    <a:pt x="157163" y="34925"/>
                  </a:lnTo>
                  <a:cubicBezTo>
                    <a:pt x="157163" y="56552"/>
                    <a:pt x="121697" y="69850"/>
                    <a:pt x="78582" y="69850"/>
                  </a:cubicBezTo>
                  <a:cubicBezTo>
                    <a:pt x="36689" y="69850"/>
                    <a:pt x="2009" y="57294"/>
                    <a:pt x="184" y="36715"/>
                  </a:cubicBezTo>
                  <a:cubicBezTo>
                    <a:pt x="61" y="36126"/>
                    <a:pt x="0" y="35526"/>
                    <a:pt x="1" y="34925"/>
                  </a:cubicBezTo>
                  <a:lnTo>
                    <a:pt x="44" y="34017"/>
                  </a:lnTo>
                  <a:lnTo>
                    <a:pt x="184" y="33144"/>
                  </a:lnTo>
                  <a:cubicBezTo>
                    <a:pt x="1974" y="13010"/>
                    <a:pt x="35196" y="550"/>
                    <a:pt x="7585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4210217" y="12053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团队知识库</a:t>
            </a:r>
          </a:p>
        </p:txBody>
      </p:sp>
      <p:sp>
        <p:nvSpPr>
          <p:cNvPr id="31" name="Ellipse 31"/>
          <p:cNvSpPr/>
          <p:nvPr/>
        </p:nvSpPr>
        <p:spPr>
          <a:xfrm>
            <a:off x="3629025" y="1676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803904" y="1651635"/>
            <a:ext cx="12300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Dify 或 RAGFlow</a:t>
            </a:r>
          </a:p>
        </p:txBody>
      </p:sp>
      <p:sp>
        <p:nvSpPr>
          <p:cNvPr id="33" name="Ellipse 33"/>
          <p:cNvSpPr/>
          <p:nvPr/>
        </p:nvSpPr>
        <p:spPr>
          <a:xfrm>
            <a:off x="3629025" y="19621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803904" y="1937385"/>
            <a:ext cx="9404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MarkItDown</a:t>
            </a:r>
          </a:p>
        </p:txBody>
      </p:sp>
      <p:sp>
        <p:nvSpPr>
          <p:cNvPr id="35" name="Ellipse 35"/>
          <p:cNvSpPr/>
          <p:nvPr/>
        </p:nvSpPr>
        <p:spPr>
          <a:xfrm>
            <a:off x="3629025" y="22479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803904" y="2223135"/>
            <a:ext cx="9064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 WebUI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1047750"/>
            <a:ext cx="24765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096000" y="1047750"/>
            <a:ext cx="2476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096000" y="1333500"/>
            <a:ext cx="2476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6312693" y="1169193"/>
            <a:ext cx="157164" cy="157164"/>
            <a:chOff x="6312693" y="1169193"/>
            <a:chExt cx="157164" cy="157164"/>
          </a:xfrm>
        </p:grpSpPr>
        <p:sp>
          <p:nvSpPr>
            <p:cNvPr id="40" name="Freeform 40"/>
            <p:cNvSpPr/>
            <p:nvPr/>
          </p:nvSpPr>
          <p:spPr>
            <a:xfrm>
              <a:off x="6312694" y="1239044"/>
              <a:ext cx="52388" cy="87313"/>
            </a:xfrm>
            <a:custGeom>
              <a:avLst/>
              <a:gdLst/>
              <a:ahLst/>
              <a:cxnLst/>
              <a:rect l="l" t="t" r="r" b="b"/>
              <a:pathLst>
                <a:path w="52388" h="87313">
                  <a:moveTo>
                    <a:pt x="8731" y="0"/>
                  </a:moveTo>
                  <a:lnTo>
                    <a:pt x="43656" y="0"/>
                  </a:lnTo>
                  <a:cubicBezTo>
                    <a:pt x="48478" y="0"/>
                    <a:pt x="52388" y="3909"/>
                    <a:pt x="52388" y="8731"/>
                  </a:cubicBezTo>
                  <a:lnTo>
                    <a:pt x="52388" y="78581"/>
                  </a:lnTo>
                  <a:cubicBezTo>
                    <a:pt x="52388" y="83403"/>
                    <a:pt x="48478" y="87313"/>
                    <a:pt x="43656" y="87313"/>
                  </a:cubicBezTo>
                  <a:lnTo>
                    <a:pt x="26194" y="87313"/>
                  </a:lnTo>
                  <a:cubicBezTo>
                    <a:pt x="12324" y="87313"/>
                    <a:pt x="857" y="76502"/>
                    <a:pt x="44" y="62655"/>
                  </a:cubicBezTo>
                  <a:lnTo>
                    <a:pt x="0" y="61119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382544" y="1239044"/>
              <a:ext cx="87313" cy="87313"/>
            </a:xfrm>
            <a:custGeom>
              <a:avLst/>
              <a:gdLst/>
              <a:ahLst/>
              <a:cxnLst/>
              <a:rect l="l" t="t" r="r" b="b"/>
              <a:pathLst>
                <a:path w="87313" h="87313">
                  <a:moveTo>
                    <a:pt x="87313" y="8731"/>
                  </a:moveTo>
                  <a:lnTo>
                    <a:pt x="87313" y="61119"/>
                  </a:lnTo>
                  <a:cubicBezTo>
                    <a:pt x="87313" y="74989"/>
                    <a:pt x="76502" y="86455"/>
                    <a:pt x="62655" y="87269"/>
                  </a:cubicBezTo>
                  <a:lnTo>
                    <a:pt x="61119" y="87313"/>
                  </a:lnTo>
                  <a:lnTo>
                    <a:pt x="8731" y="87313"/>
                  </a:lnTo>
                  <a:cubicBezTo>
                    <a:pt x="3909" y="87313"/>
                    <a:pt x="0" y="83403"/>
                    <a:pt x="0" y="78581"/>
                  </a:cubicBez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lnTo>
                    <a:pt x="78581" y="0"/>
                  </a:lnTo>
                  <a:cubicBezTo>
                    <a:pt x="83403" y="0"/>
                    <a:pt x="87313" y="3909"/>
                    <a:pt x="87313" y="8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382544" y="1169193"/>
              <a:ext cx="87313" cy="52388"/>
            </a:xfrm>
            <a:custGeom>
              <a:avLst/>
              <a:gdLst/>
              <a:ahLst/>
              <a:cxnLst/>
              <a:rect l="l" t="t" r="r" b="b"/>
              <a:pathLst>
                <a:path w="87313" h="52388">
                  <a:moveTo>
                    <a:pt x="61119" y="1"/>
                  </a:moveTo>
                  <a:cubicBezTo>
                    <a:pt x="74989" y="0"/>
                    <a:pt x="86455" y="10812"/>
                    <a:pt x="87269" y="24658"/>
                  </a:cubicBezTo>
                  <a:lnTo>
                    <a:pt x="87313" y="26195"/>
                  </a:lnTo>
                  <a:lnTo>
                    <a:pt x="87313" y="43657"/>
                  </a:lnTo>
                  <a:cubicBezTo>
                    <a:pt x="87313" y="48479"/>
                    <a:pt x="83403" y="52388"/>
                    <a:pt x="78581" y="52388"/>
                  </a:cubicBezTo>
                  <a:lnTo>
                    <a:pt x="8731" y="52388"/>
                  </a:lnTo>
                  <a:cubicBezTo>
                    <a:pt x="3909" y="52388"/>
                    <a:pt x="0" y="48479"/>
                    <a:pt x="0" y="43657"/>
                  </a:cubicBezTo>
                  <a:lnTo>
                    <a:pt x="0" y="8732"/>
                  </a:lnTo>
                  <a:cubicBezTo>
                    <a:pt x="0" y="3910"/>
                    <a:pt x="3909" y="1"/>
                    <a:pt x="8731" y="1"/>
                  </a:cubicBezTo>
                  <a:lnTo>
                    <a:pt x="611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312693" y="1169194"/>
              <a:ext cx="52388" cy="52388"/>
            </a:xfrm>
            <a:custGeom>
              <a:avLst/>
              <a:gdLst/>
              <a:ahLst/>
              <a:cxnLst/>
              <a:rect l="l" t="t" r="r" b="b"/>
              <a:pathLst>
                <a:path w="52388" h="52388">
                  <a:moveTo>
                    <a:pt x="52388" y="8731"/>
                  </a:moveTo>
                  <a:lnTo>
                    <a:pt x="52388" y="43656"/>
                  </a:lnTo>
                  <a:cubicBezTo>
                    <a:pt x="52388" y="48478"/>
                    <a:pt x="48479" y="52388"/>
                    <a:pt x="43657" y="52388"/>
                  </a:cubicBezTo>
                  <a:lnTo>
                    <a:pt x="8732" y="52388"/>
                  </a:lnTo>
                  <a:cubicBezTo>
                    <a:pt x="3910" y="52388"/>
                    <a:pt x="1" y="48478"/>
                    <a:pt x="1" y="43656"/>
                  </a:cubicBezTo>
                  <a:lnTo>
                    <a:pt x="1" y="26194"/>
                  </a:lnTo>
                  <a:cubicBezTo>
                    <a:pt x="0" y="12324"/>
                    <a:pt x="10812" y="857"/>
                    <a:pt x="24658" y="44"/>
                  </a:cubicBezTo>
                  <a:lnTo>
                    <a:pt x="26195" y="0"/>
                  </a:lnTo>
                  <a:lnTo>
                    <a:pt x="43657" y="0"/>
                  </a:lnTo>
                  <a:cubicBezTo>
                    <a:pt x="48479" y="0"/>
                    <a:pt x="52388" y="3909"/>
                    <a:pt x="52388" y="8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6799211" y="1205389"/>
            <a:ext cx="1070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Excel 和报表</a:t>
            </a:r>
          </a:p>
        </p:txBody>
      </p:sp>
      <p:sp>
        <p:nvSpPr>
          <p:cNvPr id="46" name="Ellipse 46"/>
          <p:cNvSpPr/>
          <p:nvPr/>
        </p:nvSpPr>
        <p:spPr>
          <a:xfrm>
            <a:off x="6296025" y="1676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470904" y="1651635"/>
            <a:ext cx="100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M365 Copilot</a:t>
            </a:r>
          </a:p>
        </p:txBody>
      </p:sp>
      <p:sp>
        <p:nvSpPr>
          <p:cNvPr id="48" name="Ellipse 48"/>
          <p:cNvSpPr/>
          <p:nvPr/>
        </p:nvSpPr>
        <p:spPr>
          <a:xfrm>
            <a:off x="6296025" y="19621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70904" y="1937385"/>
            <a:ext cx="13409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ChatGPT / Claude</a:t>
            </a:r>
          </a:p>
        </p:txBody>
      </p:sp>
      <p:sp>
        <p:nvSpPr>
          <p:cNvPr id="50" name="Ellipse 50"/>
          <p:cNvSpPr/>
          <p:nvPr/>
        </p:nvSpPr>
        <p:spPr>
          <a:xfrm>
            <a:off x="6296025" y="22479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470904" y="2223135"/>
            <a:ext cx="1270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Python + pandas</a:t>
            </a:r>
          </a:p>
        </p:txBody>
      </p:sp>
      <p:sp>
        <p:nvSpPr>
          <p:cNvPr id="52" name="Ellipse 52"/>
          <p:cNvSpPr/>
          <p:nvPr/>
        </p:nvSpPr>
        <p:spPr>
          <a:xfrm>
            <a:off x="6296025" y="25336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470904" y="2508885"/>
            <a:ext cx="278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n8n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763000" y="1047750"/>
            <a:ext cx="2667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8763000" y="1047750"/>
            <a:ext cx="26670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8763000" y="1333500"/>
            <a:ext cx="26670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8967009" y="1160463"/>
            <a:ext cx="182524" cy="174718"/>
          </a:xfrm>
          <a:custGeom>
            <a:avLst/>
            <a:gdLst/>
            <a:ahLst/>
            <a:cxnLst/>
            <a:rect l="l" t="t" r="r" b="b"/>
            <a:pathLst>
              <a:path w="182524" h="174718">
                <a:moveTo>
                  <a:pt x="90253" y="61"/>
                </a:moveTo>
                <a:lnTo>
                  <a:pt x="91249" y="0"/>
                </a:lnTo>
                <a:lnTo>
                  <a:pt x="92279" y="61"/>
                </a:lnTo>
                <a:lnTo>
                  <a:pt x="92794" y="131"/>
                </a:lnTo>
                <a:lnTo>
                  <a:pt x="93327" y="244"/>
                </a:lnTo>
                <a:lnTo>
                  <a:pt x="94296" y="541"/>
                </a:lnTo>
                <a:cubicBezTo>
                  <a:pt x="94965" y="788"/>
                  <a:pt x="95602" y="1117"/>
                  <a:pt x="96190" y="1519"/>
                </a:cubicBezTo>
                <a:lnTo>
                  <a:pt x="97098" y="2235"/>
                </a:lnTo>
                <a:lnTo>
                  <a:pt x="99325" y="4139"/>
                </a:lnTo>
                <a:cubicBezTo>
                  <a:pt x="116939" y="18768"/>
                  <a:pt x="139199" y="26624"/>
                  <a:pt x="162094" y="26290"/>
                </a:cubicBezTo>
                <a:lnTo>
                  <a:pt x="165080" y="26202"/>
                </a:lnTo>
                <a:cubicBezTo>
                  <a:pt x="169098" y="26019"/>
                  <a:pt x="172721" y="28604"/>
                  <a:pt x="173855" y="32463"/>
                </a:cubicBezTo>
                <a:cubicBezTo>
                  <a:pt x="182524" y="61951"/>
                  <a:pt x="178863" y="93693"/>
                  <a:pt x="163710" y="120434"/>
                </a:cubicBezTo>
                <a:cubicBezTo>
                  <a:pt x="148558" y="147175"/>
                  <a:pt x="123208" y="166628"/>
                  <a:pt x="93458" y="174346"/>
                </a:cubicBezTo>
                <a:cubicBezTo>
                  <a:pt x="92020" y="174718"/>
                  <a:pt x="90512" y="174718"/>
                  <a:pt x="89074" y="174346"/>
                </a:cubicBezTo>
                <a:cubicBezTo>
                  <a:pt x="59322" y="166630"/>
                  <a:pt x="33970" y="147178"/>
                  <a:pt x="18816" y="120437"/>
                </a:cubicBezTo>
                <a:cubicBezTo>
                  <a:pt x="3662" y="93696"/>
                  <a:pt x="0" y="61952"/>
                  <a:pt x="8668" y="32463"/>
                </a:cubicBezTo>
                <a:cubicBezTo>
                  <a:pt x="9802" y="28604"/>
                  <a:pt x="13426" y="26019"/>
                  <a:pt x="17443" y="26202"/>
                </a:cubicBezTo>
                <a:cubicBezTo>
                  <a:pt x="41345" y="27295"/>
                  <a:pt x="64793" y="19427"/>
                  <a:pt x="83198" y="4139"/>
                </a:cubicBezTo>
                <a:lnTo>
                  <a:pt x="85495" y="2174"/>
                </a:lnTo>
                <a:lnTo>
                  <a:pt x="86333" y="1519"/>
                </a:lnTo>
                <a:cubicBezTo>
                  <a:pt x="86922" y="1117"/>
                  <a:pt x="87558" y="788"/>
                  <a:pt x="88228" y="541"/>
                </a:cubicBezTo>
                <a:lnTo>
                  <a:pt x="89205" y="244"/>
                </a:lnTo>
                <a:cubicBezTo>
                  <a:pt x="89548" y="162"/>
                  <a:pt x="89895" y="101"/>
                  <a:pt x="90244" y="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729578" y="12053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平台治理</a:t>
            </a:r>
          </a:p>
        </p:txBody>
      </p:sp>
      <p:sp>
        <p:nvSpPr>
          <p:cNvPr id="59" name="Ellipse 59"/>
          <p:cNvSpPr/>
          <p:nvPr/>
        </p:nvSpPr>
        <p:spPr>
          <a:xfrm>
            <a:off x="8963025" y="16764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137904" y="1651635"/>
            <a:ext cx="6459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61" name="Ellipse 61"/>
          <p:cNvSpPr/>
          <p:nvPr/>
        </p:nvSpPr>
        <p:spPr>
          <a:xfrm>
            <a:off x="8963025" y="196215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137904" y="1937385"/>
            <a:ext cx="7280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Langfuse</a:t>
            </a:r>
          </a:p>
        </p:txBody>
      </p:sp>
      <p:sp>
        <p:nvSpPr>
          <p:cNvPr id="63" name="Ellipse 63"/>
          <p:cNvSpPr/>
          <p:nvPr/>
        </p:nvSpPr>
        <p:spPr>
          <a:xfrm>
            <a:off x="8963025" y="2247900"/>
            <a:ext cx="76200" cy="76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137904" y="2223135"/>
            <a:ext cx="534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65" name="Rectangle 65"/>
          <p:cNvSpPr/>
          <p:nvPr/>
        </p:nvSpPr>
        <p:spPr>
          <a:xfrm>
            <a:off x="762000" y="3238500"/>
            <a:ext cx="10668000" cy="5715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040892" y="3435668"/>
            <a:ext cx="685086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建议按"个人提效 → 团队知识库 → Excel 自动化 → 平台治理"的顺序逐步推进试点。</a:t>
            </a:r>
          </a:p>
        </p:txBody>
      </p:sp>
      <p:sp>
        <p:nvSpPr>
          <p:cNvPr id="67" name="Rectangle 6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191750" y="-476250"/>
            <a:ext cx="2476500" cy="2476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5143500"/>
            <a:ext cx="2095500" cy="20955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solidFill>
            <a:srgbClr val="F59E0B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7784" y="184785"/>
            <a:ext cx="26989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小组讨论与作业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969963" y="1169194"/>
            <a:ext cx="174625" cy="166302"/>
          </a:xfrm>
          <a:custGeom>
            <a:avLst/>
            <a:gdLst/>
            <a:ahLst/>
            <a:cxnLst/>
            <a:rect l="l" t="t" r="r" b="b"/>
            <a:pathLst>
              <a:path w="174625" h="166302">
                <a:moveTo>
                  <a:pt x="139700" y="0"/>
                </a:moveTo>
                <a:cubicBezTo>
                  <a:pt x="158989" y="0"/>
                  <a:pt x="174625" y="15636"/>
                  <a:pt x="174625" y="34925"/>
                </a:cubicBezTo>
                <a:lnTo>
                  <a:pt x="174625" y="104775"/>
                </a:lnTo>
                <a:cubicBezTo>
                  <a:pt x="174625" y="124064"/>
                  <a:pt x="158989" y="139700"/>
                  <a:pt x="139700" y="139700"/>
                </a:cubicBezTo>
                <a:lnTo>
                  <a:pt x="98454" y="139700"/>
                </a:lnTo>
                <a:lnTo>
                  <a:pt x="56875" y="164645"/>
                </a:lnTo>
                <a:cubicBezTo>
                  <a:pt x="54331" y="166172"/>
                  <a:pt x="51185" y="166302"/>
                  <a:pt x="48524" y="164991"/>
                </a:cubicBezTo>
                <a:cubicBezTo>
                  <a:pt x="45862" y="163679"/>
                  <a:pt x="44048" y="161106"/>
                  <a:pt x="43709" y="158158"/>
                </a:cubicBezTo>
                <a:lnTo>
                  <a:pt x="43656" y="157163"/>
                </a:lnTo>
                <a:lnTo>
                  <a:pt x="43656" y="139700"/>
                </a:lnTo>
                <a:lnTo>
                  <a:pt x="34925" y="139700"/>
                </a:lnTo>
                <a:cubicBezTo>
                  <a:pt x="16315" y="139700"/>
                  <a:pt x="974" y="125108"/>
                  <a:pt x="44" y="106521"/>
                </a:cubicBezTo>
                <a:lnTo>
                  <a:pt x="0" y="104775"/>
                </a:lnTo>
                <a:lnTo>
                  <a:pt x="0" y="34925"/>
                </a:lnTo>
                <a:cubicBezTo>
                  <a:pt x="0" y="15636"/>
                  <a:pt x="15636" y="0"/>
                  <a:pt x="34925" y="0"/>
                </a:cubicBezTo>
                <a:close/>
                <a:moveTo>
                  <a:pt x="104775" y="78581"/>
                </a:moveTo>
                <a:lnTo>
                  <a:pt x="52388" y="78581"/>
                </a:lnTo>
                <a:cubicBezTo>
                  <a:pt x="47565" y="78581"/>
                  <a:pt x="43656" y="82490"/>
                  <a:pt x="43656" y="87313"/>
                </a:cubicBezTo>
                <a:cubicBezTo>
                  <a:pt x="43656" y="92135"/>
                  <a:pt x="47565" y="96044"/>
                  <a:pt x="52388" y="96044"/>
                </a:cubicBezTo>
                <a:lnTo>
                  <a:pt x="104775" y="96044"/>
                </a:lnTo>
                <a:cubicBezTo>
                  <a:pt x="109597" y="96044"/>
                  <a:pt x="113506" y="92135"/>
                  <a:pt x="113506" y="87313"/>
                </a:cubicBezTo>
                <a:cubicBezTo>
                  <a:pt x="113506" y="82490"/>
                  <a:pt x="109597" y="78581"/>
                  <a:pt x="104775" y="78581"/>
                </a:cubicBezTo>
                <a:moveTo>
                  <a:pt x="122238" y="43656"/>
                </a:moveTo>
                <a:lnTo>
                  <a:pt x="52388" y="43656"/>
                </a:lnTo>
                <a:cubicBezTo>
                  <a:pt x="47565" y="43656"/>
                  <a:pt x="43656" y="47565"/>
                  <a:pt x="43656" y="52388"/>
                </a:cubicBezTo>
                <a:cubicBezTo>
                  <a:pt x="43656" y="57210"/>
                  <a:pt x="47565" y="61119"/>
                  <a:pt x="52388" y="61119"/>
                </a:cubicBezTo>
                <a:lnTo>
                  <a:pt x="122238" y="61119"/>
                </a:lnTo>
                <a:cubicBezTo>
                  <a:pt x="127060" y="61119"/>
                  <a:pt x="130969" y="57210"/>
                  <a:pt x="130969" y="52388"/>
                </a:cubicBezTo>
                <a:cubicBezTo>
                  <a:pt x="130969" y="47565"/>
                  <a:pt x="127060" y="43656"/>
                  <a:pt x="122238" y="4365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923661" y="1189196"/>
            <a:ext cx="8201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小组讨论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892" y="1616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讨论题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273" y="1957864"/>
            <a:ext cx="36128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1. 你目前工作中使用最多的 AI 工具是什么？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1273" y="2291239"/>
            <a:ext cx="36860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2. 你觉得团队最需要优先试用的工具是哪一类？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273" y="2624614"/>
            <a:ext cx="282785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3. 你对哪个工具最感兴趣？为什么？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1273" y="2957989"/>
            <a:ext cx="39755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4. 你担心 AI 工具在团队推广中会遇到什么障碍？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04775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047750"/>
            <a:ext cx="5143500" cy="428625"/>
          </a:xfrm>
          <a:prstGeom prst="roundRect">
            <a:avLst>
              <a:gd name="adj" fmla="val 31111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333500"/>
            <a:ext cx="5143500" cy="1428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6503194" y="1157821"/>
            <a:ext cx="168580" cy="168536"/>
            <a:chOff x="6503194" y="1157821"/>
            <a:chExt cx="168580" cy="168536"/>
          </a:xfrm>
        </p:grpSpPr>
        <p:sp>
          <p:nvSpPr>
            <p:cNvPr id="21" name="Freeform 21"/>
            <p:cNvSpPr/>
            <p:nvPr/>
          </p:nvSpPr>
          <p:spPr>
            <a:xfrm>
              <a:off x="6503194" y="1195388"/>
              <a:ext cx="130969" cy="130969"/>
            </a:xfrm>
            <a:custGeom>
              <a:avLst/>
              <a:gdLst/>
              <a:ahLst/>
              <a:cxnLst/>
              <a:rect l="l" t="t" r="r" b="b"/>
              <a:pathLst>
                <a:path w="130969" h="130969">
                  <a:moveTo>
                    <a:pt x="43656" y="8731"/>
                  </a:moveTo>
                  <a:cubicBezTo>
                    <a:pt x="43656" y="13553"/>
                    <a:pt x="39747" y="17463"/>
                    <a:pt x="34925" y="17463"/>
                  </a:cubicBezTo>
                  <a:lnTo>
                    <a:pt x="26194" y="17463"/>
                  </a:lnTo>
                  <a:cubicBezTo>
                    <a:pt x="21372" y="17463"/>
                    <a:pt x="17463" y="21372"/>
                    <a:pt x="17463" y="26194"/>
                  </a:cubicBezTo>
                  <a:lnTo>
                    <a:pt x="17463" y="104775"/>
                  </a:lnTo>
                  <a:cubicBezTo>
                    <a:pt x="17463" y="109597"/>
                    <a:pt x="21372" y="113506"/>
                    <a:pt x="26194" y="113506"/>
                  </a:cubicBezTo>
                  <a:lnTo>
                    <a:pt x="104775" y="113506"/>
                  </a:lnTo>
                  <a:cubicBezTo>
                    <a:pt x="109597" y="113506"/>
                    <a:pt x="113506" y="109597"/>
                    <a:pt x="113506" y="104775"/>
                  </a:cubicBezTo>
                  <a:lnTo>
                    <a:pt x="113506" y="96044"/>
                  </a:lnTo>
                  <a:cubicBezTo>
                    <a:pt x="113506" y="91222"/>
                    <a:pt x="117415" y="87313"/>
                    <a:pt x="122238" y="87313"/>
                  </a:cubicBezTo>
                  <a:cubicBezTo>
                    <a:pt x="127060" y="87313"/>
                    <a:pt x="130969" y="91222"/>
                    <a:pt x="130969" y="96044"/>
                  </a:cubicBezTo>
                  <a:lnTo>
                    <a:pt x="130969" y="104775"/>
                  </a:lnTo>
                  <a:cubicBezTo>
                    <a:pt x="130969" y="119241"/>
                    <a:pt x="119241" y="130969"/>
                    <a:pt x="104775" y="130969"/>
                  </a:cubicBezTo>
                  <a:lnTo>
                    <a:pt x="26194" y="130969"/>
                  </a:lnTo>
                  <a:cubicBezTo>
                    <a:pt x="11727" y="130969"/>
                    <a:pt x="0" y="119241"/>
                    <a:pt x="0" y="10477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lnTo>
                    <a:pt x="34925" y="0"/>
                  </a:lnTo>
                  <a:cubicBezTo>
                    <a:pt x="39747" y="0"/>
                    <a:pt x="43656" y="3909"/>
                    <a:pt x="43656" y="87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546850" y="1157821"/>
              <a:ext cx="124924" cy="124879"/>
            </a:xfrm>
            <a:custGeom>
              <a:avLst/>
              <a:gdLst/>
              <a:ahLst/>
              <a:cxnLst/>
              <a:rect l="l" t="t" r="r" b="b"/>
              <a:pathLst>
                <a:path w="124924" h="124879">
                  <a:moveTo>
                    <a:pt x="57591" y="28932"/>
                  </a:moveTo>
                  <a:lnTo>
                    <a:pt x="95939" y="67279"/>
                  </a:lnTo>
                  <a:lnTo>
                    <a:pt x="41107" y="122312"/>
                  </a:lnTo>
                  <a:cubicBezTo>
                    <a:pt x="39469" y="123955"/>
                    <a:pt x="37245" y="124879"/>
                    <a:pt x="34925" y="124879"/>
                  </a:cubicBezTo>
                  <a:lnTo>
                    <a:pt x="8731" y="124879"/>
                  </a:lnTo>
                  <a:cubicBezTo>
                    <a:pt x="3909" y="124879"/>
                    <a:pt x="0" y="120970"/>
                    <a:pt x="0" y="116148"/>
                  </a:cubicBezTo>
                  <a:lnTo>
                    <a:pt x="0" y="89954"/>
                  </a:lnTo>
                  <a:cubicBezTo>
                    <a:pt x="0" y="87635"/>
                    <a:pt x="924" y="85410"/>
                    <a:pt x="2567" y="83773"/>
                  </a:cubicBezTo>
                  <a:close/>
                  <a:moveTo>
                    <a:pt x="114310" y="10570"/>
                  </a:moveTo>
                  <a:cubicBezTo>
                    <a:pt x="124297" y="20550"/>
                    <a:pt x="124924" y="36535"/>
                    <a:pt x="115750" y="47267"/>
                  </a:cubicBezTo>
                  <a:lnTo>
                    <a:pt x="114318" y="48839"/>
                  </a:lnTo>
                  <a:lnTo>
                    <a:pt x="108268" y="54898"/>
                  </a:lnTo>
                  <a:lnTo>
                    <a:pt x="69964" y="16594"/>
                  </a:lnTo>
                  <a:lnTo>
                    <a:pt x="76032" y="10570"/>
                  </a:lnTo>
                  <a:cubicBezTo>
                    <a:pt x="86602" y="0"/>
                    <a:pt x="103739" y="0"/>
                    <a:pt x="114310" y="105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649586" y="1189196"/>
            <a:ext cx="417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作业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5392" y="1616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工具体验报告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5773" y="2005489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选择今天介绍的一个工具，完成一次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5773" y="2291239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实际试用，并记录：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6154" y="268033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• 工具名称和版本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6154" y="29660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• 试用场景和过程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6154" y="3251835"/>
            <a:ext cx="1603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• 使用感受和效果评价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00050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40892" y="4188142"/>
            <a:ext cx="65289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💡 作业目的：通过实际体验，建立对工具的直观认识，为团队选型提供一手参考。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6166" y="6611302"/>
            <a:ext cx="2240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Lesson 7 · AI 工具地图与选型分享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BEB"/>
              </a:gs>
              <a:gs pos="100000">
                <a:srgbClr val="FEF3C7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429000" y="762000"/>
            <a:ext cx="5334000" cy="5334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F59E0B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52500" y="476250"/>
            <a:ext cx="1905000" cy="1905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334500" y="4381500"/>
            <a:ext cx="2286000" cy="2286000"/>
          </a:xfrm>
          <a:prstGeom prst="ellipse">
            <a:avLst/>
          </a:prstGeom>
          <a:solidFill>
            <a:srgbClr val="FDE68A">
              <a:alpha val="3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57250" y="5143500"/>
            <a:ext cx="1143000" cy="11430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0477500" y="952500"/>
            <a:ext cx="952500" cy="952500"/>
          </a:xfrm>
          <a:prstGeom prst="ellipse">
            <a:avLst/>
          </a:prstGeom>
          <a:solidFill>
            <a:srgbClr val="FDE68A">
              <a:alpha val="4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809875" y="714375"/>
            <a:ext cx="95250" cy="95250"/>
          </a:xfrm>
          <a:prstGeom prst="ellipse">
            <a:avLst/>
          </a:prstGeom>
          <a:solidFill>
            <a:srgbClr val="D97706">
              <a:alpha val="3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724400" y="914400"/>
            <a:ext cx="76200" cy="762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572375" y="523875"/>
            <a:ext cx="95250" cy="95250"/>
          </a:xfrm>
          <a:prstGeom prst="ellipse">
            <a:avLst/>
          </a:prstGeom>
          <a:solidFill>
            <a:srgbClr val="D97706">
              <a:alpha val="2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496425" y="828675"/>
            <a:ext cx="57150" cy="5715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5848046" y="2161426"/>
            <a:ext cx="495267" cy="436468"/>
          </a:xfrm>
          <a:custGeom>
            <a:avLst/>
            <a:gdLst/>
            <a:ahLst/>
            <a:cxnLst/>
            <a:rect l="l" t="t" r="r" b="b"/>
            <a:pathLst>
              <a:path w="495267" h="436468">
                <a:moveTo>
                  <a:pt x="128391" y="7274"/>
                </a:moveTo>
                <a:cubicBezTo>
                  <a:pt x="171080" y="0"/>
                  <a:pt x="214764" y="12480"/>
                  <a:pt x="247168" y="41206"/>
                </a:cubicBezTo>
                <a:lnTo>
                  <a:pt x="248049" y="41992"/>
                </a:lnTo>
                <a:lnTo>
                  <a:pt x="248859" y="41278"/>
                </a:lnTo>
                <a:cubicBezTo>
                  <a:pt x="279747" y="14171"/>
                  <a:pt x="320812" y="1677"/>
                  <a:pt x="361563" y="6988"/>
                </a:cubicBezTo>
                <a:lnTo>
                  <a:pt x="367421" y="7845"/>
                </a:lnTo>
                <a:cubicBezTo>
                  <a:pt x="419151" y="16777"/>
                  <a:pt x="461816" y="53356"/>
                  <a:pt x="478541" y="103115"/>
                </a:cubicBezTo>
                <a:cubicBezTo>
                  <a:pt x="495267" y="152874"/>
                  <a:pt x="483358" y="207797"/>
                  <a:pt x="447527" y="246161"/>
                </a:cubicBezTo>
                <a:lnTo>
                  <a:pt x="443240" y="250566"/>
                </a:lnTo>
                <a:lnTo>
                  <a:pt x="442097" y="251542"/>
                </a:lnTo>
                <a:lnTo>
                  <a:pt x="264694" y="427255"/>
                </a:lnTo>
                <a:cubicBezTo>
                  <a:pt x="256228" y="435634"/>
                  <a:pt x="242872" y="436468"/>
                  <a:pt x="233428" y="429207"/>
                </a:cubicBezTo>
                <a:lnTo>
                  <a:pt x="231190" y="427255"/>
                </a:lnTo>
                <a:lnTo>
                  <a:pt x="52763" y="250518"/>
                </a:lnTo>
                <a:cubicBezTo>
                  <a:pt x="14221" y="213017"/>
                  <a:pt x="0" y="157050"/>
                  <a:pt x="15966" y="105698"/>
                </a:cubicBezTo>
                <a:cubicBezTo>
                  <a:pt x="31932" y="54347"/>
                  <a:pt x="75380" y="16310"/>
                  <a:pt x="128391" y="7274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889602" y="297561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16147" y="3806190"/>
            <a:ext cx="49597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AI 工具地图与选型分享 · 基础培训补充分享</a:t>
            </a:r>
          </a:p>
        </p:txBody>
      </p:sp>
      <p:sp>
        <p:nvSpPr>
          <p:cNvPr id="16" name="Line 16"/>
          <p:cNvSpPr/>
          <p:nvPr/>
        </p:nvSpPr>
        <p:spPr>
          <a:xfrm>
            <a:off x="4191000" y="42862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75" cap="rnd">
            <a:solidFill>
              <a:srgbClr val="D9770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6287" y="46005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开发中心 · 2026</a:t>
            </a:r>
          </a:p>
        </p:txBody>
      </p:sp>
      <p:sp>
        <p:nvSpPr>
          <p:cNvPr id="18" name="Rectangle 1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D97706"/>
              </a:gs>
              <a:gs pos="100000">
                <a:srgbClr val="F59E0B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2152</Words>
  <Application>Microsoft Office PowerPoint</Application>
  <PresentationFormat>宽屏</PresentationFormat>
  <Paragraphs>379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ji.ye</cp:lastModifiedBy>
  <cp:revision>3</cp:revision>
  <dcterms:created xsi:type="dcterms:W3CDTF">2026-08-18T06:54:14Z</dcterms:created>
  <dcterms:modified xsi:type="dcterms:W3CDTF">2026-08-31T04:47:46Z</dcterms:modified>
  <cp:category/>
  <cp:contentStatus/>
  <dc:language/>
</cp:coreProperties>
</file>