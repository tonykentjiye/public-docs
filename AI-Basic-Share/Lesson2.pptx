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81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2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2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2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3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.jpe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0125" y="1231822"/>
            <a:ext cx="71437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900" b="1" kern="0" spc="2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开发中心 AI 普及培训系列 · LESSON 02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1505071"/>
            <a:ext cx="571500" cy="285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00125" y="1839962"/>
            <a:ext cx="714375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GitHub Copilot 上手与日常高频场景</a:t>
            </a:r>
            <a:endParaRPr lang="en-US" sz="3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1000125" y="3365153"/>
            <a:ext cx="71437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让 Copilot 成为你的结对编程助手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31" y="4725591"/>
            <a:ext cx="142875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560406" y="4722019"/>
            <a:ext cx="3746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第二课</a:t>
            </a:r>
            <a:endParaRPr lang="en-US" sz="8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0812" y="4731457"/>
            <a:ext cx="142875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63687" y="4727885"/>
            <a:ext cx="136278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+ GitHub Copilot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28638"/>
            <a:ext cx="871537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本期主题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5775" y="764381"/>
            <a:ext cx="871537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让 Copilot 成为你的结对编程助手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85775" y="1498736"/>
            <a:ext cx="8286750" cy="9715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485775" y="1498736"/>
            <a:ext cx="42863" cy="971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763653" y="1673519"/>
            <a:ext cx="6440225" cy="222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GitHub Copilot 基础使用：让每个人能在 VS Code 中完成代码补全、解释、生成和修改。</a:t>
            </a:r>
            <a:endParaRPr lang="en-US" sz="1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5775" y="2641736"/>
            <a:ext cx="1985963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881" y="2785289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213" y="3099614"/>
            <a:ext cx="18430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代码补全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586038" y="2641736"/>
            <a:ext cx="1985963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719" y="278528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57475" y="3099614"/>
            <a:ext cx="18430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代码解释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686300" y="2641736"/>
            <a:ext cx="1985963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981" y="2785289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7738" y="3099614"/>
            <a:ext cx="18430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代码生成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786563" y="2641736"/>
            <a:ext cx="1985963" cy="7858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5244" y="2785289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58000" y="3099614"/>
            <a:ext cx="18430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代码修改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85775" y="3427549"/>
            <a:ext cx="8286750" cy="375424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第一节课我们建立了 AI 认知，这节课开始进入实际工具。Copilot 的目标不是只用来“自动补全”，而是把它变成日常开发和测试工作的助手。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804142" y="4884539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02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2863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本期目标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76438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掌握最常用、最稳定的核心功能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650" y="1455874"/>
            <a:ext cx="1914525" cy="101262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541599"/>
            <a:ext cx="16859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50" y="1798774"/>
            <a:ext cx="16859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基础认知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2950" y="2068450"/>
            <a:ext cx="1685925" cy="335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完成 Copilot 在 VS Code 中的基础使用认知与环境配置。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657475" y="1455874"/>
            <a:ext cx="1914525" cy="101262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775" y="1541599"/>
            <a:ext cx="16859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71775" y="1798774"/>
            <a:ext cx="16859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交互方式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771775" y="2068450"/>
            <a:ext cx="1685925" cy="335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掌握代码补全、聊天、选中代码提问的常见交互方式。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686300" y="1455874"/>
            <a:ext cx="1914525" cy="101262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541599"/>
            <a:ext cx="16859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00600" y="1798774"/>
            <a:ext cx="16859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高频场景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800600" y="2068450"/>
            <a:ext cx="1685925" cy="335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能用 Copilot 解释代码、生成样板代码、生成注释与文档。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715125" y="1455874"/>
            <a:ext cx="1914525" cy="101262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1541599"/>
            <a:ext cx="1685925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29425" y="1798774"/>
            <a:ext cx="16859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进阶技巧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829425" y="2068450"/>
            <a:ext cx="1685925" cy="335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理解如何给 Copilot 提供更好的上下文，提升生成质量。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661267" y="4870252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03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8631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本期目录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14375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课程结构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777343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01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78719" y="1777343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基本工作方式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78719" y="2061307"/>
            <a:ext cx="2282676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Copilot 在 IDE 中的核心运行逻辑与集成方式。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57750" y="1777343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02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64969" y="1777343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代码补全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64969" y="2061307"/>
            <a:ext cx="2436564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从 Tab 键到智能补全，掌握高效的代码编写节奏。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2813186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03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78719" y="2813186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Copilot Chat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78719" y="3052502"/>
            <a:ext cx="2398092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利用聊天窗口进行多轮交互，解决复杂编程问题。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57750" y="2813186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04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64969" y="2813186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深度应用场景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64969" y="3097150"/>
            <a:ext cx="2527936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解释代码、生成样板代码、SQL 及各类自动化脚本。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3849030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05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78719" y="3849030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上下文选择技巧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78719" y="4132994"/>
            <a:ext cx="2321148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如何精准喂养 AI，让生成结果更符合项目预期。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857750" y="3849030"/>
            <a:ext cx="387927" cy="30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06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64969" y="3849030"/>
            <a:ext cx="31075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实战练习与作业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64969" y="4132994"/>
            <a:ext cx="2180084" cy="135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课堂动手实践，完成真实任务的打卡与反馈。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604117" y="479881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04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COPILOT 的基本工作方式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21519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深度集成：它不仅是聊天，更是理解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613036"/>
            <a:ext cx="1919883" cy="10144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763055"/>
            <a:ext cx="168056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STEP 01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1936291"/>
            <a:ext cx="1680567" cy="26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读取当前编辑器上下文 (文件、命名、风格)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667" y="2034518"/>
            <a:ext cx="107156" cy="1714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87823" y="1613036"/>
            <a:ext cx="1923455" cy="10144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05695" y="1763055"/>
            <a:ext cx="1684139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STEP 02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880915" y="1936291"/>
            <a:ext cx="1333698" cy="127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分析文件类型与业务逻辑意图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134" y="2034518"/>
            <a:ext cx="107156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1291" y="1613036"/>
            <a:ext cx="1927027" cy="10144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32734" y="1763055"/>
            <a:ext cx="1687711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STEP 03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858444" y="1936291"/>
            <a:ext cx="1436291" cy="127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实时生成精准的代码或文本建议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745" y="2034518"/>
            <a:ext cx="107156" cy="1714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41902" y="1613036"/>
            <a:ext cx="1930598" cy="101441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766917" y="1755911"/>
            <a:ext cx="1691283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STEP 04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766917" y="1929147"/>
            <a:ext cx="169128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通过 Chat 进行多轮交互与代码修改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27486"/>
            <a:ext cx="142875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1531" y="2927486"/>
            <a:ext cx="3231654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结合当前文件上下文</a:t>
            </a:r>
            <a:r>
              <a:rPr lang="en-US" sz="9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：理解你正在写的代码，而非泛泛而谈。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20380"/>
            <a:ext cx="142875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1531" y="3220380"/>
            <a:ext cx="3225242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针对选中代码精准理解</a:t>
            </a:r>
            <a:r>
              <a:rPr lang="en-US" sz="9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：对特定逻辑块的重构与解释更准确。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13274"/>
            <a:ext cx="142875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21531" y="3513274"/>
            <a:ext cx="3231654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保持项目风格一致性</a:t>
            </a:r>
            <a:r>
              <a:rPr lang="en-US" sz="9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：学习并模仿你现有的命名和编码习惯。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5000625" y="2827474"/>
            <a:ext cx="3571875" cy="142875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7291" y="2827474"/>
            <a:ext cx="2538543" cy="142872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05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场景一：代码补全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代码补全：从意图到实现的快速跃迁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70161"/>
            <a:ext cx="142875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1470161"/>
            <a:ext cx="1615827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写函数名后自动补全函数体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55911"/>
            <a:ext cx="142875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1755911"/>
            <a:ext cx="1615827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根据注释描述生成对应代码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41661"/>
            <a:ext cx="142875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0100" y="2041661"/>
            <a:ext cx="1885131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根据已有代码风格补全相似逻辑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27411"/>
            <a:ext cx="142875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00100" y="2327411"/>
            <a:ext cx="2423740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自动生成参数校验、异常处理、返回结构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4686300" y="1398724"/>
            <a:ext cx="3886200" cy="19859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4686300" y="1398724"/>
            <a:ext cx="514350" cy="18216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8"/>
          <p:cNvSpPr/>
          <p:nvPr/>
        </p:nvSpPr>
        <p:spPr>
          <a:xfrm>
            <a:off x="4686300" y="1398724"/>
            <a:ext cx="513987" cy="16107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实战演示</a:t>
            </a:r>
            <a:endParaRPr 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857750" y="1634468"/>
            <a:ext cx="3543300" cy="91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// 根据用户ID查询用户订单总数</a:t>
            </a:r>
            <a:r>
              <a:rPr lang="en-US" sz="95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async function</a:t>
            </a:r>
            <a:r>
              <a:rPr lang="en-US" sz="95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60A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getUserOrderCount</a:t>
            </a:r>
            <a:r>
              <a:rPr lang="en-US" sz="95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(userId) {
</a:t>
            </a:r>
            <a:r>
              <a:rPr lang="en-US" sz="950" i="1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const orders = await db.orders.find({ userId });</a:t>
            </a:r>
            <a:r>
              <a:rPr lang="en-US" sz="95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</a:t>
            </a:r>
            <a:r>
              <a:rPr lang="en-US" sz="950" i="1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return orders.length;</a:t>
            </a:r>
            <a:r>
              <a:rPr lang="en-US" sz="95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}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481127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00600" y="3477555"/>
            <a:ext cx="3494546" cy="1436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补全不是无脑按 Tab。正确方式是先写清楚意图，再看它生成的代码是否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686300" y="3649005"/>
            <a:ext cx="763029" cy="1436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符合项目风格。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746992" y="491311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06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64344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核心原则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671513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好的习惯让补全事半功倍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363005"/>
            <a:ext cx="3957638" cy="5715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91593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53" y="1563030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1497566"/>
            <a:ext cx="3328988" cy="31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清晰命名：</a:t>
            </a:r>
            <a:r>
              <a:rPr lang="en-US" sz="8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先写清楚函数名和变量名，让 AI 理解操作对象。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14863" y="1363005"/>
            <a:ext cx="3957638" cy="5715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29163" y="1484449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555886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9213" y="1490423"/>
            <a:ext cx="3328988" cy="31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描述意图：</a:t>
            </a:r>
            <a:r>
              <a:rPr lang="en-US" sz="8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善用注释描述想要实现的功能，给 AI 明确的指令。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71500" y="2005943"/>
            <a:ext cx="3957638" cy="5715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134530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205968"/>
            <a:ext cx="214313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50" y="2140504"/>
            <a:ext cx="3328988" cy="31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环境整洁：</a:t>
            </a:r>
            <a:r>
              <a:rPr lang="en-US" sz="8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保持当前文件上下文干净，关闭无关标签页以减少干扰。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614863" y="2005943"/>
            <a:ext cx="3957638" cy="5715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729163" y="2127386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747" y="2198824"/>
            <a:ext cx="107156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29213" y="2133360"/>
            <a:ext cx="332898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小步快跑：</a:t>
            </a:r>
            <a:r>
              <a:rPr lang="en-US" sz="8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小步接受建议，不要一次接受大段陌生代码。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571500" y="2648880"/>
            <a:ext cx="3957638" cy="5715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85800" y="2770324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Text 16"/>
          <p:cNvSpPr/>
          <p:nvPr/>
        </p:nvSpPr>
        <p:spPr>
          <a:xfrm>
            <a:off x="1085850" y="2776298"/>
            <a:ext cx="3328988" cy="31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严格检查：</a:t>
            </a:r>
            <a:r>
              <a:rPr lang="en-US" sz="8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接受后立即检查逻辑与边界条件，AI 不是责任人。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8604117" y="4777383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07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场景二：解释代码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692944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解释代码：快速理清复杂逻辑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13036"/>
            <a:ext cx="160734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7959" y="1613036"/>
            <a:ext cx="2019784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选中一段代码，要求解释整体流程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1649"/>
            <a:ext cx="142875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1941649"/>
            <a:ext cx="1750479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要求说明输入、输出、副作用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70261"/>
            <a:ext cx="142875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0100" y="2270261"/>
            <a:ext cx="1750479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要求指出可能异常和边界条件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98874"/>
            <a:ext cx="178594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5819" y="2598874"/>
            <a:ext cx="1750479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要求用更容易理解的语言解释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4714875" y="1498736"/>
            <a:ext cx="3857625" cy="1571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7"/>
          <p:cNvSpPr/>
          <p:nvPr/>
        </p:nvSpPr>
        <p:spPr>
          <a:xfrm>
            <a:off x="4714875" y="1498736"/>
            <a:ext cx="42863" cy="157162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8"/>
          <p:cNvSpPr/>
          <p:nvPr/>
        </p:nvSpPr>
        <p:spPr>
          <a:xfrm>
            <a:off x="4886325" y="1641611"/>
            <a:ext cx="35147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示例 PROMPT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886325" y="1871997"/>
            <a:ext cx="3514725" cy="43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“请解释这段代码的处理流程，重点说明输入参数、主要分支、返回值和可能异常。”</a:t>
            </a:r>
            <a:endParaRPr lang="en-US" sz="1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3373971"/>
            <a:ext cx="128588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74088" y="3347305"/>
            <a:ext cx="3411190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解释代码是新人和接手旧系统时最容易受益的场景。它不能替代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714875" y="3577903"/>
            <a:ext cx="1827423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你读代码，但能帮你先建立结构。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08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解释代码的输出格式建议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结构化输出：让解释更具参考价值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427299"/>
            <a:ext cx="314325" cy="3143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520168"/>
            <a:ext cx="114300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1427299"/>
            <a:ext cx="35147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一句话总结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971550" y="1682688"/>
            <a:ext cx="2314736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用最精炼的语言说明这段代码的核心功能。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57725" y="1427299"/>
            <a:ext cx="314325" cy="3143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557" y="1520168"/>
            <a:ext cx="144661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57775" y="1427299"/>
            <a:ext cx="35147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分步骤说明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057775" y="1682688"/>
            <a:ext cx="2558393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详细拆解处理流程，按逻辑顺序描述执行步骤。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71500" y="2011300"/>
            <a:ext cx="314325" cy="3143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9" y="2104169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1550" y="2011300"/>
            <a:ext cx="35147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关键变量含义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971550" y="2266690"/>
            <a:ext cx="2192908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列出核心变量及其在逻辑中扮演的角色。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657725" y="2011300"/>
            <a:ext cx="314325" cy="3143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2104169"/>
            <a:ext cx="128588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57775" y="2011300"/>
            <a:ext cx="35147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风险与异常点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5057775" y="2266690"/>
            <a:ext cx="2680221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指出可能存在的边界情况、异常抛出或潜在风险。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571500" y="2595302"/>
            <a:ext cx="314325" cy="3143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295" y="2688171"/>
            <a:ext cx="160734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1550" y="2595302"/>
            <a:ext cx="35147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待确认项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971550" y="2850691"/>
            <a:ext cx="2749151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列出需要人工二次核实或 AI 无法确定的业务逻辑。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71500" y="3122154"/>
            <a:ext cx="8001000" cy="21493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不要只问“解释一下”，要告诉 Copilot 你希望它按什么结构回答。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604117" y="445591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09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1488"/>
            <a:ext cx="871537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场景三：生成样板代码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707231"/>
            <a:ext cx="871537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样板代码：把重复劳动交给工具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0" y="1398724"/>
            <a:ext cx="1657350" cy="7000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495165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638" y="1455874"/>
            <a:ext cx="5129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数据对象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342900" y="1705905"/>
            <a:ext cx="1543050" cy="28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DTO、VO、请求参数对象等纯数据结构的定义。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014538" y="1398724"/>
            <a:ext cx="1657350" cy="7000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688" y="1495165"/>
            <a:ext cx="11251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41352" y="1455874"/>
            <a:ext cx="67165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基础 CRUD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071688" y="1705905"/>
            <a:ext cx="1543050" cy="28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标准的数据库增删改查代码及对应的 Mapper/Repository。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743325" y="1398724"/>
            <a:ext cx="1657350" cy="7000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475" y="1495165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86213" y="1455874"/>
            <a:ext cx="5129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参数校验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800475" y="1705905"/>
            <a:ext cx="1543050" cy="28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标准的参数非空、长度、格式等校验逻辑。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472113" y="1398724"/>
            <a:ext cx="1657350" cy="7000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263" y="1495165"/>
            <a:ext cx="128588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15000" y="1455874"/>
            <a:ext cx="5129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转换函数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5529263" y="1705905"/>
            <a:ext cx="1543050" cy="28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不同对象间的属性拷贝与简单转换函数 (Converter)。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7200900" y="1398724"/>
            <a:ext cx="1657350" cy="80149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8050" y="1495165"/>
            <a:ext cx="128588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43788" y="1455874"/>
            <a:ext cx="5129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重复结构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258050" y="1705905"/>
            <a:ext cx="1543050" cy="28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具有高度相似性的结构化代码，如 Switch 分支或配置类。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285750" y="2271657"/>
            <a:ext cx="8572500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18"/>
          <p:cNvSpPr/>
          <p:nvPr/>
        </p:nvSpPr>
        <p:spPr>
          <a:xfrm>
            <a:off x="285750" y="2271657"/>
            <a:ext cx="42863" cy="8001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19"/>
          <p:cNvSpPr/>
          <p:nvPr/>
        </p:nvSpPr>
        <p:spPr>
          <a:xfrm>
            <a:off x="400050" y="2357382"/>
            <a:ext cx="834390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实战演示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00050" y="2559193"/>
            <a:ext cx="7128555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“根据这段接口字段说明（ID, Name, Age, Email），生成一个 Java 请求对象类，并包含基础的 Hibernate Validator 校验注解。”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3312858"/>
            <a:ext cx="128588" cy="128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14338" y="3311072"/>
            <a:ext cx="4142160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人要负责字段含义、业务规则和边界检查，重复敲结构的工作可以交给工具。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8604117" y="4941689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10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2321966-582E-48CA-C328-794292D0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407756A9-C7B9-B17A-DDBC-CB0ACA20C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114" y="113401"/>
            <a:ext cx="3739771" cy="430231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0A1103-7754-2AB4-1D50-379EBB3CF0F3}"/>
              </a:ext>
            </a:extLst>
          </p:cNvPr>
          <p:cNvSpPr txBox="1"/>
          <p:nvPr/>
        </p:nvSpPr>
        <p:spPr>
          <a:xfrm>
            <a:off x="1041289" y="4529113"/>
            <a:ext cx="706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https://neusoft.feishu.cn/share/base/form/shrcnV9rlCTXVktPFRatleEZuTf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610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64344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场景四：生成注释和文档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0088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文档自动化：提升代码可维护性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91605"/>
            <a:ext cx="107156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591605"/>
            <a:ext cx="2268250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为复杂方法生成 Javadoc/TSDoc 说明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20218"/>
            <a:ext cx="142875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1920218"/>
            <a:ext cx="1885131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为公共方法补充参数和返回说明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48830"/>
            <a:ext cx="160734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39391" y="2248830"/>
            <a:ext cx="1990930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根据核心逻辑生成 README 初稿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77443"/>
            <a:ext cx="160734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9391" y="2577443"/>
            <a:ext cx="1615827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根据接口定义生成调用示例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4786313" y="1477305"/>
            <a:ext cx="3786188" cy="1571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7"/>
          <p:cNvSpPr/>
          <p:nvPr/>
        </p:nvSpPr>
        <p:spPr>
          <a:xfrm>
            <a:off x="4786313" y="1477305"/>
            <a:ext cx="42863" cy="157162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8"/>
          <p:cNvSpPr/>
          <p:nvPr/>
        </p:nvSpPr>
        <p:spPr>
          <a:xfrm>
            <a:off x="4929188" y="1620180"/>
            <a:ext cx="350043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示例 PROMPT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929188" y="1850566"/>
            <a:ext cx="3500438" cy="43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“根据选中代码生成方法说明，包含功能、参数、返回值、异常情况，语言保持简洁。”</a:t>
            </a:r>
            <a:endParaRPr lang="en-US" sz="1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3352540"/>
            <a:ext cx="96441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82753" y="3350754"/>
            <a:ext cx="3411190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注释不是越多越好。生成后要删除废话，保留真正有助于理解的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786313" y="3556471"/>
            <a:ext cx="365485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部分。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611539" y="4734520"/>
            <a:ext cx="11221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11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场景五：SQL 生成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SQL 生成：基于结构的精准查询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98749"/>
            <a:ext cx="142875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598749"/>
            <a:ext cx="1481175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根据表结构生成查询语句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98786"/>
            <a:ext cx="142875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1898786"/>
            <a:ext cx="1641475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根据筛选条件生成统计 SQL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98824"/>
            <a:ext cx="142875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1531" y="2198824"/>
            <a:ext cx="1681551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根据错误 SQL 提出修改建议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98861"/>
            <a:ext cx="178594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57250" y="2498861"/>
            <a:ext cx="1750479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生成初版后必须经过人工确认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79266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00088" y="2877480"/>
            <a:ext cx="2350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核心原则：必须提供表结构和字段含义。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442101" y="1513024"/>
            <a:ext cx="4130399" cy="242887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4570688" y="1641611"/>
            <a:ext cx="387322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实战案例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570688" y="1871997"/>
            <a:ext cx="3873224" cy="41433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0"/>
          <p:cNvSpPr/>
          <p:nvPr/>
        </p:nvSpPr>
        <p:spPr>
          <a:xfrm>
            <a:off x="4570688" y="1871997"/>
            <a:ext cx="3873224" cy="4143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orders (id, user_id, status, create_time)
users (id, username, region)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0688" y="2372060"/>
            <a:ext cx="3873224" cy="130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“按用户统计本月有效订单数（status=1）”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570688" y="2622091"/>
            <a:ext cx="3873224" cy="10715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3"/>
          <p:cNvSpPr/>
          <p:nvPr/>
        </p:nvSpPr>
        <p:spPr>
          <a:xfrm>
            <a:off x="4570688" y="2622091"/>
            <a:ext cx="3873224" cy="102335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SELECT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u.username, </a:t>
            </a:r>
            <a:r>
              <a:rPr lang="en-US" sz="800" dirty="0">
                <a:solidFill>
                  <a:srgbClr val="60A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COUNT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(o.id)
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FROM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users u
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JOIN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orders o 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ON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u.id = o.user_id
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WHERE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o.status = </a:t>
            </a:r>
            <a:r>
              <a:rPr lang="en-US" sz="800" dirty="0">
                <a:solidFill>
                  <a:srgbClr val="FB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1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AND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o.create_time &gt;= </a:t>
            </a:r>
            <a:r>
              <a:rPr lang="en-US" sz="800" dirty="0">
                <a:solidFill>
                  <a:srgbClr val="FBB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'2024-07-01'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C084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GROUP BY</a:t>
            </a:r>
            <a:r>
              <a:rPr lang="en-US" sz="800" dirty="0">
                <a:solidFill>
                  <a:srgbClr val="E2E8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 u.username;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8604117" y="4741664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12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场景六：生成脚本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692944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脚本生成：小步快跑的自动化工具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1586"/>
            <a:ext cx="142875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441586"/>
            <a:ext cx="1481175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日志过滤与异常提取脚本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13049"/>
            <a:ext cx="160734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391" y="1713049"/>
            <a:ext cx="1615827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文件批量重命名与移动处理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84511"/>
            <a:ext cx="107156" cy="1571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85813" y="1984511"/>
            <a:ext cx="2050241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CSV/JSON 数据的简单清洗与转换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55974"/>
            <a:ext cx="142875" cy="15716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1531" y="2255974"/>
            <a:ext cx="1481175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自动化测试数据生成脚本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527436"/>
            <a:ext cx="178594" cy="15716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57250" y="2527436"/>
            <a:ext cx="1481175" cy="177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接口批量调用与压测样例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859621"/>
            <a:ext cx="128588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35834" y="2857835"/>
            <a:ext cx="807913" cy="1604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小步快跑策略：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8"/>
          <p:cNvSpPr/>
          <p:nvPr/>
        </p:nvSpPr>
        <p:spPr>
          <a:xfrm>
            <a:off x="571500" y="3063553"/>
            <a:ext cx="3289362" cy="16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先生成最小可用版本，再逐步增加过滤条件和输出格式要求。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4325206" y="1384436"/>
            <a:ext cx="4247294" cy="2100263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4496656" y="1470161"/>
            <a:ext cx="390439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实战案例：日志分析脚本</a:t>
            </a:r>
            <a:endParaRPr 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4496656" y="1700547"/>
            <a:ext cx="390439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第一步：基础过滤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4496656" y="1922004"/>
            <a:ext cx="3904394" cy="26074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3"/>
          <p:cNvSpPr/>
          <p:nvPr/>
        </p:nvSpPr>
        <p:spPr>
          <a:xfrm>
            <a:off x="4496656" y="1922004"/>
            <a:ext cx="21431" cy="26074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14"/>
          <p:cNvSpPr/>
          <p:nvPr/>
        </p:nvSpPr>
        <p:spPr>
          <a:xfrm>
            <a:off x="4496656" y="1922004"/>
            <a:ext cx="3904394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“写一个 Python 脚本，读取 app.log，打印所有包含 'ERROR' 的行。”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4496656" y="2254188"/>
            <a:ext cx="390439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第二步：增加统计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4496656" y="2475644"/>
            <a:ext cx="3904394" cy="26074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17"/>
          <p:cNvSpPr/>
          <p:nvPr/>
        </p:nvSpPr>
        <p:spPr>
          <a:xfrm>
            <a:off x="4496656" y="2475644"/>
            <a:ext cx="21431" cy="26074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18"/>
          <p:cNvSpPr/>
          <p:nvPr/>
        </p:nvSpPr>
        <p:spPr>
          <a:xfrm>
            <a:off x="4496656" y="2475644"/>
            <a:ext cx="3904394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“在刚才的基础上，统计每种异常类型出现的次数并按降序排列。”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4496656" y="2807829"/>
            <a:ext cx="3904394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第三步：优化输出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4496656" y="3029285"/>
            <a:ext cx="3904394" cy="26074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1"/>
          <p:cNvSpPr/>
          <p:nvPr/>
        </p:nvSpPr>
        <p:spPr>
          <a:xfrm>
            <a:off x="4496656" y="3029285"/>
            <a:ext cx="21431" cy="26074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2"/>
          <p:cNvSpPr/>
          <p:nvPr/>
        </p:nvSpPr>
        <p:spPr>
          <a:xfrm>
            <a:off x="4496656" y="3029285"/>
            <a:ext cx="3904394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itchFamily="34" charset="-120"/>
              </a:rPr>
              <a:t>“将统计结果保存为 report.csv，并包含时间戳。”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8604117" y="4884539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13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52863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上下文选择技巧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76438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上下文是 AI 表现的“天花板”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70174"/>
            <a:ext cx="107156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570174"/>
            <a:ext cx="20574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当前文件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821531" y="1805918"/>
            <a:ext cx="1949252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最适合代码补全和局部小范围修改。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084524"/>
            <a:ext cx="89297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3672" y="2084524"/>
            <a:ext cx="231457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选中代码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03672" y="2320268"/>
            <a:ext cx="2192908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最适合解释逻辑、重构、生成单元测试。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598874"/>
            <a:ext cx="142875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7250" y="2598874"/>
            <a:ext cx="225036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打开的相关文件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57250" y="2834618"/>
            <a:ext cx="2140009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帮助 AI 理解跨文件的关联逻辑与依赖。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113224"/>
            <a:ext cx="142875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7250" y="3113224"/>
            <a:ext cx="231457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外部输入</a:t>
            </a:r>
            <a:endParaRPr 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9"/>
          <p:cNvSpPr/>
          <p:nvPr/>
        </p:nvSpPr>
        <p:spPr>
          <a:xfrm>
            <a:off x="857250" y="3348968"/>
            <a:ext cx="2192908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明确粘贴表结构、接口说明、错误日志。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4886325" y="1513024"/>
            <a:ext cx="3571875" cy="142875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1513024"/>
            <a:ext cx="3571875" cy="1428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8650" y="3641861"/>
            <a:ext cx="8001000" cy="84580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2"/>
          <p:cNvSpPr/>
          <p:nvPr/>
        </p:nvSpPr>
        <p:spPr>
          <a:xfrm>
            <a:off x="2212610" y="3927611"/>
            <a:ext cx="4833053" cy="2228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把 AI 当成新同事：</a:t>
            </a:r>
            <a:r>
              <a:rPr lang="en-US" sz="12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不告诉背景，它只能猜。</a:t>
            </a:r>
            <a:r>
              <a:rPr lang="en-US" sz="1250" dirty="0">
                <a:solidFill>
                  <a:srgbClr val="F8FAF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上下文越足，回答越准。</a:t>
            </a:r>
            <a:endParaRPr lang="en-US" sz="1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7150" y="4573395"/>
            <a:ext cx="8572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14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避坑指南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避开这些误区，提效翻倍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79984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675" y="1441586"/>
            <a:ext cx="61555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低效误区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71500" y="1775557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1846994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依赖盲目补全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5800" y="2077380"/>
            <a:ext cx="3700463" cy="3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不写注释或函数名，只等 AI 猜。这会导致生成代码逻辑偏差大，修改成本高。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71500" y="2532794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2604232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指令过于模糊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85800" y="2834618"/>
            <a:ext cx="3700463" cy="3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只说“写个脚本”或“解释一下”。AI 无法理解你的具体业务场景和输出要求。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71500" y="3290032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3361469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忽略上下文管理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5800" y="3591855"/>
            <a:ext cx="3700463" cy="1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在无关的文件中提问，或不提供必要的表结构/接口定义，导致 AI 产生幻觉。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479984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00613" y="1441586"/>
            <a:ext cx="61555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高效实践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43438" y="1775557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57738" y="1846994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意图先行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757738" y="2077380"/>
            <a:ext cx="3700463" cy="3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先写清晰的函数名或描述性注释。给 AI 一个明确的“锚点”，让补全更精准。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643438" y="2532794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7738" y="2604232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结构化 Prompt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757738" y="2834618"/>
            <a:ext cx="3700463" cy="3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明确任务、背景、约束和输出格式。例如：“按 [格式] 解释这段 [代码] 的 [逻辑]”。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643438" y="3290032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7738" y="3361469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主动喂养上下文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757738" y="3591855"/>
            <a:ext cx="3700463" cy="30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选中相关代码，打开关联文件，或直接粘贴依赖的结构定义。让 AI “看全”再回答。</a:t>
            </a:r>
            <a:endParaRPr lang="en-US" sz="8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604117" y="200025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15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69B102D5-6E3B-3389-3DC8-4F8AD6139C55}"/>
              </a:ext>
            </a:extLst>
          </p:cNvPr>
          <p:cNvSpPr/>
          <p:nvPr/>
        </p:nvSpPr>
        <p:spPr>
          <a:xfrm>
            <a:off x="571500" y="4039066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61149E7A-87C5-432F-0B95-3C5724D674CF}"/>
              </a:ext>
            </a:extLst>
          </p:cNvPr>
          <p:cNvSpPr/>
          <p:nvPr/>
        </p:nvSpPr>
        <p:spPr>
          <a:xfrm>
            <a:off x="685800" y="4110503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一次完成复杂功能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4245F11-4655-95A1-BDD1-C3B6BECF97D4}"/>
              </a:ext>
            </a:extLst>
          </p:cNvPr>
          <p:cNvSpPr/>
          <p:nvPr/>
        </p:nvSpPr>
        <p:spPr>
          <a:xfrm>
            <a:off x="685800" y="4340889"/>
            <a:ext cx="3700463" cy="1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zh-CN" alt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在一次对话中</a:t>
            </a:r>
            <a:r>
              <a:rPr lang="en-US" altLang="ja-JP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要求</a:t>
            </a:r>
            <a:r>
              <a:rPr lang="en-US" altLang="zh-CN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AI</a:t>
            </a:r>
            <a:r>
              <a:rPr lang="zh-CN" alt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完成特别复杂的功能</a:t>
            </a:r>
            <a:r>
              <a:rPr lang="en-US" altLang="ja-JP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导致</a:t>
            </a:r>
            <a:r>
              <a:rPr lang="en-US" altLang="zh-CN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AI</a:t>
            </a:r>
            <a:r>
              <a:rPr lang="zh-CN" altLang="en-US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做了后面忘了前面</a:t>
            </a:r>
            <a:r>
              <a:rPr lang="en-US" altLang="ja-JP" sz="8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。</a:t>
            </a:r>
            <a:endParaRPr lang="en-US" sz="850" dirty="0">
              <a:solidFill>
                <a:srgbClr val="6474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F37A73CE-1C54-8CE5-EE7E-4982DD0D579C}"/>
              </a:ext>
            </a:extLst>
          </p:cNvPr>
          <p:cNvSpPr/>
          <p:nvPr/>
        </p:nvSpPr>
        <p:spPr>
          <a:xfrm>
            <a:off x="4643438" y="4039066"/>
            <a:ext cx="3929063" cy="6858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02DA35D6-9599-5469-05E1-82CF70143737}"/>
              </a:ext>
            </a:extLst>
          </p:cNvPr>
          <p:cNvSpPr/>
          <p:nvPr/>
        </p:nvSpPr>
        <p:spPr>
          <a:xfrm>
            <a:off x="4757738" y="4110503"/>
            <a:ext cx="37004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使用特殊</a:t>
            </a:r>
            <a:r>
              <a:rPr lang="en-US" altLang="zh-CN" sz="9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Prompt (Grill me)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8D0E8026-969B-4153-4700-646FD1DA56FC}"/>
              </a:ext>
            </a:extLst>
          </p:cNvPr>
          <p:cNvSpPr/>
          <p:nvPr/>
        </p:nvSpPr>
        <p:spPr>
          <a:xfrm>
            <a:off x="4757738" y="4340889"/>
            <a:ext cx="3700463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700" dirty="0" err="1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选中相关代码，打开关联文件，或直接粘贴依赖的结构定义。让</a:t>
            </a:r>
            <a:r>
              <a:rPr lang="en-US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AI “</a:t>
            </a:r>
            <a:r>
              <a:rPr lang="en-US" sz="700" dirty="0" err="1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看全”再回答</a:t>
            </a:r>
            <a:r>
              <a:rPr lang="en-US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。</a:t>
            </a:r>
          </a:p>
          <a:p>
            <a:pPr algn="just"/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我不清楚你对我的需求了解到什么程度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。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你先问我一些问题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我来解答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记住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一个问题一个问题的问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。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当你确定你已经理解了我的需求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95%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以上时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你通知我理解清楚了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，</a:t>
            </a:r>
            <a:r>
              <a:rPr lang="zh-CN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然后我会让你开始工作</a:t>
            </a:r>
            <a:r>
              <a:rPr lang="en-US" altLang="ja-JP" sz="7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。</a:t>
            </a:r>
            <a:endParaRPr lang="en-US" sz="700" dirty="0">
              <a:solidFill>
                <a:srgbClr val="6474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64344"/>
            <a:ext cx="85725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动手实践</a:t>
            </a:r>
            <a:endParaRPr 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00088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实战练习：在真实场景中磨练技能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0" y="1420155"/>
            <a:ext cx="4243388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1475" y="1491593"/>
            <a:ext cx="285750" cy="28575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83" y="1570174"/>
            <a:ext cx="16073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8663" y="1521061"/>
            <a:ext cx="15716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练习一</a:t>
            </a: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</a:t>
            </a:r>
            <a:r>
              <a:rPr lang="zh-CN" alt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解释代码流程</a:t>
            </a:r>
          </a:p>
        </p:txBody>
      </p:sp>
      <p:sp>
        <p:nvSpPr>
          <p:cNvPr id="9" name="Text 5"/>
          <p:cNvSpPr/>
          <p:nvPr/>
        </p:nvSpPr>
        <p:spPr>
          <a:xfrm>
            <a:off x="371474" y="1916125"/>
            <a:ext cx="3654847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解释一段代码的处理流程，理解输入、处理逻辑、输出和潜在问题。</a:t>
            </a:r>
          </a:p>
        </p:txBody>
      </p:sp>
      <p:sp>
        <p:nvSpPr>
          <p:cNvPr id="11" name="Shape 7"/>
          <p:cNvSpPr/>
          <p:nvPr/>
        </p:nvSpPr>
        <p:spPr>
          <a:xfrm>
            <a:off x="4614863" y="1420155"/>
            <a:ext cx="4243388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0588" y="1491593"/>
            <a:ext cx="285750" cy="28575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169" y="157017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57775" y="1521061"/>
            <a:ext cx="15716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练习二</a:t>
            </a: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</a:t>
            </a:r>
            <a:r>
              <a:rPr lang="zh-CN" alt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列出边界条件</a:t>
            </a:r>
          </a:p>
        </p:txBody>
      </p:sp>
      <p:sp>
        <p:nvSpPr>
          <p:cNvPr id="15" name="Text 10"/>
          <p:cNvSpPr/>
          <p:nvPr/>
        </p:nvSpPr>
        <p:spPr>
          <a:xfrm>
            <a:off x="4700588" y="1896594"/>
            <a:ext cx="4126130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分析一段代码的边界条件和潜在异常情况，培养</a:t>
            </a:r>
            <a:r>
              <a:rPr lang="en-US" altLang="zh-CN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"</a:t>
            </a: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写完代码先想边界</a:t>
            </a:r>
            <a:r>
              <a:rPr lang="en-US" altLang="zh-CN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"</a:t>
            </a: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的习惯。</a:t>
            </a:r>
          </a:p>
        </p:txBody>
      </p:sp>
      <p:sp>
        <p:nvSpPr>
          <p:cNvPr id="17" name="Shape 12"/>
          <p:cNvSpPr/>
          <p:nvPr/>
        </p:nvSpPr>
        <p:spPr>
          <a:xfrm>
            <a:off x="285750" y="2648880"/>
            <a:ext cx="4243388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1475" y="2720318"/>
            <a:ext cx="285750" cy="28575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93" y="2798899"/>
            <a:ext cx="112514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8663" y="2749786"/>
            <a:ext cx="194309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练习三</a:t>
            </a: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</a:t>
            </a:r>
            <a:r>
              <a:rPr lang="zh-CN" alt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生成注释或说明</a:t>
            </a:r>
          </a:p>
        </p:txBody>
      </p:sp>
      <p:sp>
        <p:nvSpPr>
          <p:cNvPr id="21" name="Text 15"/>
          <p:cNvSpPr/>
          <p:nvPr/>
        </p:nvSpPr>
        <p:spPr>
          <a:xfrm>
            <a:off x="371475" y="3134142"/>
            <a:ext cx="4089261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为一段没有注释的代码生成注释和方法说明，学习如何让 </a:t>
            </a:r>
            <a:r>
              <a:rPr lang="en-US" altLang="zh-CN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AI </a:t>
            </a: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辅助文档编写。</a:t>
            </a:r>
          </a:p>
        </p:txBody>
      </p:sp>
      <p:sp>
        <p:nvSpPr>
          <p:cNvPr id="23" name="Shape 17"/>
          <p:cNvSpPr/>
          <p:nvPr/>
        </p:nvSpPr>
        <p:spPr>
          <a:xfrm>
            <a:off x="4614863" y="2648880"/>
            <a:ext cx="4243388" cy="11430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00588" y="2720318"/>
            <a:ext cx="285750" cy="28575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205" y="2798899"/>
            <a:ext cx="112514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57775" y="2749786"/>
            <a:ext cx="213677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dirty="0" err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练习四</a:t>
            </a:r>
            <a:r>
              <a:rPr 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</a:t>
            </a:r>
            <a:r>
              <a:rPr lang="zh-CN" altLang="en-US" sz="11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综合练习与人工修正</a:t>
            </a:r>
          </a:p>
        </p:txBody>
      </p:sp>
      <p:sp>
        <p:nvSpPr>
          <p:cNvPr id="27" name="Text 20"/>
          <p:cNvSpPr/>
          <p:nvPr/>
        </p:nvSpPr>
        <p:spPr>
          <a:xfrm>
            <a:off x="4700588" y="3132958"/>
            <a:ext cx="4875015" cy="160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对一个完整的例子程序完成解释、边界分析、注释生成和人工修正的全流程。</a:t>
            </a:r>
          </a:p>
        </p:txBody>
      </p:sp>
      <p:sp>
        <p:nvSpPr>
          <p:cNvPr id="29" name="Text 22"/>
          <p:cNvSpPr/>
          <p:nvPr/>
        </p:nvSpPr>
        <p:spPr>
          <a:xfrm>
            <a:off x="8604117" y="4734520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16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-7144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07219"/>
            <a:ext cx="857250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课后作业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650" y="901898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实战演练：完成一个真实工作任务</a:t>
            </a:r>
            <a:endParaRPr lang="en-US" sz="24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959397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1945645"/>
            <a:ext cx="61555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作业要求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7" y="2410447"/>
            <a:ext cx="128588" cy="1500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394" y="2390701"/>
            <a:ext cx="4144017" cy="1625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选择任务</a:t>
            </a:r>
            <a:r>
              <a:rPr lang="en-US" sz="1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：</a:t>
            </a:r>
          </a:p>
          <a:p>
            <a:pPr>
              <a:lnSpc>
                <a:spcPct val="128000"/>
              </a:lnSpc>
            </a:pP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用 </a:t>
            </a: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Copilot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完成一个日常开发或测试辅助任务</a:t>
            </a:r>
          </a:p>
          <a:p>
            <a:pPr>
              <a:lnSpc>
                <a:spcPct val="128000"/>
              </a:lnSpc>
            </a:pP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任务可选：</a:t>
            </a:r>
            <a:endParaRPr lang="en-US" altLang="zh-CN" sz="1050" dirty="0">
              <a:solidFill>
                <a:srgbClr val="CBD5E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 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解释代码、</a:t>
            </a:r>
            <a:endParaRPr lang="en-US" altLang="zh-CN" sz="1050" dirty="0">
              <a:solidFill>
                <a:srgbClr val="CBD5E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 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生成 </a:t>
            </a: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SQL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、</a:t>
            </a:r>
            <a:endParaRPr lang="en-US" altLang="zh-CN" sz="1050" dirty="0">
              <a:solidFill>
                <a:srgbClr val="CBD5E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 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生成脚本、</a:t>
            </a:r>
            <a:endParaRPr lang="en-US" altLang="zh-CN" sz="1050" dirty="0">
              <a:solidFill>
                <a:srgbClr val="CBD5E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 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补注释、</a:t>
            </a:r>
            <a:endParaRPr lang="en-US" altLang="zh-CN" sz="1050" dirty="0">
              <a:solidFill>
                <a:srgbClr val="CBD5E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egoe UI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zh-CN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   </a:t>
            </a:r>
            <a:r>
              <a:rPr lang="zh-CN" altLang="en-US" sz="1050" dirty="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生成样板代码</a:t>
            </a: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711" y="1959397"/>
            <a:ext cx="157163" cy="15716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87029" y="1913855"/>
            <a:ext cx="61555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打卡内容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122711" y="2304976"/>
            <a:ext cx="3506939" cy="1711042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5586" y="2543451"/>
            <a:ext cx="128588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479898" y="2533576"/>
            <a:ext cx="146193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ja-JP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使用的 </a:t>
            </a:r>
            <a:r>
              <a:rPr lang="en-US" altLang="ja-JP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Copilot </a:t>
            </a:r>
            <a:r>
              <a:rPr lang="ja-JP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功能</a:t>
            </a: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5586" y="2816699"/>
            <a:ext cx="160734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512045" y="2806824"/>
            <a:ext cx="92333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原始任务描述</a:t>
            </a: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5586" y="3089947"/>
            <a:ext cx="128588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479898" y="3080072"/>
            <a:ext cx="131460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提供了哪些上下文</a:t>
            </a: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5586" y="3614961"/>
            <a:ext cx="128588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479898" y="3353321"/>
            <a:ext cx="153888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ja-JP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Copilot </a:t>
            </a:r>
            <a:r>
              <a:rPr lang="ja-JP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结果是否可用</a:t>
            </a:r>
          </a:p>
        </p:txBody>
      </p:sp>
      <p:sp>
        <p:nvSpPr>
          <p:cNvPr id="24" name="Text 12"/>
          <p:cNvSpPr/>
          <p:nvPr/>
        </p:nvSpPr>
        <p:spPr>
          <a:xfrm>
            <a:off x="8661267" y="4934545"/>
            <a:ext cx="1112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17</a:t>
            </a:r>
            <a:endParaRPr lang="en-US" sz="7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0A28221-88CA-47C6-0408-756BE34D9190}"/>
              </a:ext>
            </a:extLst>
          </p:cNvPr>
          <p:cNvSpPr/>
          <p:nvPr/>
        </p:nvSpPr>
        <p:spPr>
          <a:xfrm>
            <a:off x="5479898" y="3614961"/>
            <a:ext cx="138499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ja-JP" altLang="en-US" sz="1000" b="0" dirty="0">
                <a:solidFill>
                  <a:srgbClr val="BBBEBF"/>
                </a:solidFill>
                <a:effectLst/>
                <a:latin typeface="Maple Mono NF CN" panose="020F0509060000000000" pitchFamily="49" charset="-128"/>
                <a:ea typeface="Maple Mono NF CN" panose="020F0509060000000000" pitchFamily="49" charset="-128"/>
              </a:rPr>
              <a:t>人工修改了哪些地方</a:t>
            </a: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F9B9055D-6D81-395D-733D-110732030B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513" y="3363195"/>
            <a:ext cx="160734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864" y="469954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6092" y="1739057"/>
            <a:ext cx="6671816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开始你的 Copilot 提效之旅吧！</a:t>
            </a:r>
            <a:endParaRPr lang="en-US" sz="3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22076" y="2838955"/>
            <a:ext cx="7099818" cy="25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AI 不是要取代你，而是要赋予你更强大的力量。让它处理繁琐，让你专注于创造。</a:t>
            </a:r>
            <a:endParaRPr 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2"/>
          <p:cNvSpPr/>
          <p:nvPr/>
        </p:nvSpPr>
        <p:spPr>
          <a:xfrm>
            <a:off x="3340094" y="3773239"/>
            <a:ext cx="2463812" cy="10804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340094" y="3773239"/>
            <a:ext cx="2463812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4"/>
          <p:cNvSpPr/>
          <p:nvPr/>
        </p:nvSpPr>
        <p:spPr>
          <a:xfrm>
            <a:off x="3292732" y="4224056"/>
            <a:ext cx="257551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93C5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“ 保持好奇，持续实践。”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3736153" y="4527352"/>
            <a:ext cx="1671665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egoe UI" pitchFamily="34" charset="-120"/>
              </a:rPr>
              <a:t>AI 认知与工具地图 · 第二课</a:t>
            </a:r>
            <a:endParaRPr lang="en-US" sz="9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CBF21CB-0E22-A056-3D13-5415666C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D37FBE75-82F7-DFBF-CD41-4AFA48F73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79" y="75136"/>
            <a:ext cx="3704641" cy="426500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7E1DB5-63FF-AA22-0CD6-E95A638D3F58}"/>
              </a:ext>
            </a:extLst>
          </p:cNvPr>
          <p:cNvSpPr txBox="1"/>
          <p:nvPr/>
        </p:nvSpPr>
        <p:spPr>
          <a:xfrm>
            <a:off x="840111" y="4441084"/>
            <a:ext cx="7463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https://neusoft.feishu.cn/share/base/form/shrcniMMdmqjiMLF5dY5gUqX8Pc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025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1002</Words>
  <Application>Microsoft Office PowerPoint</Application>
  <PresentationFormat>画面に合わせる (16:9)</PresentationFormat>
  <Paragraphs>247</Paragraphs>
  <Slides>20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Maple Mono NF CN</vt:lpstr>
      <vt:lpstr>Microsoft YaHei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紀　曄</cp:lastModifiedBy>
  <cp:revision>32</cp:revision>
  <dcterms:created xsi:type="dcterms:W3CDTF">2026-07-12T04:25:52Z</dcterms:created>
  <dcterms:modified xsi:type="dcterms:W3CDTF">2026-07-30T08:25:26Z</dcterms:modified>
</cp:coreProperties>
</file>